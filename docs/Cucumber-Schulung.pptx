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64"/>
  </p:notesMasterIdLst>
  <p:handoutMasterIdLst>
    <p:handoutMasterId r:id="rId65"/>
  </p:handoutMasterIdLst>
  <p:sldIdLst>
    <p:sldId id="256" r:id="rId2"/>
    <p:sldId id="257" r:id="rId3"/>
    <p:sldId id="258" r:id="rId4"/>
    <p:sldId id="259" r:id="rId5"/>
    <p:sldId id="320" r:id="rId6"/>
    <p:sldId id="288" r:id="rId7"/>
    <p:sldId id="260" r:id="rId8"/>
    <p:sldId id="261" r:id="rId9"/>
    <p:sldId id="301" r:id="rId10"/>
    <p:sldId id="321" r:id="rId11"/>
    <p:sldId id="300" r:id="rId12"/>
    <p:sldId id="263" r:id="rId13"/>
    <p:sldId id="303" r:id="rId14"/>
    <p:sldId id="272" r:id="rId15"/>
    <p:sldId id="273" r:id="rId16"/>
    <p:sldId id="274" r:id="rId17"/>
    <p:sldId id="306" r:id="rId18"/>
    <p:sldId id="289" r:id="rId19"/>
    <p:sldId id="262" r:id="rId20"/>
    <p:sldId id="305" r:id="rId21"/>
    <p:sldId id="271" r:id="rId22"/>
    <p:sldId id="276" r:id="rId23"/>
    <p:sldId id="277" r:id="rId24"/>
    <p:sldId id="264" r:id="rId25"/>
    <p:sldId id="268" r:id="rId26"/>
    <p:sldId id="310" r:id="rId27"/>
    <p:sldId id="295" r:id="rId28"/>
    <p:sldId id="278" r:id="rId29"/>
    <p:sldId id="307" r:id="rId30"/>
    <p:sldId id="291" r:id="rId31"/>
    <p:sldId id="287" r:id="rId32"/>
    <p:sldId id="280" r:id="rId33"/>
    <p:sldId id="281" r:id="rId34"/>
    <p:sldId id="308" r:id="rId35"/>
    <p:sldId id="285" r:id="rId36"/>
    <p:sldId id="279" r:id="rId37"/>
    <p:sldId id="311" r:id="rId38"/>
    <p:sldId id="275" r:id="rId39"/>
    <p:sldId id="309" r:id="rId40"/>
    <p:sldId id="265" r:id="rId41"/>
    <p:sldId id="269" r:id="rId42"/>
    <p:sldId id="267" r:id="rId43"/>
    <p:sldId id="266" r:id="rId44"/>
    <p:sldId id="282" r:id="rId45"/>
    <p:sldId id="286" r:id="rId46"/>
    <p:sldId id="283" r:id="rId47"/>
    <p:sldId id="297" r:id="rId48"/>
    <p:sldId id="292" r:id="rId49"/>
    <p:sldId id="293" r:id="rId50"/>
    <p:sldId id="298" r:id="rId51"/>
    <p:sldId id="299" r:id="rId52"/>
    <p:sldId id="294" r:id="rId53"/>
    <p:sldId id="322" r:id="rId54"/>
    <p:sldId id="302" r:id="rId55"/>
    <p:sldId id="304" r:id="rId56"/>
    <p:sldId id="318" r:id="rId57"/>
    <p:sldId id="312" r:id="rId58"/>
    <p:sldId id="313" r:id="rId59"/>
    <p:sldId id="314" r:id="rId60"/>
    <p:sldId id="315" r:id="rId61"/>
    <p:sldId id="316" r:id="rId62"/>
    <p:sldId id="319" r:id="rId63"/>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ittlere Formatvorlage 1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913" autoAdjust="0"/>
    <p:restoredTop sz="94660" autoAdjust="0"/>
  </p:normalViewPr>
  <p:slideViewPr>
    <p:cSldViewPr snapToGrid="0" showGuides="1">
      <p:cViewPr varScale="1">
        <p:scale>
          <a:sx n="83" d="100"/>
          <a:sy n="83" d="100"/>
        </p:scale>
        <p:origin x="341" y="77"/>
      </p:cViewPr>
      <p:guideLst>
        <p:guide orient="horz" pos="2160"/>
        <p:guide pos="3840"/>
      </p:guideLst>
    </p:cSldViewPr>
  </p:slideViewPr>
  <p:outlineViewPr>
    <p:cViewPr>
      <p:scale>
        <a:sx n="33" d="100"/>
        <a:sy n="33" d="100"/>
      </p:scale>
      <p:origin x="0" y="-15984"/>
    </p:cViewPr>
  </p:outlin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598D75FF-58A3-4E92-9D56-457510DC7B51}" type="datetimeFigureOut">
              <a:rPr lang="de-DE" smtClean="0"/>
              <a:t>15.06.2020</a:t>
            </a:fld>
            <a:endParaRPr lang="de-DE"/>
          </a:p>
        </p:txBody>
      </p:sp>
      <p:sp>
        <p:nvSpPr>
          <p:cNvPr id="4" name="Fußzeilenplatzhalt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C4D010C5-BE02-4C72-9BE0-81C2C773F3E0}" type="slidenum">
              <a:rPr lang="de-DE" smtClean="0"/>
              <a:t>‹Nr.›</a:t>
            </a:fld>
            <a:endParaRPr lang="de-DE"/>
          </a:p>
        </p:txBody>
      </p:sp>
    </p:spTree>
    <p:extLst>
      <p:ext uri="{BB962C8B-B14F-4D97-AF65-F5344CB8AC3E}">
        <p14:creationId xmlns:p14="http://schemas.microsoft.com/office/powerpoint/2010/main" val="40520805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C71A4405-A4DE-4211-94CA-415D70527138}" type="datetimeFigureOut">
              <a:rPr lang="de-DE" smtClean="0"/>
              <a:t>15.06.2020</a:t>
            </a:fld>
            <a:endParaRPr 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370CCA4C-46F7-4DD6-A228-AD57EB71EBF2}" type="slidenum">
              <a:rPr lang="de-DE" smtClean="0"/>
              <a:t>‹Nr.›</a:t>
            </a:fld>
            <a:endParaRPr lang="de-DE"/>
          </a:p>
        </p:txBody>
      </p:sp>
    </p:spTree>
    <p:extLst>
      <p:ext uri="{BB962C8B-B14F-4D97-AF65-F5344CB8AC3E}">
        <p14:creationId xmlns:p14="http://schemas.microsoft.com/office/powerpoint/2010/main" val="2920263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de-DE"/>
              <a:t>Titelmasterformat durch Klicken bearbeiten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Formatvorlage des Untertitelmasters durch Klicken bearbeiten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11971AB-5D9A-4937-B9F1-5D7E537ECEF6}" type="datetime1">
              <a:rPr lang="de-DE" smtClean="0"/>
              <a:t>15.06.2020</a:t>
            </a:fld>
            <a:endParaRPr lang="de-DE"/>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de-DE"/>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2BD49046-6E03-44BD-86B4-CD06AAC78235}" type="slidenum">
              <a:rPr lang="de-DE" smtClean="0"/>
              <a:t>‹Nr.›</a:t>
            </a:fld>
            <a:endParaRPr lang="de-DE"/>
          </a:p>
        </p:txBody>
      </p:sp>
    </p:spTree>
    <p:extLst>
      <p:ext uri="{BB962C8B-B14F-4D97-AF65-F5344CB8AC3E}">
        <p14:creationId xmlns:p14="http://schemas.microsoft.com/office/powerpoint/2010/main" val="4055931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de-DE"/>
              <a:t>Titelmasterformat durch Klicken bearbeiten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2641C5EB-F3B3-410D-8975-281641EC08BA}" type="datetime1">
              <a:rPr lang="de-DE" smtClean="0"/>
              <a:t>15.06.2020</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a:xfrm>
            <a:off x="10558300" y="5956137"/>
            <a:ext cx="1052508" cy="365125"/>
          </a:xfrm>
        </p:spPr>
        <p:txBody>
          <a:bodyPr/>
          <a:lstStyle/>
          <a:p>
            <a:fld id="{2BD49046-6E03-44BD-86B4-CD06AAC78235}" type="slidenum">
              <a:rPr lang="de-DE" smtClean="0"/>
              <a:t>‹Nr.›</a:t>
            </a:fld>
            <a:endParaRPr lang="de-DE"/>
          </a:p>
        </p:txBody>
      </p:sp>
    </p:spTree>
    <p:extLst>
      <p:ext uri="{BB962C8B-B14F-4D97-AF65-F5344CB8AC3E}">
        <p14:creationId xmlns:p14="http://schemas.microsoft.com/office/powerpoint/2010/main" val="1238936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de-DE"/>
              <a:t>Titelmasterformat durch Klicken bearbeiten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Formatvorlagen des Textmasters bearbeiten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AAD252D-724E-4FBD-AA1C-9A77D5D4E0AE}" type="datetime1">
              <a:rPr lang="de-DE" smtClean="0"/>
              <a:t>15.06.2020</a:t>
            </a:fld>
            <a:endParaRPr lang="de-DE"/>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de-DE"/>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BD49046-6E03-44BD-86B4-CD06AAC78235}" type="slidenum">
              <a:rPr lang="de-DE" smtClean="0"/>
              <a:t>‹Nr.›</a:t>
            </a:fld>
            <a:endParaRPr lang="de-DE"/>
          </a:p>
        </p:txBody>
      </p:sp>
    </p:spTree>
    <p:extLst>
      <p:ext uri="{BB962C8B-B14F-4D97-AF65-F5344CB8AC3E}">
        <p14:creationId xmlns:p14="http://schemas.microsoft.com/office/powerpoint/2010/main" val="78612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de-DE"/>
              <a:t>Titelmasterformat durch Klicken bearbeiten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860D6D73-8BCD-4FCA-9BEB-3462F554A7FD}" type="datetime1">
              <a:rPr lang="de-DE" smtClean="0"/>
              <a:t>15.06.2020</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2BD49046-6E03-44BD-86B4-CD06AAC78235}" type="slidenum">
              <a:rPr lang="de-DE" smtClean="0"/>
              <a:t>‹Nr.›</a:t>
            </a:fld>
            <a:endParaRPr lang="de-DE"/>
          </a:p>
        </p:txBody>
      </p:sp>
    </p:spTree>
    <p:extLst>
      <p:ext uri="{BB962C8B-B14F-4D97-AF65-F5344CB8AC3E}">
        <p14:creationId xmlns:p14="http://schemas.microsoft.com/office/powerpoint/2010/main" val="1654777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de-DE"/>
              <a:t>Titelmasterformat durch Klicken bearbeiten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623EA72-1B29-41FB-9A72-58493A034B74}" type="datetime1">
              <a:rPr lang="de-DE" smtClean="0"/>
              <a:t>15.06.2020</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2BD49046-6E03-44BD-86B4-CD06AAC78235}" type="slidenum">
              <a:rPr lang="de-DE" smtClean="0"/>
              <a:t>‹Nr.›</a:t>
            </a:fld>
            <a:endParaRPr lang="de-DE"/>
          </a:p>
        </p:txBody>
      </p:sp>
    </p:spTree>
    <p:extLst>
      <p:ext uri="{BB962C8B-B14F-4D97-AF65-F5344CB8AC3E}">
        <p14:creationId xmlns:p14="http://schemas.microsoft.com/office/powerpoint/2010/main" val="3447374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de-DE"/>
              <a:t>Titelmasterformat durch Klicken bearbeiten</a:t>
            </a:r>
            <a:endParaRPr lang="en-US" dirty="0"/>
          </a:p>
        </p:txBody>
      </p:sp>
      <p:sp>
        <p:nvSpPr>
          <p:cNvPr id="3" name="Date Placeholder 2"/>
          <p:cNvSpPr>
            <a:spLocks noGrp="1"/>
          </p:cNvSpPr>
          <p:nvPr>
            <p:ph type="dt" sz="half" idx="10"/>
          </p:nvPr>
        </p:nvSpPr>
        <p:spPr/>
        <p:txBody>
          <a:bodyPr/>
          <a:lstStyle/>
          <a:p>
            <a:fld id="{BDF60A89-C7EC-4A14-A0D9-8C15A53914D1}" type="datetime1">
              <a:rPr lang="de-DE" smtClean="0"/>
              <a:t>15.06.2020</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2BD49046-6E03-44BD-86B4-CD06AAC78235}" type="slidenum">
              <a:rPr lang="de-DE" smtClean="0"/>
              <a:t>‹Nr.›</a:t>
            </a:fld>
            <a:endParaRPr lang="de-DE"/>
          </a:p>
        </p:txBody>
      </p:sp>
    </p:spTree>
    <p:extLst>
      <p:ext uri="{BB962C8B-B14F-4D97-AF65-F5344CB8AC3E}">
        <p14:creationId xmlns:p14="http://schemas.microsoft.com/office/powerpoint/2010/main" val="361688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BBFFD0-076B-403D-B16B-BE53F9857095}" type="datetime1">
              <a:rPr lang="de-DE" smtClean="0"/>
              <a:t>15.06.2020</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2BD49046-6E03-44BD-86B4-CD06AAC78235}" type="slidenum">
              <a:rPr lang="de-DE" smtClean="0"/>
              <a:t>‹Nr.›</a:t>
            </a:fld>
            <a:endParaRPr lang="de-DE"/>
          </a:p>
        </p:txBody>
      </p:sp>
    </p:spTree>
    <p:extLst>
      <p:ext uri="{BB962C8B-B14F-4D97-AF65-F5344CB8AC3E}">
        <p14:creationId xmlns:p14="http://schemas.microsoft.com/office/powerpoint/2010/main" val="182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de-DE"/>
              <a:t>Titelmasterformat durch Klicken bearbeiten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Formatvorlagen des Textmasters bearbeiten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903F2B11-D76F-4F68-A978-2F911EC798D8}" type="datetime1">
              <a:rPr lang="de-DE" smtClean="0"/>
              <a:t>15.06.2020</a:t>
            </a:fld>
            <a:endParaRPr lang="de-DE"/>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de-DE"/>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2BD49046-6E03-44BD-86B4-CD06AAC78235}" type="slidenum">
              <a:rPr lang="de-DE" smtClean="0"/>
              <a:t>‹Nr.›</a:t>
            </a:fld>
            <a:endParaRPr lang="de-DE"/>
          </a:p>
        </p:txBody>
      </p:sp>
    </p:spTree>
    <p:extLst>
      <p:ext uri="{BB962C8B-B14F-4D97-AF65-F5344CB8AC3E}">
        <p14:creationId xmlns:p14="http://schemas.microsoft.com/office/powerpoint/2010/main" val="929911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de-DE"/>
              <a:t>Titelmasterformat durch Klicken bearbeiten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Formatvorlagen des Textmasters bearbeiten</a:t>
            </a:r>
          </a:p>
        </p:txBody>
      </p:sp>
      <p:sp>
        <p:nvSpPr>
          <p:cNvPr id="5" name="Date Placeholder 4"/>
          <p:cNvSpPr>
            <a:spLocks noGrp="1"/>
          </p:cNvSpPr>
          <p:nvPr>
            <p:ph type="dt" sz="half" idx="10"/>
          </p:nvPr>
        </p:nvSpPr>
        <p:spPr/>
        <p:txBody>
          <a:bodyPr/>
          <a:lstStyle/>
          <a:p>
            <a:fld id="{F083DC0C-2C66-44E4-A634-CEA9FD2D545A}" type="datetime1">
              <a:rPr lang="de-DE" smtClean="0"/>
              <a:t>15.06.2020</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2BD49046-6E03-44BD-86B4-CD06AAC78235}" type="slidenum">
              <a:rPr lang="de-DE" smtClean="0"/>
              <a:t>‹Nr.›</a:t>
            </a:fld>
            <a:endParaRPr lang="de-DE"/>
          </a:p>
        </p:txBody>
      </p:sp>
    </p:spTree>
    <p:extLst>
      <p:ext uri="{BB962C8B-B14F-4D97-AF65-F5344CB8AC3E}">
        <p14:creationId xmlns:p14="http://schemas.microsoft.com/office/powerpoint/2010/main" val="831146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de-DE"/>
              <a:t>Titelmasterformat durch Klicken bearbeiten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3173888-7558-40F0-AF4C-6EDB79D53361}" type="datetime1">
              <a:rPr lang="de-DE" smtClean="0"/>
              <a:t>15.06.2020</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2BD49046-6E03-44BD-86B4-CD06AAC78235}" type="slidenum">
              <a:rPr lang="de-DE" smtClean="0"/>
              <a:t>‹Nr.›</a:t>
            </a:fld>
            <a:endParaRPr lang="de-DE"/>
          </a:p>
        </p:txBody>
      </p:sp>
    </p:spTree>
    <p:extLst>
      <p:ext uri="{BB962C8B-B14F-4D97-AF65-F5344CB8AC3E}">
        <p14:creationId xmlns:p14="http://schemas.microsoft.com/office/powerpoint/2010/main" val="422116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de-DE"/>
              <a:t>Titelmasterformat durch Klicken bearbeiten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AD8261E0-D70C-4279-9355-1A2A4716AB18}" type="datetime1">
              <a:rPr lang="de-DE" smtClean="0"/>
              <a:t>15.06.2020</a:t>
            </a:fld>
            <a:endParaRPr lang="de-DE"/>
          </a:p>
        </p:txBody>
      </p:sp>
      <p:sp>
        <p:nvSpPr>
          <p:cNvPr id="5" name="Footer Placeholder 4"/>
          <p:cNvSpPr>
            <a:spLocks noGrp="1"/>
          </p:cNvSpPr>
          <p:nvPr>
            <p:ph type="ftr" sz="quarter" idx="11"/>
          </p:nvPr>
        </p:nvSpPr>
        <p:spPr>
          <a:xfrm>
            <a:off x="774923" y="5951811"/>
            <a:ext cx="7896279" cy="365125"/>
          </a:xfrm>
        </p:spPr>
        <p:txBody>
          <a:bodyPr/>
          <a:lstStyle/>
          <a:p>
            <a:endParaRPr lang="de-DE"/>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2BD49046-6E03-44BD-86B4-CD06AAC78235}" type="slidenum">
              <a:rPr lang="de-DE" smtClean="0"/>
              <a:t>‹Nr.›</a:t>
            </a:fld>
            <a:endParaRPr lang="de-DE"/>
          </a:p>
        </p:txBody>
      </p:sp>
    </p:spTree>
    <p:extLst>
      <p:ext uri="{BB962C8B-B14F-4D97-AF65-F5344CB8AC3E}">
        <p14:creationId xmlns:p14="http://schemas.microsoft.com/office/powerpoint/2010/main" val="968721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de-DE"/>
              <a:t>Titelmasterformat durch Klicken bearbeiten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FFFFE9F7-D8FB-4029-A2AA-26C25FFC5FBF}" type="datetime1">
              <a:rPr lang="de-DE" smtClean="0"/>
              <a:t>15.06.2020</a:t>
            </a:fld>
            <a:endParaRPr lang="de-DE"/>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de-DE"/>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2BD49046-6E03-44BD-86B4-CD06AAC78235}" type="slidenum">
              <a:rPr lang="de-DE" smtClean="0"/>
              <a:t>‹Nr.›</a:t>
            </a:fld>
            <a:endParaRPr lang="de-DE"/>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18864044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hdr="0" ftr="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 Id="rId5" Type="http://schemas.openxmlformats.org/officeDocument/2006/relationships/image" Target="../media/image5.tmp"/><Relationship Id="rId4" Type="http://schemas.openxmlformats.org/officeDocument/2006/relationships/image" Target="../media/image4.tm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dirty="0" err="1"/>
              <a:t>Cucumber</a:t>
            </a:r>
            <a:r>
              <a:rPr lang="de-DE" dirty="0"/>
              <a:t>-Schulung</a:t>
            </a:r>
          </a:p>
        </p:txBody>
      </p:sp>
      <p:sp>
        <p:nvSpPr>
          <p:cNvPr id="3" name="Untertitel 2"/>
          <p:cNvSpPr>
            <a:spLocks noGrp="1"/>
          </p:cNvSpPr>
          <p:nvPr>
            <p:ph type="subTitle" idx="1"/>
          </p:nvPr>
        </p:nvSpPr>
        <p:spPr/>
        <p:txBody>
          <a:bodyPr/>
          <a:lstStyle/>
          <a:p>
            <a:r>
              <a:rPr lang="de-DE" dirty="0"/>
              <a:t>Anwendungsentwicklung</a:t>
            </a:r>
          </a:p>
        </p:txBody>
      </p:sp>
      <p:sp>
        <p:nvSpPr>
          <p:cNvPr id="4" name="Datumsplatzhalter 3"/>
          <p:cNvSpPr>
            <a:spLocks noGrp="1"/>
          </p:cNvSpPr>
          <p:nvPr>
            <p:ph type="dt" sz="half" idx="10"/>
          </p:nvPr>
        </p:nvSpPr>
        <p:spPr/>
        <p:txBody>
          <a:bodyPr/>
          <a:lstStyle/>
          <a:p>
            <a:fld id="{68E93EEF-84E7-459D-BFEA-8454A97F86B1}"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a:t>
            </a:fld>
            <a:endParaRPr lang="de-DE"/>
          </a:p>
        </p:txBody>
      </p:sp>
    </p:spTree>
    <p:extLst>
      <p:ext uri="{BB962C8B-B14F-4D97-AF65-F5344CB8AC3E}">
        <p14:creationId xmlns:p14="http://schemas.microsoft.com/office/powerpoint/2010/main" val="361745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Eine Feature-Datei anlegen</a:t>
            </a:r>
          </a:p>
        </p:txBody>
      </p:sp>
      <p:sp>
        <p:nvSpPr>
          <p:cNvPr id="3" name="Inhaltsplatzhalter 2"/>
          <p:cNvSpPr>
            <a:spLocks noGrp="1"/>
          </p:cNvSpPr>
          <p:nvPr>
            <p:ph idx="1"/>
          </p:nvPr>
        </p:nvSpPr>
        <p:spPr/>
        <p:txBody>
          <a:bodyPr>
            <a:normAutofit/>
          </a:bodyPr>
          <a:lstStyle/>
          <a:p>
            <a:pPr>
              <a:spcAft>
                <a:spcPts val="2400"/>
              </a:spcAft>
            </a:pPr>
            <a:r>
              <a:rPr lang="de-DE" dirty="0"/>
              <a:t>Eine Feature-Datei kann </a:t>
            </a:r>
            <a:r>
              <a:rPr lang="de-DE" b="1" dirty="0"/>
              <a:t>direkt in </a:t>
            </a:r>
            <a:r>
              <a:rPr lang="de-DE" b="1" dirty="0" err="1"/>
              <a:t>Eclipse</a:t>
            </a:r>
            <a:r>
              <a:rPr lang="de-DE" b="1" dirty="0"/>
              <a:t> als neues File </a:t>
            </a:r>
            <a:r>
              <a:rPr lang="de-DE" dirty="0"/>
              <a:t>angelegt oder über </a:t>
            </a:r>
            <a:r>
              <a:rPr lang="de-DE" b="1" dirty="0"/>
              <a:t>Kopieren einer anderen Feature-Datei</a:t>
            </a:r>
            <a:r>
              <a:rPr lang="de-DE" dirty="0"/>
              <a:t> erstellt werden. Bei der Neuanlage ist darauf zu achten, hinter den Feature-Namen ein </a:t>
            </a:r>
            <a:r>
              <a:rPr lang="de-DE" b="1" dirty="0"/>
              <a:t>.</a:t>
            </a:r>
            <a:r>
              <a:rPr lang="de-DE" b="1" dirty="0" err="1"/>
              <a:t>feature</a:t>
            </a:r>
            <a:r>
              <a:rPr lang="de-DE" b="1" dirty="0"/>
              <a:t> </a:t>
            </a:r>
            <a:r>
              <a:rPr lang="de-DE" dirty="0"/>
              <a:t>einzufügen, erst dann kann das File in diesem Rahmen verwendet werden. </a:t>
            </a:r>
          </a:p>
          <a:p>
            <a:pPr marL="0" indent="0">
              <a:spcAft>
                <a:spcPts val="4200"/>
              </a:spcAft>
              <a:buNone/>
            </a:pPr>
            <a:endParaRPr lang="de-DE" dirty="0"/>
          </a:p>
          <a:p>
            <a:r>
              <a:rPr lang="de-DE" dirty="0"/>
              <a:t>Hier empfiehlt es sich, den Namen des Features (statt </a:t>
            </a:r>
            <a:r>
              <a:rPr lang="de-DE" dirty="0" err="1"/>
              <a:t>xyz</a:t>
            </a:r>
            <a:r>
              <a:rPr lang="de-DE" dirty="0"/>
              <a:t>) zu schreiben.</a:t>
            </a:r>
          </a:p>
          <a:p>
            <a:r>
              <a:rPr lang="de-DE" dirty="0"/>
              <a:t>Soll das Feature auch im </a:t>
            </a:r>
            <a:r>
              <a:rPr lang="de-DE" dirty="0" err="1"/>
              <a:t>Testbett</a:t>
            </a:r>
            <a:r>
              <a:rPr lang="de-DE" dirty="0"/>
              <a:t> laufen, ist zudem nach der Feature-Zeile ein Header zu pflegen</a:t>
            </a:r>
          </a:p>
        </p:txBody>
      </p:sp>
      <p:sp>
        <p:nvSpPr>
          <p:cNvPr id="5" name="Textfeld 4"/>
          <p:cNvSpPr txBox="1"/>
          <p:nvPr/>
        </p:nvSpPr>
        <p:spPr>
          <a:xfrm>
            <a:off x="972067" y="3688243"/>
            <a:ext cx="8122508" cy="80021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de-DE" dirty="0"/>
              <a:t>Ganz oben in jeden Feature-File ist folgende Zeile zu pflegen:</a:t>
            </a:r>
          </a:p>
          <a:p>
            <a:pPr>
              <a:spcBef>
                <a:spcPts val="1200"/>
              </a:spcBef>
            </a:pPr>
            <a:r>
              <a:rPr lang="de-DE" dirty="0">
                <a:latin typeface="Courier New" panose="02070309020205020404" pitchFamily="49" charset="0"/>
                <a:cs typeface="Courier New" panose="02070309020205020404" pitchFamily="49" charset="0"/>
              </a:rPr>
              <a:t>	Feature: </a:t>
            </a:r>
            <a:r>
              <a:rPr lang="de-DE" dirty="0" err="1">
                <a:latin typeface="Courier New" panose="02070309020205020404" pitchFamily="49" charset="0"/>
                <a:cs typeface="Courier New" panose="02070309020205020404" pitchFamily="49" charset="0"/>
              </a:rPr>
              <a:t>xyz</a:t>
            </a:r>
            <a:endParaRPr lang="de-DE" dirty="0">
              <a:latin typeface="Courier New" panose="02070309020205020404" pitchFamily="49" charset="0"/>
              <a:cs typeface="Courier New" panose="02070309020205020404" pitchFamily="49" charset="0"/>
            </a:endParaRPr>
          </a:p>
        </p:txBody>
      </p:sp>
      <p:sp>
        <p:nvSpPr>
          <p:cNvPr id="4" name="Datumsplatzhalter 3"/>
          <p:cNvSpPr>
            <a:spLocks noGrp="1"/>
          </p:cNvSpPr>
          <p:nvPr>
            <p:ph type="dt" sz="half" idx="10"/>
          </p:nvPr>
        </p:nvSpPr>
        <p:spPr/>
        <p:txBody>
          <a:bodyPr/>
          <a:lstStyle/>
          <a:p>
            <a:fld id="{EBC18591-C1A3-465E-BDB3-CBC5387D70CE}" type="datetime1">
              <a:rPr lang="de-DE" smtClean="0"/>
              <a:t>15.06.2020</a:t>
            </a:fld>
            <a:endParaRPr lang="de-DE"/>
          </a:p>
        </p:txBody>
      </p:sp>
      <p:sp>
        <p:nvSpPr>
          <p:cNvPr id="6" name="Foliennummernplatzhalter 5"/>
          <p:cNvSpPr>
            <a:spLocks noGrp="1"/>
          </p:cNvSpPr>
          <p:nvPr>
            <p:ph type="sldNum" sz="quarter" idx="12"/>
          </p:nvPr>
        </p:nvSpPr>
        <p:spPr/>
        <p:txBody>
          <a:bodyPr/>
          <a:lstStyle/>
          <a:p>
            <a:fld id="{2BD49046-6E03-44BD-86B4-CD06AAC78235}" type="slidenum">
              <a:rPr lang="de-DE" smtClean="0"/>
              <a:t>2</a:t>
            </a:fld>
            <a:endParaRPr lang="de-DE"/>
          </a:p>
        </p:txBody>
      </p:sp>
    </p:spTree>
    <p:extLst>
      <p:ext uri="{BB962C8B-B14F-4D97-AF65-F5344CB8AC3E}">
        <p14:creationId xmlns:p14="http://schemas.microsoft.com/office/powerpoint/2010/main" val="25860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b="1" dirty="0"/>
              <a:t>Testaufbau und Durchführung</a:t>
            </a:r>
            <a:br>
              <a:rPr lang="de-DE" b="1" dirty="0"/>
            </a:br>
            <a:r>
              <a:rPr lang="de-DE" dirty="0"/>
              <a:t>Das Scenario</a:t>
            </a:r>
          </a:p>
        </p:txBody>
      </p:sp>
      <p:sp>
        <p:nvSpPr>
          <p:cNvPr id="3" name="Inhaltsplatzhalter 2"/>
          <p:cNvSpPr>
            <a:spLocks noGrp="1"/>
          </p:cNvSpPr>
          <p:nvPr>
            <p:ph idx="1"/>
          </p:nvPr>
        </p:nvSpPr>
        <p:spPr/>
        <p:txBody>
          <a:bodyPr>
            <a:normAutofit fontScale="85000" lnSpcReduction="10000"/>
          </a:bodyPr>
          <a:lstStyle/>
          <a:p>
            <a:pPr>
              <a:spcAft>
                <a:spcPts val="5400"/>
              </a:spcAft>
            </a:pPr>
            <a:r>
              <a:rPr lang="de-DE" dirty="0"/>
              <a:t>Tests bestehen aus einzelnen </a:t>
            </a:r>
            <a:r>
              <a:rPr lang="de-DE" dirty="0" err="1"/>
              <a:t>Steps</a:t>
            </a:r>
            <a:r>
              <a:rPr lang="de-DE" dirty="0"/>
              <a:t> und werden zu einem "Scenario" zusammengefasst. Ein Scenario beschreibt einen Testfall.</a:t>
            </a:r>
          </a:p>
          <a:p>
            <a:endParaRPr lang="de-DE" dirty="0"/>
          </a:p>
          <a:p>
            <a:r>
              <a:rPr lang="de-DE" dirty="0"/>
              <a:t>In dieser Zeile soll beschrieben werden, was in diesem Scenario passiert bzw. was getestet wird. Gibt es spezifische Umstände, die wichtig sind, sollten diese auch im Scenario genannt werden.</a:t>
            </a:r>
          </a:p>
          <a:p>
            <a:r>
              <a:rPr lang="de-DE" dirty="0"/>
              <a:t>In den darauffolgenden Zeilen wird der Test geschrieben. </a:t>
            </a:r>
          </a:p>
          <a:p>
            <a:pPr marL="0" indent="0">
              <a:spcBef>
                <a:spcPts val="0"/>
              </a:spcBef>
              <a:spcAft>
                <a:spcPts val="0"/>
              </a:spcAft>
              <a:buNone/>
            </a:pPr>
            <a:r>
              <a:rPr lang="de-DE" dirty="0"/>
              <a:t>	</a:t>
            </a:r>
            <a:r>
              <a:rPr lang="de-DE" dirty="0" err="1"/>
              <a:t>Given</a:t>
            </a:r>
            <a:r>
              <a:rPr lang="de-DE" dirty="0"/>
              <a:t> </a:t>
            </a:r>
            <a:r>
              <a:rPr lang="de-DE" dirty="0">
                <a:sym typeface="Wingdings" panose="05000000000000000000" pitchFamily="2" charset="2"/>
              </a:rPr>
              <a:t></a:t>
            </a:r>
            <a:r>
              <a:rPr lang="de-DE" dirty="0"/>
              <a:t> Aktion einleiten</a:t>
            </a:r>
          </a:p>
          <a:p>
            <a:pPr marL="0" indent="0">
              <a:spcBef>
                <a:spcPts val="0"/>
              </a:spcBef>
              <a:spcAft>
                <a:spcPts val="0"/>
              </a:spcAft>
              <a:buNone/>
            </a:pPr>
            <a:r>
              <a:rPr lang="de-DE" dirty="0"/>
              <a:t>	</a:t>
            </a:r>
            <a:r>
              <a:rPr lang="de-DE" dirty="0" err="1"/>
              <a:t>And</a:t>
            </a:r>
            <a:r>
              <a:rPr lang="de-DE" dirty="0"/>
              <a:t> </a:t>
            </a:r>
            <a:r>
              <a:rPr lang="de-DE" dirty="0">
                <a:sym typeface="Wingdings" panose="05000000000000000000" pitchFamily="2" charset="2"/>
              </a:rPr>
              <a:t></a:t>
            </a:r>
            <a:r>
              <a:rPr lang="de-DE" dirty="0"/>
              <a:t> Schritte in der Aktion</a:t>
            </a:r>
          </a:p>
          <a:p>
            <a:pPr marL="0" indent="0">
              <a:spcBef>
                <a:spcPts val="0"/>
              </a:spcBef>
              <a:spcAft>
                <a:spcPts val="0"/>
              </a:spcAft>
              <a:buNone/>
            </a:pPr>
            <a:r>
              <a:rPr lang="de-DE" dirty="0"/>
              <a:t>	Then </a:t>
            </a:r>
            <a:r>
              <a:rPr lang="de-DE" dirty="0">
                <a:sym typeface="Wingdings" panose="05000000000000000000" pitchFamily="2" charset="2"/>
              </a:rPr>
              <a:t></a:t>
            </a:r>
            <a:r>
              <a:rPr lang="de-DE" dirty="0"/>
              <a:t> Prüfungen </a:t>
            </a:r>
          </a:p>
          <a:p>
            <a:pPr marL="0" indent="0">
              <a:spcBef>
                <a:spcPts val="0"/>
              </a:spcBef>
              <a:spcAft>
                <a:spcPts val="0"/>
              </a:spcAft>
              <a:buNone/>
            </a:pPr>
            <a:endParaRPr lang="de-DE" dirty="0"/>
          </a:p>
          <a:p>
            <a:pPr marL="0" indent="0">
              <a:buNone/>
            </a:pPr>
            <a:r>
              <a:rPr lang="de-DE" dirty="0"/>
              <a:t>! Gebe ein </a:t>
            </a:r>
            <a:r>
              <a:rPr lang="de-DE" dirty="0" err="1"/>
              <a:t>Given</a:t>
            </a:r>
            <a:r>
              <a:rPr lang="de-DE" dirty="0"/>
              <a:t>/</a:t>
            </a:r>
            <a:r>
              <a:rPr lang="de-DE" dirty="0" err="1"/>
              <a:t>Then</a:t>
            </a:r>
            <a:r>
              <a:rPr lang="de-DE" dirty="0"/>
              <a:t> oder </a:t>
            </a:r>
            <a:r>
              <a:rPr lang="de-DE" dirty="0" err="1"/>
              <a:t>And</a:t>
            </a:r>
            <a:r>
              <a:rPr lang="de-DE" dirty="0"/>
              <a:t> ein, und Du kannst Dir über Strg + Leertaste alle </a:t>
            </a:r>
            <a:r>
              <a:rPr lang="de-DE" dirty="0" err="1"/>
              <a:t>Steps</a:t>
            </a:r>
            <a:r>
              <a:rPr lang="de-DE" dirty="0"/>
              <a:t> anzeigen lassen, die mit </a:t>
            </a:r>
            <a:r>
              <a:rPr lang="de-DE" dirty="0" err="1"/>
              <a:t>Cucumber</a:t>
            </a:r>
            <a:r>
              <a:rPr lang="de-DE" dirty="0"/>
              <a:t> möglich sind.</a:t>
            </a:r>
          </a:p>
        </p:txBody>
      </p:sp>
      <p:sp>
        <p:nvSpPr>
          <p:cNvPr id="5" name="Textfeld 4"/>
          <p:cNvSpPr txBox="1"/>
          <p:nvPr/>
        </p:nvSpPr>
        <p:spPr>
          <a:xfrm>
            <a:off x="980305" y="2785300"/>
            <a:ext cx="8122508" cy="707886"/>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de-DE" sz="1500" dirty="0"/>
              <a:t>Zuerst steht also die Scenario-Zeile, um den Testfall zu eröffnen:</a:t>
            </a:r>
          </a:p>
          <a:p>
            <a:pPr>
              <a:spcBef>
                <a:spcPts val="1200"/>
              </a:spcBef>
            </a:pPr>
            <a:r>
              <a:rPr lang="de-DE" sz="1500" dirty="0"/>
              <a:t>    	</a:t>
            </a:r>
            <a:r>
              <a:rPr lang="de-DE" sz="1500" dirty="0">
                <a:latin typeface="Courier New" panose="02070309020205020404" pitchFamily="49" charset="0"/>
                <a:cs typeface="Courier New" panose="02070309020205020404" pitchFamily="49" charset="0"/>
              </a:rPr>
              <a:t>Scenario: </a:t>
            </a:r>
            <a:r>
              <a:rPr lang="de-DE" sz="1500" dirty="0" err="1">
                <a:latin typeface="Courier New" panose="02070309020205020404" pitchFamily="49" charset="0"/>
                <a:cs typeface="Courier New" panose="02070309020205020404" pitchFamily="49" charset="0"/>
              </a:rPr>
              <a:t>xyz</a:t>
            </a:r>
            <a:endParaRPr lang="de-DE" sz="1500" dirty="0">
              <a:latin typeface="Courier New" panose="02070309020205020404" pitchFamily="49" charset="0"/>
              <a:cs typeface="Courier New" panose="02070309020205020404" pitchFamily="49" charset="0"/>
            </a:endParaRPr>
          </a:p>
        </p:txBody>
      </p:sp>
      <p:sp>
        <p:nvSpPr>
          <p:cNvPr id="4" name="Datumsplatzhalter 3"/>
          <p:cNvSpPr>
            <a:spLocks noGrp="1"/>
          </p:cNvSpPr>
          <p:nvPr>
            <p:ph type="dt" sz="half" idx="10"/>
          </p:nvPr>
        </p:nvSpPr>
        <p:spPr/>
        <p:txBody>
          <a:bodyPr/>
          <a:lstStyle/>
          <a:p>
            <a:fld id="{28530ADB-35B8-4685-9A91-1D9E8507A546}" type="datetime1">
              <a:rPr lang="de-DE" smtClean="0"/>
              <a:t>15.06.2020</a:t>
            </a:fld>
            <a:endParaRPr lang="de-DE"/>
          </a:p>
        </p:txBody>
      </p:sp>
      <p:sp>
        <p:nvSpPr>
          <p:cNvPr id="6" name="Foliennummernplatzhalter 5"/>
          <p:cNvSpPr>
            <a:spLocks noGrp="1"/>
          </p:cNvSpPr>
          <p:nvPr>
            <p:ph type="sldNum" sz="quarter" idx="12"/>
          </p:nvPr>
        </p:nvSpPr>
        <p:spPr/>
        <p:txBody>
          <a:bodyPr/>
          <a:lstStyle/>
          <a:p>
            <a:fld id="{2BD49046-6E03-44BD-86B4-CD06AAC78235}" type="slidenum">
              <a:rPr lang="de-DE" smtClean="0"/>
              <a:t>3</a:t>
            </a:fld>
            <a:endParaRPr lang="de-DE"/>
          </a:p>
        </p:txBody>
      </p:sp>
    </p:spTree>
    <p:extLst>
      <p:ext uri="{BB962C8B-B14F-4D97-AF65-F5344CB8AC3E}">
        <p14:creationId xmlns:p14="http://schemas.microsoft.com/office/powerpoint/2010/main" val="376064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Öffnen eines Editors</a:t>
            </a:r>
          </a:p>
        </p:txBody>
      </p:sp>
      <p:sp>
        <p:nvSpPr>
          <p:cNvPr id="3" name="Inhaltsplatzhalter 2"/>
          <p:cNvSpPr>
            <a:spLocks noGrp="1"/>
          </p:cNvSpPr>
          <p:nvPr>
            <p:ph idx="1"/>
          </p:nvPr>
        </p:nvSpPr>
        <p:spPr/>
        <p:txBody>
          <a:bodyPr>
            <a:normAutofit fontScale="85000" lnSpcReduction="20000"/>
          </a:bodyPr>
          <a:lstStyle/>
          <a:p>
            <a:pPr marL="342900" indent="-342900">
              <a:spcAft>
                <a:spcPts val="1800"/>
              </a:spcAft>
              <a:buFont typeface="+mj-lt"/>
              <a:buAutoNum type="arabicPeriod"/>
            </a:pP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a:t>
            </a:r>
          </a:p>
          <a:p>
            <a:pPr marL="342900" indent="-342900">
              <a:spcAft>
                <a:spcPts val="1800"/>
              </a:spcAft>
              <a:buFont typeface="+mj-lt"/>
              <a:buAutoNum type="arabicPeriod"/>
            </a:pP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search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criteria</a:t>
            </a:r>
            <a:r>
              <a:rPr lang="de-DE" dirty="0">
                <a:latin typeface="Courier New" panose="02070309020205020404" pitchFamily="49" charset="0"/>
                <a:cs typeface="Courier New" panose="02070309020205020404" pitchFamily="49" charset="0"/>
              </a:rPr>
              <a:t> "([^"]*)"</a:t>
            </a:r>
          </a:p>
          <a:p>
            <a:pPr marL="342900" indent="-342900">
              <a:spcAft>
                <a:spcPts val="1800"/>
              </a:spcAft>
              <a:buFont typeface="+mj-lt"/>
              <a:buAutoNum type="arabicPeriod"/>
            </a:pP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menu</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choice</a:t>
            </a:r>
            <a:r>
              <a:rPr lang="de-DE" dirty="0">
                <a:latin typeface="Courier New" panose="02070309020205020404" pitchFamily="49" charset="0"/>
                <a:cs typeface="Courier New" panose="02070309020205020404" pitchFamily="49" charset="0"/>
              </a:rPr>
              <a:t> "([^"]*)"</a:t>
            </a:r>
          </a:p>
          <a:p>
            <a:pPr marL="342900" indent="-342900">
              <a:spcAft>
                <a:spcPts val="1800"/>
              </a:spcAft>
              <a:buFont typeface="+mj-lt"/>
              <a:buAutoNum type="arabicPeriod"/>
            </a:pP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tip</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arguments</a:t>
            </a:r>
            <a:r>
              <a:rPr lang="de-DE" dirty="0">
                <a:latin typeface="Courier New" panose="02070309020205020404" pitchFamily="49" charset="0"/>
                <a:cs typeface="Courier New" panose="02070309020205020404" pitchFamily="49" charset="0"/>
              </a:rPr>
              <a:t> "([^"]*)"</a:t>
            </a:r>
          </a:p>
          <a:p>
            <a:pPr marL="342900" indent="-342900">
              <a:spcAft>
                <a:spcPts val="1800"/>
              </a:spcAft>
              <a:buFont typeface="+mj-lt"/>
              <a:buAutoNum type="arabicPeriod"/>
            </a:pP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via ID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a:t>
            </a:r>
          </a:p>
          <a:p>
            <a:pPr marL="342900" indent="-342900">
              <a:spcAft>
                <a:spcPts val="1800"/>
              </a:spcAft>
              <a:buFont typeface="+mj-lt"/>
              <a:buAutoNum type="arabicPeriod"/>
            </a:pP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p>
        </p:txBody>
      </p:sp>
      <p:sp>
        <p:nvSpPr>
          <p:cNvPr id="4" name="Datumsplatzhalter 3"/>
          <p:cNvSpPr>
            <a:spLocks noGrp="1"/>
          </p:cNvSpPr>
          <p:nvPr>
            <p:ph type="dt" sz="half" idx="10"/>
          </p:nvPr>
        </p:nvSpPr>
        <p:spPr/>
        <p:txBody>
          <a:bodyPr/>
          <a:lstStyle/>
          <a:p>
            <a:fld id="{7C7FAD9F-69C6-4152-8462-267F11CD75AB}"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a:t>
            </a:fld>
            <a:endParaRPr lang="de-DE"/>
          </a:p>
        </p:txBody>
      </p:sp>
    </p:spTree>
    <p:extLst>
      <p:ext uri="{BB962C8B-B14F-4D97-AF65-F5344CB8AC3E}">
        <p14:creationId xmlns:p14="http://schemas.microsoft.com/office/powerpoint/2010/main" val="645392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Hinweis zum Öffnen eines Editor mit Kommando STORE</a:t>
            </a:r>
          </a:p>
        </p:txBody>
      </p:sp>
      <p:sp>
        <p:nvSpPr>
          <p:cNvPr id="3" name="Inhaltsplatzhalter 2"/>
          <p:cNvSpPr>
            <a:spLocks noGrp="1"/>
          </p:cNvSpPr>
          <p:nvPr>
            <p:ph idx="1"/>
          </p:nvPr>
        </p:nvSpPr>
        <p:spPr/>
        <p:txBody>
          <a:bodyPr/>
          <a:lstStyle/>
          <a:p>
            <a:r>
              <a:rPr lang="de-DE" dirty="0"/>
              <a:t>Das Store-Kommando vereint zwei Möglichkeiten, einen Datensatz zu öffnen.</a:t>
            </a:r>
          </a:p>
          <a:p>
            <a:r>
              <a:rPr lang="de-DE" dirty="0"/>
              <a:t>Ist der Datensatz bereits vorhanden, wird dieser geöffnet und Änderungen durch nachfolgende </a:t>
            </a:r>
            <a:r>
              <a:rPr lang="de-DE" dirty="0" err="1"/>
              <a:t>Steps</a:t>
            </a:r>
            <a:r>
              <a:rPr lang="de-DE" dirty="0"/>
              <a:t> vorgenommen. Werden keine Änderungen erkannt, bleibt der Datensatz so bestehen, wie er ist.</a:t>
            </a:r>
          </a:p>
          <a:p>
            <a:r>
              <a:rPr lang="de-DE" dirty="0"/>
              <a:t>Ist der Datensatz noch nicht vorhanden, wird er mit den Informationen aus den anschließenden </a:t>
            </a:r>
            <a:r>
              <a:rPr lang="de-DE" dirty="0" err="1"/>
              <a:t>Steps</a:t>
            </a:r>
            <a:r>
              <a:rPr lang="de-DE" dirty="0"/>
              <a:t> neu angelegt.</a:t>
            </a:r>
          </a:p>
          <a:p>
            <a:r>
              <a:rPr lang="de-DE" dirty="0"/>
              <a:t>Der </a:t>
            </a:r>
            <a:r>
              <a:rPr lang="de-DE" dirty="0" err="1"/>
              <a:t>Step</a:t>
            </a:r>
            <a:r>
              <a:rPr lang="de-DE" dirty="0"/>
              <a:t> benötigt die Angabe eines </a:t>
            </a:r>
            <a:r>
              <a:rPr lang="de-DE" dirty="0" err="1"/>
              <a:t>Datensatzen</a:t>
            </a:r>
            <a:r>
              <a:rPr lang="de-DE" dirty="0"/>
              <a:t>, „</a:t>
            </a:r>
            <a:r>
              <a:rPr lang="de-DE" dirty="0" err="1"/>
              <a:t>record</a:t>
            </a:r>
            <a:r>
              <a:rPr lang="de-DE" dirty="0"/>
              <a:t>“ muss also gefüllt sein.</a:t>
            </a:r>
          </a:p>
          <a:p>
            <a:pPr marL="0" indent="0">
              <a:buNone/>
            </a:pPr>
            <a:r>
              <a:rPr lang="de-DE" dirty="0"/>
              <a:t>	</a:t>
            </a: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a:t>
            </a:r>
            <a:r>
              <a:rPr lang="de-DE" b="1" dirty="0">
                <a:latin typeface="Courier New" panose="02070309020205020404" pitchFamily="49" charset="0"/>
                <a:cs typeface="Courier New" panose="02070309020205020404" pitchFamily="49" charset="0"/>
              </a:rPr>
              <a:t>STORE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a:t>
            </a:r>
          </a:p>
        </p:txBody>
      </p:sp>
      <p:sp>
        <p:nvSpPr>
          <p:cNvPr id="4" name="Datumsplatzhalter 3"/>
          <p:cNvSpPr>
            <a:spLocks noGrp="1"/>
          </p:cNvSpPr>
          <p:nvPr>
            <p:ph type="dt" sz="half" idx="10"/>
          </p:nvPr>
        </p:nvSpPr>
        <p:spPr/>
        <p:txBody>
          <a:bodyPr/>
          <a:lstStyle/>
          <a:p>
            <a:fld id="{8FCA1CFF-538A-4355-8783-2D2B7B50E629}"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a:t>
            </a:fld>
            <a:endParaRPr lang="de-DE"/>
          </a:p>
        </p:txBody>
      </p:sp>
    </p:spTree>
    <p:extLst>
      <p:ext uri="{BB962C8B-B14F-4D97-AF65-F5344CB8AC3E}">
        <p14:creationId xmlns:p14="http://schemas.microsoft.com/office/powerpoint/2010/main" val="1960803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Hinweis zum Öffnen eines Editor mit Menüauswahl</a:t>
            </a:r>
          </a:p>
        </p:txBody>
      </p:sp>
      <p:sp>
        <p:nvSpPr>
          <p:cNvPr id="3" name="Inhaltsplatzhalter 2"/>
          <p:cNvSpPr>
            <a:spLocks noGrp="1"/>
          </p:cNvSpPr>
          <p:nvPr>
            <p:ph idx="1"/>
          </p:nvPr>
        </p:nvSpPr>
        <p:spPr/>
        <p:txBody>
          <a:bodyPr/>
          <a:lstStyle/>
          <a:p>
            <a:r>
              <a:rPr lang="de-DE" dirty="0"/>
              <a:t>Manche Editoren können nur geöffnet werden, wenn zuvor eine Auswahl aus einem Menü getroffen wird. Diese können mit folgendem </a:t>
            </a:r>
            <a:r>
              <a:rPr lang="de-DE" dirty="0" err="1"/>
              <a:t>Step</a:t>
            </a:r>
            <a:r>
              <a:rPr lang="de-DE" dirty="0"/>
              <a:t> geöffnet werden:</a:t>
            </a:r>
          </a:p>
          <a:p>
            <a:pPr marL="0" indent="0">
              <a:buNone/>
            </a:pPr>
            <a:r>
              <a:rPr lang="de-DE" dirty="0"/>
              <a:t>	</a:t>
            </a: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menu</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choice</a:t>
            </a:r>
            <a:r>
              <a:rPr lang="de-DE" dirty="0">
                <a:latin typeface="Courier New" panose="02070309020205020404" pitchFamily="49" charset="0"/>
                <a:cs typeface="Courier New" panose="02070309020205020404" pitchFamily="49" charset="0"/>
              </a:rPr>
              <a:t> "([^"]*)"</a:t>
            </a:r>
          </a:p>
          <a:p>
            <a:endParaRPr lang="de-DE" dirty="0"/>
          </a:p>
          <a:p>
            <a:r>
              <a:rPr lang="de-DE" dirty="0"/>
              <a:t>Beispiel: Inventureröffnung</a:t>
            </a:r>
          </a:p>
        </p:txBody>
      </p:sp>
      <p:sp>
        <p:nvSpPr>
          <p:cNvPr id="4" name="Datumsplatzhalter 3"/>
          <p:cNvSpPr>
            <a:spLocks noGrp="1"/>
          </p:cNvSpPr>
          <p:nvPr>
            <p:ph type="dt" sz="half" idx="10"/>
          </p:nvPr>
        </p:nvSpPr>
        <p:spPr/>
        <p:txBody>
          <a:bodyPr/>
          <a:lstStyle/>
          <a:p>
            <a:fld id="{8FCA1CFF-538A-4355-8783-2D2B7B50E629}"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6</a:t>
            </a:fld>
            <a:endParaRPr lang="de-DE"/>
          </a:p>
        </p:txBody>
      </p:sp>
    </p:spTree>
    <p:extLst>
      <p:ext uri="{BB962C8B-B14F-4D97-AF65-F5344CB8AC3E}">
        <p14:creationId xmlns:p14="http://schemas.microsoft.com/office/powerpoint/2010/main" val="3640981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e 4"/>
          <p:cNvGraphicFramePr>
            <a:graphicFrameLocks noGrp="1"/>
          </p:cNvGraphicFramePr>
          <p:nvPr>
            <p:extLst>
              <p:ext uri="{D42A27DB-BD31-4B8C-83A1-F6EECF244321}">
                <p14:modId xmlns:p14="http://schemas.microsoft.com/office/powerpoint/2010/main" val="2091388094"/>
              </p:ext>
            </p:extLst>
          </p:nvPr>
        </p:nvGraphicFramePr>
        <p:xfrm>
          <a:off x="987756" y="937729"/>
          <a:ext cx="10216488" cy="5018408"/>
        </p:xfrm>
        <a:graphic>
          <a:graphicData uri="http://schemas.openxmlformats.org/drawingml/2006/table">
            <a:tbl>
              <a:tblPr firstRow="1" firstCol="1" bandRow="1">
                <a:tableStyleId>{1E171933-4619-4E11-9A3F-F7608DF75F80}</a:tableStyleId>
              </a:tblPr>
              <a:tblGrid>
                <a:gridCol w="2818909">
                  <a:extLst>
                    <a:ext uri="{9D8B030D-6E8A-4147-A177-3AD203B41FA5}">
                      <a16:colId xmlns:a16="http://schemas.microsoft.com/office/drawing/2014/main" val="1648593271"/>
                    </a:ext>
                  </a:extLst>
                </a:gridCol>
                <a:gridCol w="7397579">
                  <a:extLst>
                    <a:ext uri="{9D8B030D-6E8A-4147-A177-3AD203B41FA5}">
                      <a16:colId xmlns:a16="http://schemas.microsoft.com/office/drawing/2014/main" val="464546318"/>
                    </a:ext>
                  </a:extLst>
                </a:gridCol>
              </a:tblGrid>
              <a:tr h="182461">
                <a:tc>
                  <a:txBody>
                    <a:bodyPr/>
                    <a:lstStyle/>
                    <a:p>
                      <a:pPr algn="ctr">
                        <a:spcAft>
                          <a:spcPts val="0"/>
                        </a:spcAft>
                      </a:pPr>
                      <a:r>
                        <a:rPr lang="de-DE" sz="1400">
                          <a:effectLst/>
                        </a:rPr>
                        <a:t>Kommando</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lgn="ctr">
                        <a:spcAft>
                          <a:spcPts val="0"/>
                        </a:spcAft>
                      </a:pPr>
                      <a:r>
                        <a:rPr lang="de-DE" sz="1400">
                          <a:effectLst/>
                        </a:rPr>
                        <a:t>Bedeutung</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2868892157"/>
                  </a:ext>
                </a:extLst>
              </a:tr>
              <a:tr h="182461">
                <a:tc>
                  <a:txBody>
                    <a:bodyPr/>
                    <a:lstStyle/>
                    <a:p>
                      <a:pPr algn="ctr">
                        <a:spcAft>
                          <a:spcPts val="0"/>
                        </a:spcAft>
                      </a:pPr>
                      <a:r>
                        <a:rPr lang="de-DE" sz="1400">
                          <a:effectLst/>
                        </a:rPr>
                        <a:t>NEW</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Neuanlage eines Datensatzes</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1698189646"/>
                  </a:ext>
                </a:extLst>
              </a:tr>
              <a:tr h="182461">
                <a:tc>
                  <a:txBody>
                    <a:bodyPr/>
                    <a:lstStyle/>
                    <a:p>
                      <a:pPr algn="ctr">
                        <a:spcAft>
                          <a:spcPts val="0"/>
                        </a:spcAft>
                      </a:pPr>
                      <a:r>
                        <a:rPr lang="de-DE" sz="1400">
                          <a:effectLst/>
                        </a:rPr>
                        <a:t>UPDATE</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dirty="0">
                          <a:effectLst/>
                        </a:rPr>
                        <a:t>Ändern eines vorhandenen Datensatzes</a:t>
                      </a:r>
                      <a:endParaRPr lang="de-DE" sz="1400" dirty="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3743295201"/>
                  </a:ext>
                </a:extLst>
              </a:tr>
              <a:tr h="302436">
                <a:tc>
                  <a:txBody>
                    <a:bodyPr/>
                    <a:lstStyle/>
                    <a:p>
                      <a:pPr algn="ctr">
                        <a:spcAft>
                          <a:spcPts val="0"/>
                        </a:spcAft>
                      </a:pPr>
                      <a:r>
                        <a:rPr lang="de-DE" sz="1400">
                          <a:effectLst/>
                        </a:rPr>
                        <a:t>STORE</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dirty="0">
                          <a:effectLst/>
                        </a:rPr>
                        <a:t>Intelligentes Speichern eines Datensatzes, egal ob vorhanden oder nicht</a:t>
                      </a:r>
                      <a:endParaRPr lang="de-DE" sz="1400" dirty="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499997948"/>
                  </a:ext>
                </a:extLst>
              </a:tr>
              <a:tr h="182461">
                <a:tc>
                  <a:txBody>
                    <a:bodyPr/>
                    <a:lstStyle/>
                    <a:p>
                      <a:pPr algn="ctr">
                        <a:spcAft>
                          <a:spcPts val="0"/>
                        </a:spcAft>
                      </a:pPr>
                      <a:r>
                        <a:rPr lang="de-DE" sz="1400">
                          <a:effectLst/>
                        </a:rPr>
                        <a:t>VIEW</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Lädt einen Datensatz zum "Zeigen", also ohne Änderungsmöglichkeit</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3993879225"/>
                  </a:ext>
                </a:extLst>
              </a:tr>
              <a:tr h="182461">
                <a:tc>
                  <a:txBody>
                    <a:bodyPr/>
                    <a:lstStyle/>
                    <a:p>
                      <a:pPr algn="ctr">
                        <a:spcAft>
                          <a:spcPts val="0"/>
                        </a:spcAft>
                      </a:pPr>
                      <a:r>
                        <a:rPr lang="de-DE" sz="1400">
                          <a:effectLst/>
                        </a:rPr>
                        <a:t>DELETE</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Löschen eines Datensatzes</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3931788617"/>
                  </a:ext>
                </a:extLst>
              </a:tr>
              <a:tr h="182461">
                <a:tc>
                  <a:txBody>
                    <a:bodyPr/>
                    <a:lstStyle/>
                    <a:p>
                      <a:pPr algn="ctr">
                        <a:spcAft>
                          <a:spcPts val="0"/>
                        </a:spcAft>
                      </a:pPr>
                      <a:r>
                        <a:rPr lang="de-DE" sz="1400">
                          <a:effectLst/>
                        </a:rPr>
                        <a:t>DELIVERY</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Datenbankaktion "Lieferung" ausführen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2375188423"/>
                  </a:ext>
                </a:extLst>
              </a:tr>
              <a:tr h="182461">
                <a:tc>
                  <a:txBody>
                    <a:bodyPr/>
                    <a:lstStyle/>
                    <a:p>
                      <a:pPr algn="ctr">
                        <a:spcAft>
                          <a:spcPts val="0"/>
                        </a:spcAft>
                      </a:pPr>
                      <a:r>
                        <a:rPr lang="de-DE" sz="1400">
                          <a:effectLst/>
                        </a:rPr>
                        <a:t>INVOICE</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Datenbankaktion "Rechnung" ausführen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2118539936"/>
                  </a:ext>
                </a:extLst>
              </a:tr>
              <a:tr h="182461">
                <a:tc>
                  <a:txBody>
                    <a:bodyPr/>
                    <a:lstStyle/>
                    <a:p>
                      <a:pPr algn="ctr">
                        <a:spcAft>
                          <a:spcPts val="0"/>
                        </a:spcAft>
                      </a:pPr>
                      <a:r>
                        <a:rPr lang="de-DE" sz="1400">
                          <a:effectLst/>
                        </a:rPr>
                        <a:t>REVERSAL</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Datenbankaktion "Storno" ausführen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4154897053"/>
                  </a:ext>
                </a:extLst>
              </a:tr>
              <a:tr h="302436">
                <a:tc>
                  <a:txBody>
                    <a:bodyPr/>
                    <a:lstStyle/>
                    <a:p>
                      <a:pPr algn="ctr">
                        <a:spcAft>
                          <a:spcPts val="0"/>
                        </a:spcAft>
                      </a:pPr>
                      <a:r>
                        <a:rPr lang="de-DE" sz="1400">
                          <a:effectLst/>
                        </a:rPr>
                        <a:t>COPY</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Neuanlage eines Datensatzes unter Verwendung eines vorhandenen Satzes als Vorlage (Kopieren)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4194910278"/>
                  </a:ext>
                </a:extLst>
              </a:tr>
              <a:tr h="182461">
                <a:tc>
                  <a:txBody>
                    <a:bodyPr/>
                    <a:lstStyle/>
                    <a:p>
                      <a:pPr algn="ctr">
                        <a:spcAft>
                          <a:spcPts val="0"/>
                        </a:spcAft>
                      </a:pPr>
                      <a:r>
                        <a:rPr lang="de-DE" sz="1400">
                          <a:effectLst/>
                        </a:rPr>
                        <a:t>REMOVE</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Intelligentes Lösche eines Datensatzes, egal ob vorhanden oder nicht</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2487220792"/>
                  </a:ext>
                </a:extLst>
              </a:tr>
              <a:tr h="182461">
                <a:tc>
                  <a:txBody>
                    <a:bodyPr/>
                    <a:lstStyle/>
                    <a:p>
                      <a:pPr algn="ctr">
                        <a:spcAft>
                          <a:spcPts val="0"/>
                        </a:spcAft>
                      </a:pPr>
                      <a:r>
                        <a:rPr lang="de-DE" sz="1400">
                          <a:effectLst/>
                        </a:rPr>
                        <a:t>GET</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Datenbankaktion "Holen" ausführen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2522755377"/>
                  </a:ext>
                </a:extLst>
              </a:tr>
              <a:tr h="182461">
                <a:tc>
                  <a:txBody>
                    <a:bodyPr/>
                    <a:lstStyle/>
                    <a:p>
                      <a:pPr algn="ctr">
                        <a:spcAft>
                          <a:spcPts val="0"/>
                        </a:spcAft>
                      </a:pPr>
                      <a:r>
                        <a:rPr lang="de-DE" sz="1400">
                          <a:effectLst/>
                        </a:rPr>
                        <a:t>RELEASE</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Datenbankaktion "Freigeben" ausführen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3833076633"/>
                  </a:ext>
                </a:extLst>
              </a:tr>
              <a:tr h="182461">
                <a:tc>
                  <a:txBody>
                    <a:bodyPr/>
                    <a:lstStyle/>
                    <a:p>
                      <a:pPr algn="ctr">
                        <a:spcAft>
                          <a:spcPts val="0"/>
                        </a:spcAft>
                      </a:pPr>
                      <a:r>
                        <a:rPr lang="de-DE" sz="1400">
                          <a:effectLst/>
                        </a:rPr>
                        <a:t>PAYMENT</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Datenbankaktion "Zahlung" ausführen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3028717715"/>
                  </a:ext>
                </a:extLst>
              </a:tr>
              <a:tr h="182461">
                <a:tc>
                  <a:txBody>
                    <a:bodyPr/>
                    <a:lstStyle/>
                    <a:p>
                      <a:pPr algn="ctr">
                        <a:spcAft>
                          <a:spcPts val="0"/>
                        </a:spcAft>
                      </a:pPr>
                      <a:r>
                        <a:rPr lang="de-DE" sz="1400">
                          <a:effectLst/>
                        </a:rPr>
                        <a:t>CALCULATE</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Datenbankaktion "Kalkulieren" ausführen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1752626929"/>
                  </a:ext>
                </a:extLst>
              </a:tr>
              <a:tr h="182461">
                <a:tc>
                  <a:txBody>
                    <a:bodyPr/>
                    <a:lstStyle/>
                    <a:p>
                      <a:pPr algn="ctr">
                        <a:spcAft>
                          <a:spcPts val="0"/>
                        </a:spcAft>
                      </a:pPr>
                      <a:r>
                        <a:rPr lang="de-DE" sz="1400">
                          <a:effectLst/>
                        </a:rPr>
                        <a:t>TRANSFER</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Datenbankaktion "Übertragen" ausführen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1741385012"/>
                  </a:ext>
                </a:extLst>
              </a:tr>
              <a:tr h="182461">
                <a:tc>
                  <a:txBody>
                    <a:bodyPr/>
                    <a:lstStyle/>
                    <a:p>
                      <a:pPr algn="ctr">
                        <a:spcAft>
                          <a:spcPts val="0"/>
                        </a:spcAft>
                      </a:pPr>
                      <a:r>
                        <a:rPr lang="de-DE" sz="1400">
                          <a:effectLst/>
                        </a:rPr>
                        <a:t>DONE</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a:effectLst/>
                        </a:rPr>
                        <a:t>Datenbankaktion "Fertig" ausführen</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1451053379"/>
                  </a:ext>
                </a:extLst>
              </a:tr>
              <a:tr h="182461">
                <a:tc>
                  <a:txBody>
                    <a:bodyPr/>
                    <a:lstStyle/>
                    <a:p>
                      <a:pPr algn="ctr">
                        <a:spcAft>
                          <a:spcPts val="0"/>
                        </a:spcAft>
                      </a:pPr>
                      <a:r>
                        <a:rPr lang="de-DE" sz="1400">
                          <a:effectLst/>
                        </a:rPr>
                        <a:t>DO</a:t>
                      </a:r>
                      <a:endParaRPr lang="de-DE" sz="1400">
                        <a:effectLst/>
                        <a:latin typeface="Times New Roman" panose="02020603050405020304" pitchFamily="18" charset="0"/>
                        <a:ea typeface="Times New Roman" panose="02020603050405020304" pitchFamily="18" charset="0"/>
                      </a:endParaRPr>
                    </a:p>
                  </a:txBody>
                  <a:tcPr marL="31243" marR="31243" marT="31243" marB="31243" anchor="ctr"/>
                </a:tc>
                <a:tc>
                  <a:txBody>
                    <a:bodyPr/>
                    <a:lstStyle/>
                    <a:p>
                      <a:pPr>
                        <a:spcAft>
                          <a:spcPts val="0"/>
                        </a:spcAft>
                      </a:pPr>
                      <a:r>
                        <a:rPr lang="de-DE" sz="1400" dirty="0">
                          <a:effectLst/>
                        </a:rPr>
                        <a:t>Aufruf eines Tippkommandos (Zum Durchführen eines Tippkommandos gibt es einen separaten </a:t>
                      </a:r>
                      <a:r>
                        <a:rPr lang="de-DE" sz="1400" dirty="0" err="1">
                          <a:effectLst/>
                        </a:rPr>
                        <a:t>Step</a:t>
                      </a:r>
                      <a:r>
                        <a:rPr lang="de-DE" sz="1400" dirty="0">
                          <a:effectLst/>
                        </a:rPr>
                        <a:t>)</a:t>
                      </a:r>
                      <a:endParaRPr lang="de-DE" sz="1400" dirty="0">
                        <a:effectLst/>
                        <a:latin typeface="Times New Roman" panose="02020603050405020304" pitchFamily="18" charset="0"/>
                        <a:ea typeface="Times New Roman" panose="02020603050405020304" pitchFamily="18" charset="0"/>
                      </a:endParaRPr>
                    </a:p>
                  </a:txBody>
                  <a:tcPr marL="31243" marR="31243" marT="31243" marB="31243" anchor="ctr"/>
                </a:tc>
                <a:extLst>
                  <a:ext uri="{0D108BD9-81ED-4DB2-BD59-A6C34878D82A}">
                    <a16:rowId xmlns:a16="http://schemas.microsoft.com/office/drawing/2014/main" val="3910907225"/>
                  </a:ext>
                </a:extLst>
              </a:tr>
            </a:tbl>
          </a:graphicData>
        </a:graphic>
      </p:graphicFrame>
      <p:sp>
        <p:nvSpPr>
          <p:cNvPr id="2" name="Datumsplatzhalter 1"/>
          <p:cNvSpPr>
            <a:spLocks noGrp="1"/>
          </p:cNvSpPr>
          <p:nvPr>
            <p:ph type="dt" sz="half" idx="10"/>
          </p:nvPr>
        </p:nvSpPr>
        <p:spPr/>
        <p:txBody>
          <a:bodyPr/>
          <a:lstStyle/>
          <a:p>
            <a:fld id="{EE0AF514-790D-4EF9-8C0C-351200F74155}" type="datetime1">
              <a:rPr lang="de-DE" smtClean="0"/>
              <a:t>15.06.2020</a:t>
            </a:fld>
            <a:endParaRPr lang="de-DE"/>
          </a:p>
        </p:txBody>
      </p:sp>
      <p:sp>
        <p:nvSpPr>
          <p:cNvPr id="3" name="Foliennummernplatzhalter 2"/>
          <p:cNvSpPr>
            <a:spLocks noGrp="1"/>
          </p:cNvSpPr>
          <p:nvPr>
            <p:ph type="sldNum" sz="quarter" idx="12"/>
          </p:nvPr>
        </p:nvSpPr>
        <p:spPr/>
        <p:txBody>
          <a:bodyPr/>
          <a:lstStyle/>
          <a:p>
            <a:fld id="{2BD49046-6E03-44BD-86B4-CD06AAC78235}" type="slidenum">
              <a:rPr lang="de-DE" smtClean="0"/>
              <a:t>7</a:t>
            </a:fld>
            <a:endParaRPr lang="de-DE"/>
          </a:p>
        </p:txBody>
      </p:sp>
    </p:spTree>
    <p:extLst>
      <p:ext uri="{BB962C8B-B14F-4D97-AF65-F5344CB8AC3E}">
        <p14:creationId xmlns:p14="http://schemas.microsoft.com/office/powerpoint/2010/main" val="3694182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a:t>Steps</a:t>
            </a:r>
            <a:r>
              <a:rPr lang="de-DE" dirty="0"/>
              <a:t> hinzufügen</a:t>
            </a:r>
          </a:p>
        </p:txBody>
      </p:sp>
      <p:sp>
        <p:nvSpPr>
          <p:cNvPr id="3" name="Inhaltsplatzhalter 2"/>
          <p:cNvSpPr>
            <a:spLocks noGrp="1"/>
          </p:cNvSpPr>
          <p:nvPr>
            <p:ph idx="1"/>
          </p:nvPr>
        </p:nvSpPr>
        <p:spPr/>
        <p:txBody>
          <a:bodyPr>
            <a:normAutofit/>
          </a:bodyPr>
          <a:lstStyle/>
          <a:p>
            <a:r>
              <a:rPr lang="de-DE" dirty="0"/>
              <a:t>Feldwerte zu setzen:</a:t>
            </a:r>
          </a:p>
          <a:p>
            <a:pPr marL="0" indent="0">
              <a:buNone/>
            </a:pPr>
            <a:r>
              <a:rPr lang="de-DE" dirty="0"/>
              <a:t>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p>
          <a:p>
            <a:pPr marL="0" indent="0">
              <a:buNone/>
            </a:pPr>
            <a:endParaRPr lang="de-DE" dirty="0"/>
          </a:p>
          <a:p>
            <a:r>
              <a:rPr lang="de-DE" dirty="0"/>
              <a:t>Auch Felder in Tabellen können gesetzt werden. Existiert die Zeile bereits, wird diese direkt angesprochen, gibt es noch keine Zeile, muss zuerst eine eingefügt werden:</a:t>
            </a:r>
          </a:p>
          <a:p>
            <a:pPr marL="936900" lvl="2" indent="-342900">
              <a:buFont typeface="+mj-lt"/>
              <a:buAutoNum type="arabicPeriod"/>
            </a:pPr>
            <a:r>
              <a:rPr lang="de-DE" sz="1800" dirty="0" err="1">
                <a:latin typeface="Courier New" panose="02070309020205020404" pitchFamily="49" charset="0"/>
                <a:cs typeface="Courier New" panose="02070309020205020404" pitchFamily="49" charset="0"/>
              </a:rPr>
              <a:t>And</a:t>
            </a:r>
            <a:r>
              <a:rPr lang="de-DE" sz="1800" dirty="0">
                <a:latin typeface="Courier New" panose="02070309020205020404" pitchFamily="49" charset="0"/>
                <a:cs typeface="Courier New" panose="02070309020205020404" pitchFamily="49" charset="0"/>
              </a:rPr>
              <a:t> I </a:t>
            </a:r>
            <a:r>
              <a:rPr lang="de-DE" sz="1800" dirty="0" err="1">
                <a:latin typeface="Courier New" panose="02070309020205020404" pitchFamily="49" charset="0"/>
                <a:cs typeface="Courier New" panose="02070309020205020404" pitchFamily="49" charset="0"/>
              </a:rPr>
              <a:t>create</a:t>
            </a:r>
            <a:r>
              <a:rPr lang="de-DE" sz="1800" dirty="0">
                <a:latin typeface="Courier New" panose="02070309020205020404" pitchFamily="49" charset="0"/>
                <a:cs typeface="Courier New" panose="02070309020205020404" pitchFamily="49" charset="0"/>
              </a:rPr>
              <a:t> a </a:t>
            </a:r>
            <a:r>
              <a:rPr lang="de-DE" sz="1800" dirty="0" err="1">
                <a:latin typeface="Courier New" panose="02070309020205020404" pitchFamily="49" charset="0"/>
                <a:cs typeface="Courier New" panose="02070309020205020404" pitchFamily="49" charset="0"/>
              </a:rPr>
              <a:t>new</a:t>
            </a:r>
            <a:r>
              <a:rPr lang="de-DE" sz="1800" dirty="0">
                <a:latin typeface="Courier New" panose="02070309020205020404" pitchFamily="49" charset="0"/>
                <a:cs typeface="Courier New" panose="02070309020205020404" pitchFamily="49" charset="0"/>
              </a:rPr>
              <a:t> </a:t>
            </a:r>
            <a:r>
              <a:rPr lang="de-DE" sz="1800" dirty="0" err="1">
                <a:latin typeface="Courier New" panose="02070309020205020404" pitchFamily="49" charset="0"/>
                <a:cs typeface="Courier New" panose="02070309020205020404" pitchFamily="49" charset="0"/>
              </a:rPr>
              <a:t>row</a:t>
            </a:r>
            <a:r>
              <a:rPr lang="de-DE" sz="1800" dirty="0">
                <a:latin typeface="Courier New" panose="02070309020205020404" pitchFamily="49" charset="0"/>
                <a:cs typeface="Courier New" panose="02070309020205020404" pitchFamily="49" charset="0"/>
              </a:rPr>
              <a:t> at </a:t>
            </a:r>
            <a:r>
              <a:rPr lang="de-DE" sz="1800" dirty="0" err="1">
                <a:latin typeface="Courier New" panose="02070309020205020404" pitchFamily="49" charset="0"/>
                <a:cs typeface="Courier New" panose="02070309020205020404" pitchFamily="49" charset="0"/>
              </a:rPr>
              <a:t>the</a:t>
            </a:r>
            <a:r>
              <a:rPr lang="de-DE" sz="1800" dirty="0">
                <a:latin typeface="Courier New" panose="02070309020205020404" pitchFamily="49" charset="0"/>
                <a:cs typeface="Courier New" panose="02070309020205020404" pitchFamily="49" charset="0"/>
              </a:rPr>
              <a:t> end </a:t>
            </a:r>
            <a:r>
              <a:rPr lang="de-DE" sz="1800" dirty="0" err="1">
                <a:latin typeface="Courier New" panose="02070309020205020404" pitchFamily="49" charset="0"/>
                <a:cs typeface="Courier New" panose="02070309020205020404" pitchFamily="49" charset="0"/>
              </a:rPr>
              <a:t>of</a:t>
            </a:r>
            <a:r>
              <a:rPr lang="de-DE" sz="1800" dirty="0">
                <a:latin typeface="Courier New" panose="02070309020205020404" pitchFamily="49" charset="0"/>
                <a:cs typeface="Courier New" panose="02070309020205020404" pitchFamily="49" charset="0"/>
              </a:rPr>
              <a:t> </a:t>
            </a:r>
            <a:r>
              <a:rPr lang="de-DE" sz="1800" dirty="0" err="1">
                <a:latin typeface="Courier New" panose="02070309020205020404" pitchFamily="49" charset="0"/>
                <a:cs typeface="Courier New" panose="02070309020205020404" pitchFamily="49" charset="0"/>
              </a:rPr>
              <a:t>the</a:t>
            </a:r>
            <a:r>
              <a:rPr lang="de-DE" sz="1800" dirty="0">
                <a:latin typeface="Courier New" panose="02070309020205020404" pitchFamily="49" charset="0"/>
                <a:cs typeface="Courier New" panose="02070309020205020404" pitchFamily="49" charset="0"/>
              </a:rPr>
              <a:t> </a:t>
            </a:r>
            <a:r>
              <a:rPr lang="de-DE" sz="1800" dirty="0" err="1">
                <a:latin typeface="Courier New" panose="02070309020205020404" pitchFamily="49" charset="0"/>
                <a:cs typeface="Courier New" panose="02070309020205020404" pitchFamily="49" charset="0"/>
              </a:rPr>
              <a:t>table</a:t>
            </a:r>
            <a:endParaRPr lang="de-DE" sz="1800" dirty="0">
              <a:latin typeface="Courier New" panose="02070309020205020404" pitchFamily="49" charset="0"/>
              <a:cs typeface="Courier New" panose="02070309020205020404" pitchFamily="49" charset="0"/>
            </a:endParaRPr>
          </a:p>
          <a:p>
            <a:pPr marL="936900" lvl="2" indent="-342900">
              <a:buFont typeface="+mj-lt"/>
              <a:buAutoNum type="arabicPeriod"/>
            </a:pPr>
            <a:r>
              <a:rPr lang="de-DE" sz="1800" dirty="0" err="1">
                <a:latin typeface="Courier New" panose="02070309020205020404" pitchFamily="49" charset="0"/>
                <a:cs typeface="Courier New" panose="02070309020205020404" pitchFamily="49" charset="0"/>
              </a:rPr>
              <a:t>And</a:t>
            </a:r>
            <a:r>
              <a:rPr lang="de-DE" sz="1800" dirty="0">
                <a:latin typeface="Courier New" panose="02070309020205020404" pitchFamily="49" charset="0"/>
                <a:cs typeface="Courier New" panose="02070309020205020404" pitchFamily="49" charset="0"/>
              </a:rPr>
              <a:t> I </a:t>
            </a:r>
            <a:r>
              <a:rPr lang="de-DE" sz="1800" dirty="0" err="1">
                <a:latin typeface="Courier New" panose="02070309020205020404" pitchFamily="49" charset="0"/>
                <a:cs typeface="Courier New" panose="02070309020205020404" pitchFamily="49" charset="0"/>
              </a:rPr>
              <a:t>create</a:t>
            </a:r>
            <a:r>
              <a:rPr lang="de-DE" sz="1800" dirty="0">
                <a:latin typeface="Courier New" panose="02070309020205020404" pitchFamily="49" charset="0"/>
                <a:cs typeface="Courier New" panose="02070309020205020404" pitchFamily="49" charset="0"/>
              </a:rPr>
              <a:t> a </a:t>
            </a:r>
            <a:r>
              <a:rPr lang="de-DE" sz="1800" dirty="0" err="1">
                <a:latin typeface="Courier New" panose="02070309020205020404" pitchFamily="49" charset="0"/>
                <a:cs typeface="Courier New" panose="02070309020205020404" pitchFamily="49" charset="0"/>
              </a:rPr>
              <a:t>new</a:t>
            </a:r>
            <a:r>
              <a:rPr lang="de-DE" sz="1800" dirty="0">
                <a:latin typeface="Courier New" panose="02070309020205020404" pitchFamily="49" charset="0"/>
                <a:cs typeface="Courier New" panose="02070309020205020404" pitchFamily="49" charset="0"/>
              </a:rPr>
              <a:t> </a:t>
            </a:r>
            <a:r>
              <a:rPr lang="de-DE" sz="1800" dirty="0" err="1">
                <a:latin typeface="Courier New" panose="02070309020205020404" pitchFamily="49" charset="0"/>
                <a:cs typeface="Courier New" panose="02070309020205020404" pitchFamily="49" charset="0"/>
              </a:rPr>
              <a:t>row</a:t>
            </a:r>
            <a:r>
              <a:rPr lang="de-DE" sz="1800" dirty="0">
                <a:latin typeface="Courier New" panose="02070309020205020404" pitchFamily="49" charset="0"/>
                <a:cs typeface="Courier New" panose="02070309020205020404" pitchFamily="49" charset="0"/>
              </a:rPr>
              <a:t> at </a:t>
            </a:r>
            <a:r>
              <a:rPr lang="de-DE" sz="1800" dirty="0" err="1">
                <a:latin typeface="Courier New" panose="02070309020205020404" pitchFamily="49" charset="0"/>
                <a:cs typeface="Courier New" panose="02070309020205020404" pitchFamily="49" charset="0"/>
              </a:rPr>
              <a:t>position</a:t>
            </a:r>
            <a:r>
              <a:rPr lang="de-DE" sz="1800" dirty="0">
                <a:latin typeface="Courier New" panose="02070309020205020404" pitchFamily="49" charset="0"/>
                <a:cs typeface="Courier New" panose="02070309020205020404" pitchFamily="49" charset="0"/>
              </a:rPr>
              <a:t> (\d+)</a:t>
            </a:r>
          </a:p>
          <a:p>
            <a:pPr marL="534988"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p:txBody>
      </p:sp>
      <p:sp>
        <p:nvSpPr>
          <p:cNvPr id="4" name="Datumsplatzhalter 3"/>
          <p:cNvSpPr>
            <a:spLocks noGrp="1"/>
          </p:cNvSpPr>
          <p:nvPr>
            <p:ph type="dt" sz="half" idx="10"/>
          </p:nvPr>
        </p:nvSpPr>
        <p:spPr/>
        <p:txBody>
          <a:bodyPr/>
          <a:lstStyle/>
          <a:p>
            <a:fld id="{BBDCBE75-D4F4-4545-B602-5E6E8C479039}"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8</a:t>
            </a:fld>
            <a:endParaRPr lang="de-DE"/>
          </a:p>
        </p:txBody>
      </p:sp>
    </p:spTree>
    <p:extLst>
      <p:ext uri="{BB962C8B-B14F-4D97-AF65-F5344CB8AC3E}">
        <p14:creationId xmlns:p14="http://schemas.microsoft.com/office/powerpoint/2010/main" val="169156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Editoren Schließen</a:t>
            </a:r>
          </a:p>
        </p:txBody>
      </p:sp>
      <p:sp>
        <p:nvSpPr>
          <p:cNvPr id="3" name="Inhaltsplatzhalter 2"/>
          <p:cNvSpPr>
            <a:spLocks noGrp="1"/>
          </p:cNvSpPr>
          <p:nvPr>
            <p:ph idx="1"/>
          </p:nvPr>
        </p:nvSpPr>
        <p:spPr/>
        <p:txBody>
          <a:bodyPr>
            <a:normAutofit/>
          </a:bodyPr>
          <a:lstStyle/>
          <a:p>
            <a:r>
              <a:rPr lang="de-DE" dirty="0"/>
              <a:t>Einen Editor schließen oder speichern: </a:t>
            </a:r>
          </a:p>
          <a:p>
            <a:pPr marL="324000" lvl="1"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close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endParaRPr lang="de-DE" dirty="0">
              <a:latin typeface="Courier New" panose="02070309020205020404" pitchFamily="49" charset="0"/>
              <a:cs typeface="Courier New" panose="02070309020205020404" pitchFamily="49" charset="0"/>
            </a:endParaRPr>
          </a:p>
          <a:p>
            <a:pPr marL="324000" lvl="1"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save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endParaRPr lang="de-DE" dirty="0">
              <a:latin typeface="Courier New" panose="02070309020205020404" pitchFamily="49" charset="0"/>
              <a:cs typeface="Courier New" panose="02070309020205020404" pitchFamily="49" charset="0"/>
            </a:endParaRP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9</a:t>
            </a:fld>
            <a:endParaRPr lang="de-DE"/>
          </a:p>
        </p:txBody>
      </p:sp>
    </p:spTree>
    <p:extLst>
      <p:ext uri="{BB962C8B-B14F-4D97-AF65-F5344CB8AC3E}">
        <p14:creationId xmlns:p14="http://schemas.microsoft.com/office/powerpoint/2010/main" val="1917643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Hinweise zum Testaufbau</a:t>
            </a:r>
          </a:p>
        </p:txBody>
      </p:sp>
      <p:sp>
        <p:nvSpPr>
          <p:cNvPr id="3" name="Inhaltsplatzhalter 2"/>
          <p:cNvSpPr>
            <a:spLocks noGrp="1"/>
          </p:cNvSpPr>
          <p:nvPr>
            <p:ph idx="1"/>
          </p:nvPr>
        </p:nvSpPr>
        <p:spPr/>
        <p:txBody>
          <a:bodyPr/>
          <a:lstStyle/>
          <a:p>
            <a:r>
              <a:rPr lang="de-DE" dirty="0"/>
              <a:t>In einem Test können Koppfelder und Tabellenfelder angesprochen werden.</a:t>
            </a:r>
          </a:p>
          <a:p>
            <a:r>
              <a:rPr lang="de-DE" dirty="0"/>
              <a:t>Es können </a:t>
            </a:r>
            <a:r>
              <a:rPr lang="de-DE" dirty="0" err="1"/>
              <a:t>Submaske</a:t>
            </a:r>
            <a:r>
              <a:rPr lang="de-DE" dirty="0"/>
              <a:t> (Subeditor) geöffnet und bearbeitet werden, bspw. Materialzuordnung oder Lagergruppeneigenschaften im Artikelstamm.</a:t>
            </a:r>
          </a:p>
          <a:p>
            <a:r>
              <a:rPr lang="de-DE" dirty="0"/>
              <a:t>Sind Koppfelder in einer Maske über verschiedene Reiter verteilt, ist trotzdem keine weitere Angabe notwendig.  Für den Test sind alle Felder auf einer Ebene, wie auch bspw. in der </a:t>
            </a:r>
            <a:r>
              <a:rPr lang="de-DE" dirty="0" err="1"/>
              <a:t>Vartab</a:t>
            </a:r>
            <a:r>
              <a:rPr lang="de-DE" dirty="0"/>
              <a:t>.</a:t>
            </a:r>
          </a:p>
          <a:p>
            <a:r>
              <a:rPr lang="de-DE" dirty="0"/>
              <a:t>Um Tabellenfelder anzusprechen, muss eine Zeilenangabe im </a:t>
            </a:r>
            <a:r>
              <a:rPr lang="de-DE" dirty="0" err="1"/>
              <a:t>Step</a:t>
            </a:r>
            <a:r>
              <a:rPr lang="de-DE" dirty="0"/>
              <a:t> erfolgen.</a:t>
            </a:r>
          </a:p>
          <a:p>
            <a:r>
              <a:rPr lang="de-DE" dirty="0"/>
              <a:t>Felder in einem Subeditor sind, wie in anderen Masken auch, nur in Kopf- und Tabellenfelder unterteilt. Die Besonderheit hier, ist das Öffnen des Subeditors mit einem speziellen </a:t>
            </a:r>
            <a:r>
              <a:rPr lang="de-DE" dirty="0" err="1"/>
              <a:t>Step</a:t>
            </a:r>
            <a:r>
              <a:rPr lang="de-DE" dirty="0"/>
              <a:t>.</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10</a:t>
            </a:fld>
            <a:endParaRPr lang="de-DE"/>
          </a:p>
        </p:txBody>
      </p:sp>
    </p:spTree>
    <p:extLst>
      <p:ext uri="{BB962C8B-B14F-4D97-AF65-F5344CB8AC3E}">
        <p14:creationId xmlns:p14="http://schemas.microsoft.com/office/powerpoint/2010/main" val="1279212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Vorbereitungen zur Testdurchführung</a:t>
            </a:r>
          </a:p>
        </p:txBody>
      </p:sp>
      <p:sp>
        <p:nvSpPr>
          <p:cNvPr id="3" name="Inhaltsplatzhalter 2"/>
          <p:cNvSpPr>
            <a:spLocks noGrp="1"/>
          </p:cNvSpPr>
          <p:nvPr>
            <p:ph idx="1"/>
          </p:nvPr>
        </p:nvSpPr>
        <p:spPr/>
        <p:txBody>
          <a:bodyPr/>
          <a:lstStyle/>
          <a:p>
            <a:r>
              <a:rPr lang="de-DE" dirty="0"/>
              <a:t>Verbindungsparameter werden in den Run </a:t>
            </a:r>
            <a:r>
              <a:rPr lang="de-DE" dirty="0" err="1"/>
              <a:t>Configurations</a:t>
            </a:r>
            <a:r>
              <a:rPr lang="de-DE" dirty="0"/>
              <a:t> – Environment festgelegt.</a:t>
            </a:r>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r>
              <a:rPr lang="de-DE" dirty="0"/>
              <a:t>Der Pfad zum Test wird in den </a:t>
            </a:r>
            <a:r>
              <a:rPr lang="de-DE" dirty="0" err="1"/>
              <a:t>RunCukes</a:t>
            </a:r>
            <a:r>
              <a:rPr lang="de-DE" dirty="0"/>
              <a:t> festgelegt.</a:t>
            </a:r>
          </a:p>
          <a:p>
            <a:r>
              <a:rPr lang="de-DE" dirty="0"/>
              <a:t>Es können mehrere Verbindungen gespeichert und mehrere </a:t>
            </a:r>
            <a:r>
              <a:rPr lang="de-DE" dirty="0" err="1"/>
              <a:t>RunCukes</a:t>
            </a:r>
            <a:r>
              <a:rPr lang="de-DE" dirty="0"/>
              <a:t>-Dateien erstellt werden.</a:t>
            </a:r>
          </a:p>
        </p:txBody>
      </p:sp>
      <p:pic>
        <p:nvPicPr>
          <p:cNvPr id="4" name="Grafi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44" y="2791885"/>
            <a:ext cx="4463219" cy="1551781"/>
          </a:xfrm>
          <a:prstGeom prst="rect">
            <a:avLst/>
          </a:prstGeom>
        </p:spPr>
      </p:pic>
      <p:sp>
        <p:nvSpPr>
          <p:cNvPr id="5" name="Datumsplatzhalter 4"/>
          <p:cNvSpPr>
            <a:spLocks noGrp="1"/>
          </p:cNvSpPr>
          <p:nvPr>
            <p:ph type="dt" sz="half" idx="10"/>
          </p:nvPr>
        </p:nvSpPr>
        <p:spPr/>
        <p:txBody>
          <a:bodyPr/>
          <a:lstStyle/>
          <a:p>
            <a:fld id="{89090F5E-2674-46CE-81FD-87552E70EEDC}" type="datetime1">
              <a:rPr lang="de-DE" smtClean="0"/>
              <a:t>15.06.2020</a:t>
            </a:fld>
            <a:endParaRPr lang="de-DE"/>
          </a:p>
        </p:txBody>
      </p:sp>
      <p:sp>
        <p:nvSpPr>
          <p:cNvPr id="6" name="Foliennummernplatzhalter 5"/>
          <p:cNvSpPr>
            <a:spLocks noGrp="1"/>
          </p:cNvSpPr>
          <p:nvPr>
            <p:ph type="sldNum" sz="quarter" idx="12"/>
          </p:nvPr>
        </p:nvSpPr>
        <p:spPr/>
        <p:txBody>
          <a:bodyPr/>
          <a:lstStyle/>
          <a:p>
            <a:fld id="{2BD49046-6E03-44BD-86B4-CD06AAC78235}" type="slidenum">
              <a:rPr lang="de-DE" smtClean="0"/>
              <a:t>11</a:t>
            </a:fld>
            <a:endParaRPr lang="de-DE"/>
          </a:p>
        </p:txBody>
      </p:sp>
    </p:spTree>
    <p:extLst>
      <p:ext uri="{BB962C8B-B14F-4D97-AF65-F5344CB8AC3E}">
        <p14:creationId xmlns:p14="http://schemas.microsoft.com/office/powerpoint/2010/main" val="526528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Erfolgreiche Testdurchführung</a:t>
            </a:r>
          </a:p>
        </p:txBody>
      </p:sp>
      <p:sp>
        <p:nvSpPr>
          <p:cNvPr id="3" name="Inhaltsplatzhalter 2"/>
          <p:cNvSpPr>
            <a:spLocks noGrp="1"/>
          </p:cNvSpPr>
          <p:nvPr>
            <p:ph idx="1"/>
          </p:nvPr>
        </p:nvSpPr>
        <p:spPr/>
        <p:txBody>
          <a:bodyPr>
            <a:normAutofit lnSpcReduction="10000"/>
          </a:bodyPr>
          <a:lstStyle/>
          <a:p>
            <a:r>
              <a:rPr lang="de-DE" dirty="0"/>
              <a:t>Über das grüne Play-Symbol 	 	wird der Test im jeweiligen Mandanten gestartet.</a:t>
            </a:r>
          </a:p>
          <a:p>
            <a:r>
              <a:rPr lang="de-DE" dirty="0"/>
              <a:t>Wird ein Test ausgeführt, öffnet sich am linken Rand ein Fenster. In diesem wird jeder einzelne </a:t>
            </a:r>
            <a:r>
              <a:rPr lang="de-DE" dirty="0" err="1"/>
              <a:t>Step</a:t>
            </a:r>
            <a:r>
              <a:rPr lang="de-DE" dirty="0"/>
              <a:t> des Tests sowie die Ergebnisse des Durchlaufs anzeigt.</a:t>
            </a:r>
          </a:p>
          <a:p>
            <a:r>
              <a:rPr lang="de-DE" dirty="0"/>
              <a:t>Tritt ein Fehler auf, werden die restlichen </a:t>
            </a:r>
            <a:r>
              <a:rPr lang="de-DE" dirty="0" err="1"/>
              <a:t>Steps</a:t>
            </a:r>
            <a:r>
              <a:rPr lang="de-DE" dirty="0"/>
              <a:t> des Scenarios übersprungen. </a:t>
            </a:r>
          </a:p>
          <a:p>
            <a:r>
              <a:rPr lang="de-DE" dirty="0"/>
              <a:t>Es gibt drei mögliche Ergebnisse eines Testdurchlaufs:</a:t>
            </a:r>
          </a:p>
          <a:p>
            <a:pPr marL="989013" lvl="1" indent="-665163">
              <a:buFont typeface="+mj-lt"/>
              <a:buAutoNum type="arabicPeriod"/>
            </a:pPr>
            <a:r>
              <a:rPr lang="de-DE" dirty="0"/>
              <a:t>der Test war erfolgreich</a:t>
            </a:r>
          </a:p>
          <a:p>
            <a:pPr marL="989013" lvl="1" indent="-665163">
              <a:buFont typeface="+mj-lt"/>
              <a:buAutoNum type="arabicPeriod"/>
            </a:pPr>
            <a:r>
              <a:rPr lang="de-DE" dirty="0" err="1"/>
              <a:t>Failure</a:t>
            </a:r>
            <a:r>
              <a:rPr lang="de-DE" dirty="0"/>
              <a:t> - ein zu testender Wert war abweichend</a:t>
            </a:r>
          </a:p>
          <a:p>
            <a:pPr marL="989013" lvl="1" indent="-665163">
              <a:buNone/>
            </a:pPr>
            <a:r>
              <a:rPr lang="de-DE" dirty="0"/>
              <a:t>	Im </a:t>
            </a:r>
            <a:r>
              <a:rPr lang="de-DE" dirty="0" err="1"/>
              <a:t>Failure</a:t>
            </a:r>
            <a:r>
              <a:rPr lang="de-DE" dirty="0"/>
              <a:t> Trace wird die Abweichung beschrieben:</a:t>
            </a:r>
          </a:p>
          <a:p>
            <a:pPr marL="989013" lvl="1" indent="-665163">
              <a:buFont typeface="+mj-lt"/>
              <a:buAutoNum type="arabicPeriod" startAt="3"/>
            </a:pPr>
            <a:r>
              <a:rPr lang="de-DE" dirty="0"/>
              <a:t>Error - ein Fehler (technischer/</a:t>
            </a:r>
            <a:r>
              <a:rPr lang="de-DE" dirty="0" err="1"/>
              <a:t>error</a:t>
            </a:r>
            <a:r>
              <a:rPr lang="de-DE" dirty="0"/>
              <a:t>) ist aufgetreten</a:t>
            </a:r>
          </a:p>
          <a:p>
            <a:pPr marL="989013" lvl="1" indent="-665163">
              <a:buNone/>
            </a:pPr>
            <a:r>
              <a:rPr lang="de-DE" dirty="0"/>
              <a:t>	Auch in diesem kann der </a:t>
            </a:r>
            <a:r>
              <a:rPr lang="de-DE" dirty="0" err="1"/>
              <a:t>Failure</a:t>
            </a:r>
            <a:r>
              <a:rPr lang="de-DE" dirty="0"/>
              <a:t> Trace hilfreich sein und die Frage klären, wieso der Test mit einem Error angebrochen ist.</a:t>
            </a:r>
          </a:p>
        </p:txBody>
      </p:sp>
      <p:pic>
        <p:nvPicPr>
          <p:cNvPr id="13" name="Bild 3" descr="C:\f0c37cc8bc90d11c3d936d589c85a326"/>
          <p:cNvPicPr/>
          <p:nvPr/>
        </p:nvPicPr>
        <p:blipFill>
          <a:blip r:embed="rId2">
            <a:extLst>
              <a:ext uri="{28A0092B-C50C-407E-A947-70E740481C1C}">
                <a14:useLocalDpi xmlns:a14="http://schemas.microsoft.com/office/drawing/2010/main" val="0"/>
              </a:ext>
            </a:extLst>
          </a:blip>
          <a:srcRect/>
          <a:stretch>
            <a:fillRect/>
          </a:stretch>
        </p:blipFill>
        <p:spPr bwMode="auto">
          <a:xfrm>
            <a:off x="3808679" y="2247587"/>
            <a:ext cx="361950" cy="257175"/>
          </a:xfrm>
          <a:prstGeom prst="rect">
            <a:avLst/>
          </a:prstGeom>
          <a:noFill/>
          <a:ln>
            <a:noFill/>
          </a:ln>
        </p:spPr>
      </p:pic>
      <p:pic>
        <p:nvPicPr>
          <p:cNvPr id="14" name="Bild 4" descr="C:\6ab3f7462b3ae6abe1cd96960042b66a"/>
          <p:cNvPicPr/>
          <p:nvPr/>
        </p:nvPicPr>
        <p:blipFill>
          <a:blip r:embed="rId3">
            <a:extLst>
              <a:ext uri="{28A0092B-C50C-407E-A947-70E740481C1C}">
                <a14:useLocalDpi xmlns:a14="http://schemas.microsoft.com/office/drawing/2010/main" val="0"/>
              </a:ext>
            </a:extLst>
          </a:blip>
          <a:srcRect/>
          <a:stretch>
            <a:fillRect/>
          </a:stretch>
        </p:blipFill>
        <p:spPr bwMode="auto">
          <a:xfrm>
            <a:off x="1308657" y="3981314"/>
            <a:ext cx="200025" cy="209550"/>
          </a:xfrm>
          <a:prstGeom prst="rect">
            <a:avLst/>
          </a:prstGeom>
          <a:noFill/>
          <a:ln>
            <a:noFill/>
          </a:ln>
        </p:spPr>
      </p:pic>
      <p:pic>
        <p:nvPicPr>
          <p:cNvPr id="15" name="Bild 6" descr="C:\1f6673a91c3f6741afc912511775114c"/>
          <p:cNvPicPr/>
          <p:nvPr/>
        </p:nvPicPr>
        <p:blipFill>
          <a:blip r:embed="rId4">
            <a:extLst>
              <a:ext uri="{28A0092B-C50C-407E-A947-70E740481C1C}">
                <a14:useLocalDpi xmlns:a14="http://schemas.microsoft.com/office/drawing/2010/main" val="0"/>
              </a:ext>
            </a:extLst>
          </a:blip>
          <a:srcRect/>
          <a:stretch>
            <a:fillRect/>
          </a:stretch>
        </p:blipFill>
        <p:spPr bwMode="auto">
          <a:xfrm>
            <a:off x="1313419" y="4378560"/>
            <a:ext cx="190500" cy="180975"/>
          </a:xfrm>
          <a:prstGeom prst="rect">
            <a:avLst/>
          </a:prstGeom>
          <a:noFill/>
          <a:ln>
            <a:noFill/>
          </a:ln>
        </p:spPr>
      </p:pic>
      <p:pic>
        <p:nvPicPr>
          <p:cNvPr id="16" name="Bild 9" descr="C:\0fd3ff80b967a32e282a0446b5c3c174"/>
          <p:cNvPicPr/>
          <p:nvPr/>
        </p:nvPicPr>
        <p:blipFill>
          <a:blip r:embed="rId5">
            <a:extLst>
              <a:ext uri="{28A0092B-C50C-407E-A947-70E740481C1C}">
                <a14:useLocalDpi xmlns:a14="http://schemas.microsoft.com/office/drawing/2010/main" val="0"/>
              </a:ext>
            </a:extLst>
          </a:blip>
          <a:srcRect/>
          <a:stretch>
            <a:fillRect/>
          </a:stretch>
        </p:blipFill>
        <p:spPr bwMode="auto">
          <a:xfrm>
            <a:off x="1313419" y="5015074"/>
            <a:ext cx="190500" cy="190500"/>
          </a:xfrm>
          <a:prstGeom prst="rect">
            <a:avLst/>
          </a:prstGeom>
          <a:noFill/>
          <a:ln>
            <a:noFill/>
          </a:ln>
        </p:spPr>
      </p:pic>
      <p:sp>
        <p:nvSpPr>
          <p:cNvPr id="4" name="Datumsplatzhalter 3"/>
          <p:cNvSpPr>
            <a:spLocks noGrp="1"/>
          </p:cNvSpPr>
          <p:nvPr>
            <p:ph type="dt" sz="half" idx="10"/>
          </p:nvPr>
        </p:nvSpPr>
        <p:spPr/>
        <p:txBody>
          <a:bodyPr/>
          <a:lstStyle/>
          <a:p>
            <a:fld id="{F3DF4C9D-6555-43EB-A025-BAB139A685C4}"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12</a:t>
            </a:fld>
            <a:endParaRPr lang="de-DE"/>
          </a:p>
        </p:txBody>
      </p:sp>
    </p:spTree>
    <p:extLst>
      <p:ext uri="{BB962C8B-B14F-4D97-AF65-F5344CB8AC3E}">
        <p14:creationId xmlns:p14="http://schemas.microsoft.com/office/powerpoint/2010/main" val="656037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Aufgabe 1</a:t>
            </a:r>
          </a:p>
        </p:txBody>
      </p:sp>
      <p:sp>
        <p:nvSpPr>
          <p:cNvPr id="3" name="Inhaltsplatzhalter 2"/>
          <p:cNvSpPr>
            <a:spLocks noGrp="1"/>
          </p:cNvSpPr>
          <p:nvPr>
            <p:ph idx="1"/>
          </p:nvPr>
        </p:nvSpPr>
        <p:spPr/>
        <p:txBody>
          <a:bodyPr/>
          <a:lstStyle/>
          <a:p>
            <a:r>
              <a:rPr lang="de-DE" dirty="0"/>
              <a:t>Lege einen bedarfsbezogenen Einkaufsartikel und eine auftragsbezogene Baugruppe an. In der Fertigungsliste der Baugruppe soll der Einkaufsartikel und ein Arbeitsgang stehen.</a:t>
            </a:r>
          </a:p>
          <a:p>
            <a:pPr marL="0" indent="0">
              <a:buNone/>
            </a:pPr>
            <a:endParaRPr lang="de-DE" dirty="0"/>
          </a:p>
          <a:p>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a:t>
            </a:r>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create</a:t>
            </a:r>
            <a:r>
              <a:rPr lang="de-DE" dirty="0">
                <a:latin typeface="Courier New" panose="02070309020205020404" pitchFamily="49" charset="0"/>
                <a:cs typeface="Courier New" panose="02070309020205020404" pitchFamily="49" charset="0"/>
              </a:rPr>
              <a:t> a </a:t>
            </a:r>
            <a:r>
              <a:rPr lang="de-DE" dirty="0" err="1">
                <a:latin typeface="Courier New" panose="02070309020205020404" pitchFamily="49" charset="0"/>
                <a:cs typeface="Courier New" panose="02070309020205020404" pitchFamily="49" charset="0"/>
              </a:rPr>
              <a:t>new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end </a:t>
            </a:r>
            <a:r>
              <a:rPr lang="de-DE" dirty="0" err="1">
                <a:latin typeface="Courier New" panose="02070309020205020404" pitchFamily="49" charset="0"/>
                <a:cs typeface="Courier New" panose="02070309020205020404" pitchFamily="49" charset="0"/>
              </a:rPr>
              <a:t>of</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save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endParaRPr lang="de-DE" dirty="0"/>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13</a:t>
            </a:fld>
            <a:endParaRPr lang="de-DE"/>
          </a:p>
        </p:txBody>
      </p:sp>
    </p:spTree>
    <p:extLst>
      <p:ext uri="{BB962C8B-B14F-4D97-AF65-F5344CB8AC3E}">
        <p14:creationId xmlns:p14="http://schemas.microsoft.com/office/powerpoint/2010/main" val="1146822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b="1" dirty="0"/>
              <a:t>Tabellenschreibweise</a:t>
            </a:r>
            <a:br>
              <a:rPr lang="de-DE" dirty="0"/>
            </a:br>
            <a:r>
              <a:rPr lang="de-DE" dirty="0"/>
              <a:t>Feldwerte setzen und prüfen</a:t>
            </a:r>
          </a:p>
        </p:txBody>
      </p:sp>
      <p:sp>
        <p:nvSpPr>
          <p:cNvPr id="3" name="Inhaltsplatzhalter 2"/>
          <p:cNvSpPr>
            <a:spLocks noGrp="1"/>
          </p:cNvSpPr>
          <p:nvPr>
            <p:ph idx="1"/>
          </p:nvPr>
        </p:nvSpPr>
        <p:spPr/>
        <p:txBody>
          <a:bodyPr>
            <a:normAutofit/>
          </a:bodyPr>
          <a:lstStyle/>
          <a:p>
            <a:r>
              <a:rPr lang="de-DE" dirty="0"/>
              <a:t>Feldwerte setzen:</a:t>
            </a:r>
          </a:p>
          <a:p>
            <a:pPr marL="324000" lvl="1"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fields</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 Feld1	| Feldwert1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 Feld2	| Feldwert2	|</a:t>
            </a:r>
          </a:p>
          <a:p>
            <a:pPr marL="0" indent="0">
              <a:buNone/>
            </a:pPr>
            <a:endParaRPr lang="de-DE" dirty="0"/>
          </a:p>
          <a:p>
            <a:r>
              <a:rPr lang="de-DE" dirty="0"/>
              <a:t>Feldwerte prüfen:</a:t>
            </a:r>
          </a:p>
          <a:p>
            <a:pPr marL="324000" lvl="1" indent="0">
              <a:buNone/>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have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values</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 Feld1	| Feldwert1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 Feld2	| Feldwert2	|</a:t>
            </a:r>
          </a:p>
        </p:txBody>
      </p:sp>
      <p:sp>
        <p:nvSpPr>
          <p:cNvPr id="4" name="Datumsplatzhalter 3"/>
          <p:cNvSpPr>
            <a:spLocks noGrp="1"/>
          </p:cNvSpPr>
          <p:nvPr>
            <p:ph type="dt" sz="half" idx="10"/>
          </p:nvPr>
        </p:nvSpPr>
        <p:spPr/>
        <p:txBody>
          <a:bodyPr/>
          <a:lstStyle/>
          <a:p>
            <a:fld id="{939E8A1C-7B68-4770-9C24-C68449402ABE}"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14</a:t>
            </a:fld>
            <a:endParaRPr lang="de-DE"/>
          </a:p>
        </p:txBody>
      </p:sp>
    </p:spTree>
    <p:extLst>
      <p:ext uri="{BB962C8B-B14F-4D97-AF65-F5344CB8AC3E}">
        <p14:creationId xmlns:p14="http://schemas.microsoft.com/office/powerpoint/2010/main" val="282242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b="1" dirty="0"/>
              <a:t>Tabellenschreibweise</a:t>
            </a:r>
            <a:br>
              <a:rPr lang="de-DE" dirty="0"/>
            </a:br>
            <a:r>
              <a:rPr lang="de-DE" dirty="0"/>
              <a:t>Feldwerte in Zeilen setzen und prüfen</a:t>
            </a:r>
          </a:p>
        </p:txBody>
      </p:sp>
      <p:sp>
        <p:nvSpPr>
          <p:cNvPr id="3" name="Inhaltsplatzhalter 2"/>
          <p:cNvSpPr>
            <a:spLocks noGrp="1"/>
          </p:cNvSpPr>
          <p:nvPr>
            <p:ph idx="1"/>
          </p:nvPr>
        </p:nvSpPr>
        <p:spPr/>
        <p:txBody>
          <a:bodyPr>
            <a:noAutofit/>
          </a:bodyPr>
          <a:lstStyle/>
          <a:p>
            <a:pPr marL="0" indent="0">
              <a:buNone/>
            </a:pPr>
            <a:r>
              <a:rPr lang="de-DE" sz="1200" b="1" dirty="0"/>
              <a:t>Zeilen in einem Editor anfügen und füllen</a:t>
            </a:r>
          </a:p>
          <a:p>
            <a:r>
              <a:rPr lang="de-DE" sz="1200" dirty="0"/>
              <a:t>In die erste Zeile der Tabelle werden die Feldnamen der im Editor zu füllenden Eingabefelder geschrieben. </a:t>
            </a:r>
          </a:p>
          <a:p>
            <a:r>
              <a:rPr lang="de-DE" sz="1200" dirty="0"/>
              <a:t>Jede Zeile in der Tabelle stellt die Zeilen 1, 2, 3 usw. im Editor dar. Die Werte werden in der Tabelle angegeben und in die jeweilige Zelle des Editors übernommen. </a:t>
            </a:r>
          </a:p>
          <a:p>
            <a:r>
              <a:rPr lang="de-DE" sz="1200" dirty="0"/>
              <a:t>Die Zeilen werden automatisch angefügt. </a:t>
            </a:r>
          </a:p>
          <a:p>
            <a:pPr marL="0" indent="0">
              <a:buNone/>
            </a:pPr>
            <a:r>
              <a:rPr lang="de-DE" sz="1200" dirty="0">
                <a:latin typeface="Courier New" panose="02070309020205020404" pitchFamily="49" charset="0"/>
                <a:cs typeface="Courier New" panose="02070309020205020404" pitchFamily="49" charset="0"/>
              </a:rPr>
              <a:t>	</a:t>
            </a:r>
            <a:r>
              <a:rPr lang="de-DE" sz="1100" dirty="0" err="1">
                <a:latin typeface="Courier New" panose="02070309020205020404" pitchFamily="49" charset="0"/>
                <a:cs typeface="Courier New" panose="02070309020205020404" pitchFamily="49" charset="0"/>
              </a:rPr>
              <a:t>And</a:t>
            </a:r>
            <a:r>
              <a:rPr lang="de-DE" sz="1100" dirty="0">
                <a:latin typeface="Courier New" panose="02070309020205020404" pitchFamily="49" charset="0"/>
                <a:cs typeface="Courier New" panose="02070309020205020404" pitchFamily="49" charset="0"/>
              </a:rPr>
              <a:t> I </a:t>
            </a:r>
            <a:r>
              <a:rPr lang="de-DE" sz="1100" dirty="0" err="1">
                <a:latin typeface="Courier New" panose="02070309020205020404" pitchFamily="49" charset="0"/>
                <a:cs typeface="Courier New" panose="02070309020205020404" pitchFamily="49" charset="0"/>
              </a:rPr>
              <a:t>append</a:t>
            </a:r>
            <a:r>
              <a:rPr lang="de-DE" sz="1100" dirty="0">
                <a:latin typeface="Courier New" panose="02070309020205020404" pitchFamily="49" charset="0"/>
                <a:cs typeface="Courier New" panose="02070309020205020404" pitchFamily="49" charset="0"/>
              </a:rPr>
              <a:t> </a:t>
            </a:r>
            <a:r>
              <a:rPr lang="de-DE" sz="1100" dirty="0" err="1">
                <a:latin typeface="Courier New" panose="02070309020205020404" pitchFamily="49" charset="0"/>
                <a:cs typeface="Courier New" panose="02070309020205020404" pitchFamily="49" charset="0"/>
              </a:rPr>
              <a:t>rows</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 Feld1		| Feld2		| Feld3		|</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 Feldwert1	| Feldwert2	| Feldwert3	|</a:t>
            </a:r>
          </a:p>
          <a:p>
            <a:endParaRPr lang="de-DE" sz="1200" dirty="0"/>
          </a:p>
          <a:p>
            <a:pPr marL="0" indent="0">
              <a:buNone/>
            </a:pPr>
            <a:r>
              <a:rPr lang="de-DE" sz="1200" b="1" dirty="0"/>
              <a:t>Werte in einer Tabelle prüfen</a:t>
            </a:r>
          </a:p>
          <a:p>
            <a:r>
              <a:rPr lang="de-DE" sz="1200" dirty="0"/>
              <a:t>Hier bedarf es zusätzlich noch einer Spalte !</a:t>
            </a:r>
            <a:r>
              <a:rPr lang="de-DE" sz="1200" dirty="0" err="1"/>
              <a:t>row</a:t>
            </a:r>
            <a:r>
              <a:rPr lang="de-DE" sz="1200" dirty="0"/>
              <a:t>. In dieser Spalte kann die Zeile entweder als Nummer oder über Suchkriterien selektiert werden. </a:t>
            </a:r>
          </a:p>
          <a:p>
            <a:r>
              <a:rPr lang="de-DE" sz="1200" dirty="0"/>
              <a:t>Der Rest folgt der selben Logik, wie das Füllen der Zeilen.</a:t>
            </a:r>
          </a:p>
          <a:p>
            <a:pPr marL="324000" lvl="1" indent="0">
              <a:buNone/>
            </a:pPr>
            <a:r>
              <a:rPr lang="de-DE" sz="1100" dirty="0">
                <a:latin typeface="Courier New" panose="02070309020205020404" pitchFamily="49" charset="0"/>
                <a:cs typeface="Courier New" panose="02070309020205020404" pitchFamily="49" charset="0"/>
              </a:rPr>
              <a:t>Then </a:t>
            </a:r>
            <a:r>
              <a:rPr lang="de-DE" sz="1100" dirty="0" err="1">
                <a:latin typeface="Courier New" panose="02070309020205020404" pitchFamily="49" charset="0"/>
                <a:cs typeface="Courier New" panose="02070309020205020404" pitchFamily="49" charset="0"/>
              </a:rPr>
              <a:t>table</a:t>
            </a:r>
            <a:r>
              <a:rPr lang="de-DE" sz="1100" dirty="0">
                <a:latin typeface="Courier New" panose="02070309020205020404" pitchFamily="49" charset="0"/>
                <a:cs typeface="Courier New" panose="02070309020205020404" pitchFamily="49" charset="0"/>
              </a:rPr>
              <a:t> </a:t>
            </a:r>
            <a:r>
              <a:rPr lang="de-DE" sz="1100" dirty="0" err="1">
                <a:latin typeface="Courier New" panose="02070309020205020404" pitchFamily="49" charset="0"/>
                <a:cs typeface="Courier New" panose="02070309020205020404" pitchFamily="49" charset="0"/>
              </a:rPr>
              <a:t>has</a:t>
            </a:r>
            <a:r>
              <a:rPr lang="de-DE" sz="1100" dirty="0">
                <a:latin typeface="Courier New" panose="02070309020205020404" pitchFamily="49" charset="0"/>
                <a:cs typeface="Courier New" panose="02070309020205020404" pitchFamily="49" charset="0"/>
              </a:rPr>
              <a:t> </a:t>
            </a:r>
            <a:r>
              <a:rPr lang="de-DE" sz="1100" dirty="0" err="1">
                <a:latin typeface="Courier New" panose="02070309020205020404" pitchFamily="49" charset="0"/>
                <a:cs typeface="Courier New" panose="02070309020205020404" pitchFamily="49" charset="0"/>
              </a:rPr>
              <a:t>values</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Feld1			| Feld2		| Feld3		| !</a:t>
            </a:r>
            <a:r>
              <a:rPr lang="de-DE" sz="1100" dirty="0" err="1">
                <a:latin typeface="Courier New" panose="02070309020205020404" pitchFamily="49" charset="0"/>
                <a:cs typeface="Courier New" panose="02070309020205020404" pitchFamily="49" charset="0"/>
              </a:rPr>
              <a:t>row</a:t>
            </a:r>
            <a:r>
              <a:rPr lang="de-DE" sz="1100" dirty="0">
                <a:latin typeface="Courier New" panose="02070309020205020404" pitchFamily="49" charset="0"/>
                <a:cs typeface="Courier New" panose="02070309020205020404" pitchFamily="49" charset="0"/>
              </a:rPr>
              <a:t>			|</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Feldwert1		| Feldwert2	| Feldwert3	| 1				|</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Feldwert1		| Feldwert2	| Feldwert3	| </a:t>
            </a:r>
            <a:r>
              <a:rPr lang="de-DE" sz="1100" dirty="0" err="1">
                <a:latin typeface="Courier New" panose="02070309020205020404" pitchFamily="49" charset="0"/>
                <a:cs typeface="Courier New" panose="02070309020205020404" pitchFamily="49" charset="0"/>
              </a:rPr>
              <a:t>artikel</a:t>
            </a:r>
            <a:r>
              <a:rPr lang="de-DE" sz="1100" dirty="0">
                <a:latin typeface="Courier New" panose="02070309020205020404" pitchFamily="49" charset="0"/>
                <a:cs typeface="Courier New" panose="02070309020205020404" pitchFamily="49" charset="0"/>
              </a:rPr>
              <a:t>==‚E1‘		|</a:t>
            </a:r>
          </a:p>
        </p:txBody>
      </p:sp>
      <p:sp>
        <p:nvSpPr>
          <p:cNvPr id="4" name="Datumsplatzhalter 3"/>
          <p:cNvSpPr>
            <a:spLocks noGrp="1"/>
          </p:cNvSpPr>
          <p:nvPr>
            <p:ph type="dt" sz="half" idx="10"/>
          </p:nvPr>
        </p:nvSpPr>
        <p:spPr/>
        <p:txBody>
          <a:bodyPr/>
          <a:lstStyle/>
          <a:p>
            <a:fld id="{10A7E890-E23C-4D73-BADB-06D969ED0E80}"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15</a:t>
            </a:fld>
            <a:endParaRPr lang="de-DE"/>
          </a:p>
        </p:txBody>
      </p:sp>
    </p:spTree>
    <p:extLst>
      <p:ext uri="{BB962C8B-B14F-4D97-AF65-F5344CB8AC3E}">
        <p14:creationId xmlns:p14="http://schemas.microsoft.com/office/powerpoint/2010/main" val="87065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b="1" dirty="0"/>
              <a:t>Tabellenschreibweise</a:t>
            </a:r>
            <a:br>
              <a:rPr lang="de-DE" dirty="0"/>
            </a:br>
            <a:r>
              <a:rPr lang="de-DE" dirty="0"/>
              <a:t>Tabelle bearbeiten</a:t>
            </a:r>
          </a:p>
        </p:txBody>
      </p:sp>
      <p:sp>
        <p:nvSpPr>
          <p:cNvPr id="3" name="Inhaltsplatzhalter 2"/>
          <p:cNvSpPr>
            <a:spLocks noGrp="1"/>
          </p:cNvSpPr>
          <p:nvPr>
            <p:ph idx="1"/>
          </p:nvPr>
        </p:nvSpPr>
        <p:spPr/>
        <p:txBody>
          <a:bodyPr>
            <a:noAutofit/>
          </a:bodyPr>
          <a:lstStyle/>
          <a:p>
            <a:r>
              <a:rPr lang="de-DE" sz="1200" dirty="0"/>
              <a:t>Bestehende Tabellen können mit folgendem </a:t>
            </a:r>
            <a:r>
              <a:rPr lang="de-DE" sz="1200" dirty="0" err="1"/>
              <a:t>Step</a:t>
            </a:r>
            <a:r>
              <a:rPr lang="de-DE" sz="1200" dirty="0"/>
              <a:t> bearbeitet werden oder über + und - können Tabellenzeilen eingefügt oder gelöscht werden.</a:t>
            </a:r>
          </a:p>
          <a:p>
            <a:r>
              <a:rPr lang="de-DE" sz="1200" dirty="0"/>
              <a:t>Wichtig dabei ist, dass in der nachfolgenden Tabelle entweder die Tabellenzeile mitgegeben wird (!</a:t>
            </a:r>
            <a:r>
              <a:rPr lang="de-DE" sz="1200" dirty="0" err="1"/>
              <a:t>row</a:t>
            </a:r>
            <a:r>
              <a:rPr lang="de-DE" sz="1200" dirty="0"/>
              <a:t> als Spalte), entweder als Nummer oder über Suchkriterien.</a:t>
            </a:r>
          </a:p>
          <a:p>
            <a:pPr lvl="1"/>
            <a:r>
              <a:rPr lang="de-DE" sz="1100" dirty="0"/>
              <a:t>Einfache Nummer (1, 2, 3) bezeichnen eine bestehende Tabellenzeile. Es kann auch nur eine bestimmte Zeile angesprochen werden, z.B. 3 oder mehrere fortlaufende oder nicht direkt aufeinanderfolgende</a:t>
            </a:r>
          </a:p>
          <a:p>
            <a:pPr lvl="1"/>
            <a:r>
              <a:rPr lang="de-DE" sz="1100" dirty="0"/>
              <a:t>Um eine Zeile hinzuzufügen, wird ein Plus (+) vor die entsprechende Zeilennummer gesetzt. +1 fügt eine Zeile an erster Stelle ein, +3 eine Zeile an Stelle 3</a:t>
            </a:r>
          </a:p>
          <a:p>
            <a:pPr lvl="1"/>
            <a:r>
              <a:rPr lang="de-DE" sz="1100" dirty="0"/>
              <a:t>Mit einem Minus (-) wird eine Zeile entfernt. -1 löscht die Zeile an Position 1, -4 löscht die Zeile an Position 4.</a:t>
            </a:r>
          </a:p>
          <a:p>
            <a:r>
              <a:rPr lang="de-DE" sz="1200" dirty="0"/>
              <a:t>Werden Zeilen hinzugefügt oder gelöscht, passt sich die Nummerierung der anderen Zeilen entsprechend an. Wird in einer Tabelle mit 4 Zeilen an Position 1 eine neue Zeile eingefügt, wird die ursprüngliche Zeile1 zu Zeile 2. Oder wird in einer Tabelle mit 4 Zeilen die Zeile an Position 2 gelöscht, ist die ursprüngliche Zeile 3 nun die Zeile 2. </a:t>
            </a:r>
          </a:p>
          <a:p>
            <a:pPr marL="0" indent="0">
              <a:buNone/>
            </a:pPr>
            <a:endParaRPr lang="de-DE" sz="1200" dirty="0"/>
          </a:p>
          <a:p>
            <a:pPr marL="324000" lvl="1" indent="0">
              <a:buNone/>
            </a:pPr>
            <a:r>
              <a:rPr lang="de-DE" sz="1100" dirty="0" err="1">
                <a:latin typeface="Courier New" panose="02070309020205020404" pitchFamily="49" charset="0"/>
                <a:cs typeface="Courier New" panose="02070309020205020404" pitchFamily="49" charset="0"/>
              </a:rPr>
              <a:t>And</a:t>
            </a:r>
            <a:r>
              <a:rPr lang="de-DE" sz="1100" dirty="0">
                <a:latin typeface="Courier New" panose="02070309020205020404" pitchFamily="49" charset="0"/>
                <a:cs typeface="Courier New" panose="02070309020205020404" pitchFamily="49" charset="0"/>
              </a:rPr>
              <a:t> I </a:t>
            </a:r>
            <a:r>
              <a:rPr lang="de-DE" sz="1100" dirty="0" err="1">
                <a:latin typeface="Courier New" panose="02070309020205020404" pitchFamily="49" charset="0"/>
                <a:cs typeface="Courier New" panose="02070309020205020404" pitchFamily="49" charset="0"/>
              </a:rPr>
              <a:t>modify</a:t>
            </a:r>
            <a:r>
              <a:rPr lang="de-DE" sz="1100" dirty="0">
                <a:latin typeface="Courier New" panose="02070309020205020404" pitchFamily="49" charset="0"/>
                <a:cs typeface="Courier New" panose="02070309020205020404" pitchFamily="49" charset="0"/>
              </a:rPr>
              <a:t> </a:t>
            </a:r>
            <a:r>
              <a:rPr lang="de-DE" sz="1100" dirty="0" err="1">
                <a:latin typeface="Courier New" panose="02070309020205020404" pitchFamily="49" charset="0"/>
                <a:cs typeface="Courier New" panose="02070309020205020404" pitchFamily="49" charset="0"/>
              </a:rPr>
              <a:t>table</a:t>
            </a:r>
            <a:endParaRPr lang="de-DE" sz="1100" dirty="0">
              <a:latin typeface="Courier New" panose="02070309020205020404" pitchFamily="49" charset="0"/>
              <a:cs typeface="Courier New" panose="02070309020205020404" pitchFamily="49" charset="0"/>
            </a:endParaRPr>
          </a:p>
          <a:p>
            <a:pPr marL="324000" lvl="1" indent="0">
              <a:buNone/>
            </a:pPr>
            <a:r>
              <a:rPr lang="de-DE" sz="1100" dirty="0">
                <a:latin typeface="Courier New" panose="02070309020205020404" pitchFamily="49" charset="0"/>
                <a:cs typeface="Courier New" panose="02070309020205020404" pitchFamily="49" charset="0"/>
              </a:rPr>
              <a:t>| !</a:t>
            </a:r>
            <a:r>
              <a:rPr lang="de-DE" sz="1100" dirty="0" err="1">
                <a:latin typeface="Courier New" panose="02070309020205020404" pitchFamily="49" charset="0"/>
                <a:cs typeface="Courier New" panose="02070309020205020404" pitchFamily="49" charset="0"/>
              </a:rPr>
              <a:t>row</a:t>
            </a:r>
            <a:r>
              <a:rPr lang="de-DE" sz="1100" dirty="0">
                <a:latin typeface="Courier New" panose="02070309020205020404" pitchFamily="49" charset="0"/>
                <a:cs typeface="Courier New" panose="02070309020205020404" pitchFamily="49" charset="0"/>
              </a:rPr>
              <a:t>		| Feld1		| Feld2			| Feld3			|</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1		|  Feldwert1	| Feldwert2		| Feldwert3		|</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+1		|  Feldwert1	| Feldwert2		| Feldwert3		|</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-1		|  Feldwert1	| Feldwert2		| Feldwert3		|</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2		|  Feldwert1	| Feldwert2		| Feldwert3		|</a:t>
            </a:r>
          </a:p>
        </p:txBody>
      </p:sp>
      <p:sp>
        <p:nvSpPr>
          <p:cNvPr id="4" name="Datumsplatzhalter 3"/>
          <p:cNvSpPr>
            <a:spLocks noGrp="1"/>
          </p:cNvSpPr>
          <p:nvPr>
            <p:ph type="dt" sz="half" idx="10"/>
          </p:nvPr>
        </p:nvSpPr>
        <p:spPr/>
        <p:txBody>
          <a:bodyPr/>
          <a:lstStyle/>
          <a:p>
            <a:fld id="{BEA5A0EE-581B-4C30-A78B-6CF4D8DEC667}"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16</a:t>
            </a:fld>
            <a:endParaRPr lang="de-DE"/>
          </a:p>
        </p:txBody>
      </p:sp>
    </p:spTree>
    <p:extLst>
      <p:ext uri="{BB962C8B-B14F-4D97-AF65-F5344CB8AC3E}">
        <p14:creationId xmlns:p14="http://schemas.microsoft.com/office/powerpoint/2010/main" val="496060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Aufgabe 2</a:t>
            </a:r>
          </a:p>
        </p:txBody>
      </p:sp>
      <p:sp>
        <p:nvSpPr>
          <p:cNvPr id="3" name="Inhaltsplatzhalter 2"/>
          <p:cNvSpPr>
            <a:spLocks noGrp="1"/>
          </p:cNvSpPr>
          <p:nvPr>
            <p:ph idx="1"/>
          </p:nvPr>
        </p:nvSpPr>
        <p:spPr/>
        <p:txBody>
          <a:bodyPr/>
          <a:lstStyle/>
          <a:p>
            <a:r>
              <a:rPr lang="de-DE" dirty="0"/>
              <a:t>Schreibe Aufgabe 1 in die Tabellenschreibweise um.</a:t>
            </a:r>
          </a:p>
          <a:p>
            <a:endParaRPr lang="de-DE" dirty="0"/>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fields</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modify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endParaRPr lang="de-DE" dirty="0"/>
          </a:p>
          <a:p>
            <a:endParaRPr lang="de-DE" dirty="0"/>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17</a:t>
            </a:fld>
            <a:endParaRPr lang="de-DE"/>
          </a:p>
        </p:txBody>
      </p:sp>
    </p:spTree>
    <p:extLst>
      <p:ext uri="{BB962C8B-B14F-4D97-AF65-F5344CB8AC3E}">
        <p14:creationId xmlns:p14="http://schemas.microsoft.com/office/powerpoint/2010/main" val="2983237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Zwischen Editoren wechseln</a:t>
            </a:r>
          </a:p>
        </p:txBody>
      </p:sp>
      <p:sp>
        <p:nvSpPr>
          <p:cNvPr id="3" name="Inhaltsplatzhalter 2"/>
          <p:cNvSpPr>
            <a:spLocks noGrp="1"/>
          </p:cNvSpPr>
          <p:nvPr>
            <p:ph idx="1"/>
          </p:nvPr>
        </p:nvSpPr>
        <p:spPr/>
        <p:txBody>
          <a:bodyPr/>
          <a:lstStyle/>
          <a:p>
            <a:r>
              <a:rPr lang="de-DE" dirty="0"/>
              <a:t>In der Regel werden innerhalb eines Testfalls mehrere Editoren geöffnet und bearbeitet/ geprüft.</a:t>
            </a:r>
          </a:p>
          <a:p>
            <a:r>
              <a:rPr lang="de-DE" dirty="0"/>
              <a:t>Auf diese Editoren kann mit einem </a:t>
            </a:r>
            <a:r>
              <a:rPr lang="de-DE" dirty="0" err="1"/>
              <a:t>And-Step</a:t>
            </a:r>
            <a:r>
              <a:rPr lang="de-DE" dirty="0"/>
              <a:t> zugegriffen werden. Dabei müssen keine näheren Angaben zum Objekt angegeben werden. Es ist auch möglich, diesen anderen Editor mit einem anderen Kommando zu öffnen (VIEW, UPDATE, etc.).</a:t>
            </a:r>
          </a:p>
          <a:p>
            <a:pPr marL="0" indent="0">
              <a:buNone/>
            </a:pPr>
            <a:endParaRPr lang="de-DE" dirty="0"/>
          </a:p>
          <a:p>
            <a:pPr marL="342900" indent="-342900">
              <a:buFont typeface="+mj-lt"/>
              <a:buAutoNum type="arabicPeriod"/>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switch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p>
          <a:p>
            <a:pPr marL="342900" indent="-342900">
              <a:buFont typeface="+mj-lt"/>
              <a:buAutoNum type="arabicPeriod"/>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switch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a:t>
            </a:r>
          </a:p>
        </p:txBody>
      </p:sp>
      <p:sp>
        <p:nvSpPr>
          <p:cNvPr id="4" name="Datumsplatzhalter 3"/>
          <p:cNvSpPr>
            <a:spLocks noGrp="1"/>
          </p:cNvSpPr>
          <p:nvPr>
            <p:ph type="dt" sz="half" idx="10"/>
          </p:nvPr>
        </p:nvSpPr>
        <p:spPr/>
        <p:txBody>
          <a:bodyPr/>
          <a:lstStyle/>
          <a:p>
            <a:fld id="{4696491D-2982-45DE-9875-1F13AB3E2968}"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18</a:t>
            </a:fld>
            <a:endParaRPr lang="de-DE"/>
          </a:p>
        </p:txBody>
      </p:sp>
    </p:spTree>
    <p:extLst>
      <p:ext uri="{BB962C8B-B14F-4D97-AF65-F5344CB8AC3E}">
        <p14:creationId xmlns:p14="http://schemas.microsoft.com/office/powerpoint/2010/main" val="1217637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Buttons Drücken und Buttons, die Subeditoren öffnen</a:t>
            </a:r>
          </a:p>
        </p:txBody>
      </p:sp>
      <p:sp>
        <p:nvSpPr>
          <p:cNvPr id="3" name="Inhaltsplatzhalter 2"/>
          <p:cNvSpPr>
            <a:spLocks noGrp="1"/>
          </p:cNvSpPr>
          <p:nvPr>
            <p:ph idx="1"/>
          </p:nvPr>
        </p:nvSpPr>
        <p:spPr/>
        <p:txBody>
          <a:bodyPr>
            <a:normAutofit/>
          </a:bodyPr>
          <a:lstStyle/>
          <a:p>
            <a:r>
              <a:rPr lang="de-DE" dirty="0"/>
              <a:t>Einen Button drücken:</a:t>
            </a:r>
          </a:p>
          <a:p>
            <a:pPr marL="324000" lvl="1"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press </a:t>
            </a:r>
            <a:r>
              <a:rPr lang="de-DE" dirty="0" err="1">
                <a:latin typeface="Courier New" panose="02070309020205020404" pitchFamily="49" charset="0"/>
                <a:cs typeface="Courier New" panose="02070309020205020404" pitchFamily="49" charset="0"/>
              </a:rPr>
              <a:t>button</a:t>
            </a:r>
            <a:r>
              <a:rPr lang="de-DE" dirty="0">
                <a:latin typeface="Courier New" panose="02070309020205020404" pitchFamily="49" charset="0"/>
                <a:cs typeface="Courier New" panose="02070309020205020404" pitchFamily="49" charset="0"/>
              </a:rPr>
              <a:t> "([^"]*)"</a:t>
            </a:r>
          </a:p>
          <a:p>
            <a:pPr marL="324000" lvl="1"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press </a:t>
            </a:r>
            <a:r>
              <a:rPr lang="de-DE" dirty="0" err="1">
                <a:latin typeface="Courier New" panose="02070309020205020404" pitchFamily="49" charset="0"/>
                <a:cs typeface="Courier New" panose="02070309020205020404" pitchFamily="49" charset="0"/>
              </a:rPr>
              <a:t>button</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a:p>
            <a:pPr marL="324000" lvl="1" indent="0">
              <a:buNone/>
            </a:pPr>
            <a:endParaRPr lang="de-DE" dirty="0">
              <a:latin typeface="Courier New" panose="02070309020205020404" pitchFamily="49" charset="0"/>
              <a:cs typeface="Courier New" panose="02070309020205020404" pitchFamily="49" charset="0"/>
            </a:endParaRPr>
          </a:p>
          <a:p>
            <a:r>
              <a:rPr lang="de-DE" dirty="0"/>
              <a:t>Einen Button drücken, der einen Subeditor öffnet:</a:t>
            </a:r>
          </a:p>
          <a:p>
            <a:pPr marL="324000" lvl="1"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press </a:t>
            </a:r>
            <a:r>
              <a:rPr lang="de-DE" dirty="0" err="1">
                <a:latin typeface="Courier New" panose="02070309020205020404" pitchFamily="49" charset="0"/>
                <a:cs typeface="Courier New" panose="02070309020205020404" pitchFamily="49" charset="0"/>
              </a:rPr>
              <a:t>button</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open a </a:t>
            </a:r>
            <a:r>
              <a:rPr lang="de-DE" dirty="0" err="1">
                <a:latin typeface="Courier New" panose="02070309020205020404" pitchFamily="49" charset="0"/>
                <a:cs typeface="Courier New" panose="02070309020205020404" pitchFamily="49" charset="0"/>
              </a:rPr>
              <a:t>subeditor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p>
          <a:p>
            <a:pPr marL="324000" lvl="1"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press </a:t>
            </a:r>
            <a:r>
              <a:rPr lang="de-DE" dirty="0" err="1">
                <a:latin typeface="Courier New" panose="02070309020205020404" pitchFamily="49" charset="0"/>
                <a:cs typeface="Courier New" panose="02070309020205020404" pitchFamily="49" charset="0"/>
              </a:rPr>
              <a:t>button</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open a </a:t>
            </a:r>
            <a:r>
              <a:rPr lang="de-DE" dirty="0" err="1">
                <a:latin typeface="Courier New" panose="02070309020205020404" pitchFamily="49" charset="0"/>
                <a:cs typeface="Courier New" panose="02070309020205020404" pitchFamily="49" charset="0"/>
              </a:rPr>
              <a:t>subeditor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p:txBody>
      </p:sp>
      <p:sp>
        <p:nvSpPr>
          <p:cNvPr id="4" name="Datumsplatzhalter 3"/>
          <p:cNvSpPr>
            <a:spLocks noGrp="1"/>
          </p:cNvSpPr>
          <p:nvPr>
            <p:ph type="dt" sz="half" idx="10"/>
          </p:nvPr>
        </p:nvSpPr>
        <p:spPr/>
        <p:txBody>
          <a:bodyPr/>
          <a:lstStyle/>
          <a:p>
            <a:fld id="{0E67AE58-4615-488D-B3FA-2DF94A5282C0}"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19</a:t>
            </a:fld>
            <a:endParaRPr lang="de-DE"/>
          </a:p>
        </p:txBody>
      </p:sp>
    </p:spTree>
    <p:extLst>
      <p:ext uri="{BB962C8B-B14F-4D97-AF65-F5344CB8AC3E}">
        <p14:creationId xmlns:p14="http://schemas.microsoft.com/office/powerpoint/2010/main" val="180484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Einen Subeditor Schließen</a:t>
            </a:r>
          </a:p>
        </p:txBody>
      </p:sp>
      <p:sp>
        <p:nvSpPr>
          <p:cNvPr id="3" name="Inhaltsplatzhalter 2"/>
          <p:cNvSpPr>
            <a:spLocks noGrp="1"/>
          </p:cNvSpPr>
          <p:nvPr>
            <p:ph idx="1"/>
          </p:nvPr>
        </p:nvSpPr>
        <p:spPr/>
        <p:txBody>
          <a:bodyPr/>
          <a:lstStyle/>
          <a:p>
            <a:r>
              <a:rPr lang="de-DE" dirty="0"/>
              <a:t>Wird ein Subeditor wieder geschlossen, muss wieder zum vorherigen Editor gewechselt werden.</a:t>
            </a:r>
          </a:p>
          <a:p>
            <a:pPr lvl="1"/>
            <a:r>
              <a:rPr lang="de-DE" dirty="0"/>
              <a:t>Bsp.: Aus einem Auftrag wird in den Subeditor Fertigungsliste abgestiegen. Nach der Bearbeitung der Fertigungsliste wird diese gespeichert. Nun muss man im Test angeben, dass man wieder in den Auftrag wechselt.</a:t>
            </a:r>
          </a:p>
          <a:p>
            <a:r>
              <a:rPr lang="de-DE" dirty="0"/>
              <a:t>Einen Subeditor schließen oder speichern:</a:t>
            </a:r>
          </a:p>
          <a:p>
            <a:pPr marL="324000" lvl="1" indent="0">
              <a:buNone/>
            </a:pPr>
            <a:r>
              <a:rPr lang="en-US" dirty="0">
                <a:latin typeface="Courier New" panose="02070309020205020404" pitchFamily="49" charset="0"/>
                <a:cs typeface="Courier New" panose="02070309020205020404" pitchFamily="49" charset="0"/>
              </a:rPr>
              <a:t>And I close the current subeditor to switch back to the parent editor</a:t>
            </a:r>
          </a:p>
          <a:p>
            <a:pPr marL="324000" lvl="1" indent="0">
              <a:buNone/>
            </a:pPr>
            <a:r>
              <a:rPr lang="en-US" dirty="0">
                <a:latin typeface="Courier New" panose="02070309020205020404" pitchFamily="49" charset="0"/>
                <a:cs typeface="Courier New" panose="02070309020205020404" pitchFamily="49" charset="0"/>
              </a:rPr>
              <a:t>And I save the current subeditor to switch back to the parent editor</a:t>
            </a:r>
          </a:p>
          <a:p>
            <a:pPr marL="324000" lvl="1" indent="0">
              <a:buNone/>
            </a:pPr>
            <a:endParaRPr lang="en-US" dirty="0">
              <a:latin typeface="Courier New" panose="02070309020205020404" pitchFamily="49" charset="0"/>
              <a:cs typeface="Courier New" panose="02070309020205020404" pitchFamily="49" charset="0"/>
            </a:endParaRPr>
          </a:p>
          <a:p>
            <a:r>
              <a:rPr lang="en-US" dirty="0" err="1"/>
              <a:t>Es</a:t>
            </a:r>
            <a:r>
              <a:rPr lang="en-US" dirty="0"/>
              <a:t> </a:t>
            </a:r>
            <a:r>
              <a:rPr lang="en-US" dirty="0" err="1"/>
              <a:t>ist</a:t>
            </a:r>
            <a:r>
              <a:rPr lang="en-US" dirty="0"/>
              <a:t> </a:t>
            </a:r>
            <a:r>
              <a:rPr lang="en-US" dirty="0" err="1"/>
              <a:t>auch</a:t>
            </a:r>
            <a:r>
              <a:rPr lang="en-US" dirty="0"/>
              <a:t> </a:t>
            </a:r>
            <a:r>
              <a:rPr lang="en-US" dirty="0" err="1"/>
              <a:t>möglich</a:t>
            </a:r>
            <a:r>
              <a:rPr lang="en-US" dirty="0"/>
              <a:t> den Subeditor </a:t>
            </a:r>
            <a:r>
              <a:rPr lang="en-US" dirty="0" err="1"/>
              <a:t>über</a:t>
            </a:r>
            <a:r>
              <a:rPr lang="en-US" dirty="0"/>
              <a:t> </a:t>
            </a:r>
            <a:r>
              <a:rPr lang="en-US" dirty="0">
                <a:latin typeface="Courier New" panose="02070309020205020404" pitchFamily="49" charset="0"/>
                <a:cs typeface="Courier New" panose="02070309020205020404" pitchFamily="49" charset="0"/>
              </a:rPr>
              <a:t>And I close/ save the current editor </a:t>
            </a:r>
            <a:r>
              <a:rPr lang="en-US" dirty="0" err="1"/>
              <a:t>zu</a:t>
            </a:r>
            <a:r>
              <a:rPr lang="en-US" dirty="0"/>
              <a:t> </a:t>
            </a:r>
            <a:r>
              <a:rPr lang="en-US" dirty="0" err="1"/>
              <a:t>schließen</a:t>
            </a:r>
            <a:r>
              <a:rPr lang="en-US" dirty="0"/>
              <a:t>. </a:t>
            </a:r>
            <a:r>
              <a:rPr lang="de-DE" dirty="0"/>
              <a:t>Hier ist zu allerdings zu beachten, dass ein weiterer </a:t>
            </a:r>
            <a:r>
              <a:rPr lang="de-DE" dirty="0" err="1"/>
              <a:t>Step</a:t>
            </a:r>
            <a:r>
              <a:rPr lang="de-DE" dirty="0"/>
              <a:t> nötig ist, um wieder zum vorherigen Editor zurückzukehren:</a:t>
            </a:r>
          </a:p>
          <a:p>
            <a:pPr marL="324000" lvl="1"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switch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endParaRPr lang="de-DE" dirty="0"/>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20</a:t>
            </a:fld>
            <a:endParaRPr lang="de-DE"/>
          </a:p>
        </p:txBody>
      </p:sp>
    </p:spTree>
    <p:extLst>
      <p:ext uri="{BB962C8B-B14F-4D97-AF65-F5344CB8AC3E}">
        <p14:creationId xmlns:p14="http://schemas.microsoft.com/office/powerpoint/2010/main" val="3877735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Aufgabe 3</a:t>
            </a:r>
          </a:p>
        </p:txBody>
      </p:sp>
      <p:sp>
        <p:nvSpPr>
          <p:cNvPr id="3" name="Inhaltsplatzhalter 2"/>
          <p:cNvSpPr>
            <a:spLocks noGrp="1"/>
          </p:cNvSpPr>
          <p:nvPr>
            <p:ph idx="1"/>
          </p:nvPr>
        </p:nvSpPr>
        <p:spPr/>
        <p:txBody>
          <a:bodyPr>
            <a:normAutofit fontScale="92500" lnSpcReduction="20000"/>
          </a:bodyPr>
          <a:lstStyle/>
          <a:p>
            <a:r>
              <a:rPr lang="de-DE" dirty="0"/>
              <a:t>Wechsle in den Editor der Baugruppe und füge einen weiteren Arbeitsgang hinzu. Lege dann einen Auftrag mit dem Suchwort BSCHULUNG für deine Baugruppe über 20 Stück an und steige in die Materialzuordnung ab. Gib dort an, dass der Artikel von F1 abgebucht wird und speichere den Auftrag.</a:t>
            </a:r>
          </a:p>
          <a:p>
            <a:pPr marL="0" indent="0">
              <a:buNone/>
            </a:pPr>
            <a:r>
              <a:rPr lang="de-DE" dirty="0"/>
              <a:t> </a:t>
            </a:r>
          </a:p>
          <a:p>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switch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a:t>
            </a:r>
          </a:p>
          <a:p>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a:t>
            </a:r>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press </a:t>
            </a:r>
            <a:r>
              <a:rPr lang="de-DE" dirty="0" err="1">
                <a:latin typeface="Courier New" panose="02070309020205020404" pitchFamily="49" charset="0"/>
                <a:cs typeface="Courier New" panose="02070309020205020404" pitchFamily="49" charset="0"/>
              </a:rPr>
              <a:t>button</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open a </a:t>
            </a:r>
            <a:r>
              <a:rPr lang="de-DE" dirty="0" err="1">
                <a:latin typeface="Courier New" panose="02070309020205020404" pitchFamily="49" charset="0"/>
                <a:cs typeface="Courier New" panose="02070309020205020404" pitchFamily="49" charset="0"/>
              </a:rPr>
              <a:t>subeditor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And I save the current subeditor to switch back to the parent editor</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save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endParaRPr lang="de-DE" dirty="0">
              <a:latin typeface="Courier New" panose="02070309020205020404" pitchFamily="49" charset="0"/>
              <a:cs typeface="Courier New" panose="02070309020205020404" pitchFamily="49" charset="0"/>
            </a:endParaRPr>
          </a:p>
        </p:txBody>
      </p:sp>
      <p:sp>
        <p:nvSpPr>
          <p:cNvPr id="4" name="Datumsplatzhalter 3"/>
          <p:cNvSpPr>
            <a:spLocks noGrp="1"/>
          </p:cNvSpPr>
          <p:nvPr>
            <p:ph type="dt" sz="half" idx="10"/>
          </p:nvPr>
        </p:nvSpPr>
        <p:spPr/>
        <p:txBody>
          <a:bodyPr/>
          <a:lstStyle/>
          <a:p>
            <a:fld id="{547EBC79-82E5-43BC-8F62-B9E51463F2D7}"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21</a:t>
            </a:fld>
            <a:endParaRPr lang="de-DE"/>
          </a:p>
        </p:txBody>
      </p:sp>
    </p:spTree>
    <p:extLst>
      <p:ext uri="{BB962C8B-B14F-4D97-AF65-F5344CB8AC3E}">
        <p14:creationId xmlns:p14="http://schemas.microsoft.com/office/powerpoint/2010/main" val="2475162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Schreibbare und schreibgeschützte Felder prüfen</a:t>
            </a:r>
          </a:p>
        </p:txBody>
      </p:sp>
      <p:sp>
        <p:nvSpPr>
          <p:cNvPr id="3" name="Inhaltsplatzhalter 2"/>
          <p:cNvSpPr>
            <a:spLocks noGrp="1"/>
          </p:cNvSpPr>
          <p:nvPr>
            <p:ph idx="1"/>
          </p:nvPr>
        </p:nvSpPr>
        <p:spPr/>
        <p:txBody>
          <a:bodyPr/>
          <a:lstStyle/>
          <a:p>
            <a:r>
              <a:rPr lang="de-DE" dirty="0"/>
              <a:t>Mit folgenden </a:t>
            </a:r>
            <a:r>
              <a:rPr lang="de-DE" dirty="0" err="1"/>
              <a:t>Steps</a:t>
            </a:r>
            <a:r>
              <a:rPr lang="de-DE" dirty="0"/>
              <a:t> ist im Kopf oder einer Tabellenzeile prüfbar, ob in ein Feld ein Wert eingetragen werden kann oder nicht:</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modifiable</a:t>
            </a:r>
            <a:endParaRPr lang="de-DE" dirty="0">
              <a:latin typeface="Courier New" panose="02070309020205020404" pitchFamily="49" charset="0"/>
              <a:cs typeface="Courier New" panose="02070309020205020404" pitchFamily="49" charset="0"/>
            </a:endParaRP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modifiable</a:t>
            </a:r>
            <a:r>
              <a:rPr lang="de-DE" dirty="0">
                <a:latin typeface="Courier New" panose="02070309020205020404" pitchFamily="49" charset="0"/>
                <a:cs typeface="Courier New" panose="02070309020205020404" pitchFamily="49" charset="0"/>
              </a:rPr>
              <a:t>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a:p>
            <a:pPr marL="342900" indent="-342900">
              <a:buFont typeface="+mj-lt"/>
              <a:buAutoNum type="arabicPeriod"/>
            </a:pPr>
            <a:endParaRPr lang="de-DE" dirty="0">
              <a:latin typeface="Courier New" panose="02070309020205020404" pitchFamily="49" charset="0"/>
              <a:cs typeface="Courier New" panose="02070309020205020404" pitchFamily="49" charset="0"/>
            </a:endParaRP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not </a:t>
            </a:r>
            <a:r>
              <a:rPr lang="de-DE" dirty="0" err="1">
                <a:latin typeface="Courier New" panose="02070309020205020404" pitchFamily="49" charset="0"/>
                <a:cs typeface="Courier New" panose="02070309020205020404" pitchFamily="49" charset="0"/>
              </a:rPr>
              <a:t>modifiable</a:t>
            </a:r>
            <a:endParaRPr lang="de-DE" dirty="0">
              <a:latin typeface="Courier New" panose="02070309020205020404" pitchFamily="49" charset="0"/>
              <a:cs typeface="Courier New" panose="02070309020205020404" pitchFamily="49" charset="0"/>
            </a:endParaRP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not </a:t>
            </a:r>
            <a:r>
              <a:rPr lang="de-DE" dirty="0" err="1">
                <a:latin typeface="Courier New" panose="02070309020205020404" pitchFamily="49" charset="0"/>
                <a:cs typeface="Courier New" panose="02070309020205020404" pitchFamily="49" charset="0"/>
              </a:rPr>
              <a:t>modifiable</a:t>
            </a:r>
            <a:r>
              <a:rPr lang="de-DE" dirty="0">
                <a:latin typeface="Courier New" panose="02070309020205020404" pitchFamily="49" charset="0"/>
                <a:cs typeface="Courier New" panose="02070309020205020404" pitchFamily="49" charset="0"/>
              </a:rPr>
              <a:t>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p:txBody>
      </p:sp>
      <p:sp>
        <p:nvSpPr>
          <p:cNvPr id="4" name="Datumsplatzhalter 3"/>
          <p:cNvSpPr>
            <a:spLocks noGrp="1"/>
          </p:cNvSpPr>
          <p:nvPr>
            <p:ph type="dt" sz="half" idx="10"/>
          </p:nvPr>
        </p:nvSpPr>
        <p:spPr/>
        <p:txBody>
          <a:bodyPr/>
          <a:lstStyle/>
          <a:p>
            <a:fld id="{02E0B2C9-1EFF-495B-9906-5079269991D5}"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22</a:t>
            </a:fld>
            <a:endParaRPr lang="de-DE"/>
          </a:p>
        </p:txBody>
      </p:sp>
    </p:spTree>
    <p:extLst>
      <p:ext uri="{BB962C8B-B14F-4D97-AF65-F5344CB8AC3E}">
        <p14:creationId xmlns:p14="http://schemas.microsoft.com/office/powerpoint/2010/main" val="272128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Leere und Gefüllte Felder Prüfen</a:t>
            </a:r>
          </a:p>
        </p:txBody>
      </p:sp>
      <p:sp>
        <p:nvSpPr>
          <p:cNvPr id="3" name="Inhaltsplatzhalter 2"/>
          <p:cNvSpPr>
            <a:spLocks noGrp="1"/>
          </p:cNvSpPr>
          <p:nvPr>
            <p:ph idx="1"/>
          </p:nvPr>
        </p:nvSpPr>
        <p:spPr/>
        <p:txBody>
          <a:bodyPr/>
          <a:lstStyle/>
          <a:p>
            <a:r>
              <a:rPr lang="de-DE" dirty="0"/>
              <a:t>Wenn nur relevant ist, ob ein Feld einen Wert erhalten hat oder ob es leer ist/geblieben ist (Kopf und/oder Tabellenzeile), dann sind folgende </a:t>
            </a:r>
            <a:r>
              <a:rPr lang="de-DE" dirty="0" err="1"/>
              <a:t>Steps</a:t>
            </a:r>
            <a:r>
              <a:rPr lang="de-DE" dirty="0"/>
              <a:t> dafür geeignet:</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empty</a:t>
            </a:r>
            <a:endParaRPr lang="de-DE" dirty="0">
              <a:latin typeface="Courier New" panose="02070309020205020404" pitchFamily="49" charset="0"/>
              <a:cs typeface="Courier New" panose="02070309020205020404" pitchFamily="49" charset="0"/>
            </a:endParaRP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empty</a:t>
            </a:r>
            <a:r>
              <a:rPr lang="de-DE" dirty="0">
                <a:latin typeface="Courier New" panose="02070309020205020404" pitchFamily="49" charset="0"/>
                <a:cs typeface="Courier New" panose="02070309020205020404" pitchFamily="49" charset="0"/>
              </a:rPr>
              <a:t>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a:p>
            <a:pPr marL="342900" indent="-342900">
              <a:buFont typeface="+mj-lt"/>
              <a:buAutoNum type="arabicPeriod"/>
            </a:pPr>
            <a:endParaRPr lang="de-DE" dirty="0">
              <a:latin typeface="Courier New" panose="02070309020205020404" pitchFamily="49" charset="0"/>
              <a:cs typeface="Courier New" panose="02070309020205020404" pitchFamily="49" charset="0"/>
            </a:endParaRP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not </a:t>
            </a:r>
            <a:r>
              <a:rPr lang="de-DE" dirty="0" err="1">
                <a:latin typeface="Courier New" panose="02070309020205020404" pitchFamily="49" charset="0"/>
                <a:cs typeface="Courier New" panose="02070309020205020404" pitchFamily="49" charset="0"/>
              </a:rPr>
              <a:t>empty</a:t>
            </a:r>
            <a:endParaRPr lang="de-DE" dirty="0">
              <a:latin typeface="Courier New" panose="02070309020205020404" pitchFamily="49" charset="0"/>
              <a:cs typeface="Courier New" panose="02070309020205020404" pitchFamily="49" charset="0"/>
            </a:endParaRP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not </a:t>
            </a:r>
            <a:r>
              <a:rPr lang="de-DE" dirty="0" err="1">
                <a:latin typeface="Courier New" panose="02070309020205020404" pitchFamily="49" charset="0"/>
                <a:cs typeface="Courier New" panose="02070309020205020404" pitchFamily="49" charset="0"/>
              </a:rPr>
              <a:t>empty</a:t>
            </a:r>
            <a:r>
              <a:rPr lang="de-DE" dirty="0">
                <a:latin typeface="Courier New" panose="02070309020205020404" pitchFamily="49" charset="0"/>
                <a:cs typeface="Courier New" panose="02070309020205020404" pitchFamily="49" charset="0"/>
              </a:rPr>
              <a:t>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p:txBody>
      </p:sp>
      <p:sp>
        <p:nvSpPr>
          <p:cNvPr id="4" name="Datumsplatzhalter 3"/>
          <p:cNvSpPr>
            <a:spLocks noGrp="1"/>
          </p:cNvSpPr>
          <p:nvPr>
            <p:ph type="dt" sz="half" idx="10"/>
          </p:nvPr>
        </p:nvSpPr>
        <p:spPr/>
        <p:txBody>
          <a:bodyPr/>
          <a:lstStyle/>
          <a:p>
            <a:fld id="{D4BFCD21-A9DB-4737-AB3A-F10B9F06AB7E}"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23</a:t>
            </a:fld>
            <a:endParaRPr lang="de-DE"/>
          </a:p>
        </p:txBody>
      </p:sp>
    </p:spTree>
    <p:extLst>
      <p:ext uri="{BB962C8B-B14F-4D97-AF65-F5344CB8AC3E}">
        <p14:creationId xmlns:p14="http://schemas.microsoft.com/office/powerpoint/2010/main" val="2632369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b="1" dirty="0"/>
              <a:t>Auf erwartete Feldwerte testen </a:t>
            </a:r>
            <a:br>
              <a:rPr lang="de-DE" dirty="0"/>
            </a:br>
            <a:r>
              <a:rPr lang="de-DE" dirty="0"/>
              <a:t>Feldwerte</a:t>
            </a:r>
          </a:p>
        </p:txBody>
      </p:sp>
      <p:sp>
        <p:nvSpPr>
          <p:cNvPr id="3" name="Inhaltsplatzhalter 2"/>
          <p:cNvSpPr>
            <a:spLocks noGrp="1"/>
          </p:cNvSpPr>
          <p:nvPr>
            <p:ph idx="1"/>
          </p:nvPr>
        </p:nvSpPr>
        <p:spPr/>
        <p:txBody>
          <a:bodyPr/>
          <a:lstStyle/>
          <a:p>
            <a:r>
              <a:rPr lang="de-DE" dirty="0"/>
              <a:t>Berechnete Felder,  bzw. Vorbelegungen, können auf ihren Inhalt getestet werden:</a:t>
            </a:r>
          </a:p>
          <a:p>
            <a:pPr marL="0" indent="0">
              <a:buNone/>
            </a:pPr>
            <a:endParaRPr lang="de-DE" dirty="0"/>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has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value</a:t>
            </a:r>
            <a:r>
              <a:rPr lang="de-DE" dirty="0">
                <a:latin typeface="Courier New" panose="02070309020205020404" pitchFamily="49" charset="0"/>
                <a:cs typeface="Courier New" panose="02070309020205020404" pitchFamily="49" charset="0"/>
              </a:rPr>
              <a:t> "([^"]*)"</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has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value</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p:txBody>
      </p:sp>
      <p:sp>
        <p:nvSpPr>
          <p:cNvPr id="4" name="Datumsplatzhalter 3"/>
          <p:cNvSpPr>
            <a:spLocks noGrp="1"/>
          </p:cNvSpPr>
          <p:nvPr>
            <p:ph type="dt" sz="half" idx="10"/>
          </p:nvPr>
        </p:nvSpPr>
        <p:spPr/>
        <p:txBody>
          <a:bodyPr/>
          <a:lstStyle/>
          <a:p>
            <a:fld id="{B32C0794-36BA-479D-BA8B-4196949D4F2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24</a:t>
            </a:fld>
            <a:endParaRPr lang="de-DE"/>
          </a:p>
        </p:txBody>
      </p:sp>
    </p:spTree>
    <p:extLst>
      <p:ext uri="{BB962C8B-B14F-4D97-AF65-F5344CB8AC3E}">
        <p14:creationId xmlns:p14="http://schemas.microsoft.com/office/powerpoint/2010/main" val="4172364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Fehler beim Einfügen oder Löschen von Tabellenzeilen</a:t>
            </a:r>
          </a:p>
        </p:txBody>
      </p:sp>
      <p:sp>
        <p:nvSpPr>
          <p:cNvPr id="3" name="Inhaltsplatzhalter 2"/>
          <p:cNvSpPr>
            <a:spLocks noGrp="1"/>
          </p:cNvSpPr>
          <p:nvPr>
            <p:ph idx="1"/>
          </p:nvPr>
        </p:nvSpPr>
        <p:spPr/>
        <p:txBody>
          <a:bodyPr>
            <a:normAutofit fontScale="92500" lnSpcReduction="20000"/>
          </a:bodyPr>
          <a:lstStyle/>
          <a:p>
            <a:r>
              <a:rPr lang="de-DE" dirty="0"/>
              <a:t>Test auf Fehler beim Einfügen und Löschen von Zeilen im Tabellenbereich:</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creating</a:t>
            </a:r>
            <a:r>
              <a:rPr lang="de-DE" dirty="0">
                <a:latin typeface="Courier New" panose="02070309020205020404" pitchFamily="49" charset="0"/>
                <a:cs typeface="Courier New" panose="02070309020205020404" pitchFamily="49" charset="0"/>
              </a:rPr>
              <a:t> a </a:t>
            </a:r>
            <a:r>
              <a:rPr lang="de-DE" dirty="0" err="1">
                <a:latin typeface="Courier New" panose="02070309020205020404" pitchFamily="49" charset="0"/>
                <a:cs typeface="Courier New" panose="02070309020205020404" pitchFamily="49" charset="0"/>
              </a:rPr>
              <a:t>new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at </a:t>
            </a:r>
            <a:r>
              <a:rPr lang="de-DE" dirty="0" err="1">
                <a:latin typeface="Courier New" panose="02070309020205020404" pitchFamily="49" charset="0"/>
                <a:cs typeface="Courier New" panose="02070309020205020404" pitchFamily="49" charset="0"/>
              </a:rPr>
              <a:t>position</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deleting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at </a:t>
            </a:r>
            <a:r>
              <a:rPr lang="de-DE" dirty="0" err="1">
                <a:latin typeface="Courier New" panose="02070309020205020404" pitchFamily="49" charset="0"/>
                <a:cs typeface="Courier New" panose="02070309020205020404" pitchFamily="49" charset="0"/>
              </a:rPr>
              <a:t>position</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p>
          <a:p>
            <a:pPr marL="342900" indent="-342900">
              <a:buFont typeface="+mj-lt"/>
              <a:buAutoNum type="arabicPeriod"/>
            </a:pPr>
            <a:endParaRPr lang="de-DE" dirty="0">
              <a:latin typeface="Courier New" panose="02070309020205020404" pitchFamily="49" charset="0"/>
              <a:cs typeface="Courier New" panose="02070309020205020404" pitchFamily="49" charset="0"/>
            </a:endParaRPr>
          </a:p>
          <a:p>
            <a:pPr marL="0" indent="0">
              <a:buNone/>
            </a:pPr>
            <a:endParaRPr lang="de-DE" dirty="0">
              <a:latin typeface="Courier New" panose="02070309020205020404" pitchFamily="49" charset="0"/>
              <a:cs typeface="Courier New" panose="02070309020205020404" pitchFamily="49" charset="0"/>
            </a:endParaRPr>
          </a:p>
          <a:p>
            <a:r>
              <a:rPr lang="de-DE" dirty="0"/>
              <a:t>Auch hier können mehrzeilige Fehlermeldungstexte geprüft werden:</a:t>
            </a:r>
          </a:p>
          <a:p>
            <a:pPr marL="342900" indent="-342900">
              <a:buFont typeface="+mj-lt"/>
              <a:buAutoNum type="arabicPeriod" startAt="3"/>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creating</a:t>
            </a:r>
            <a:r>
              <a:rPr lang="de-DE" dirty="0">
                <a:latin typeface="Courier New" panose="02070309020205020404" pitchFamily="49" charset="0"/>
                <a:cs typeface="Courier New" panose="02070309020205020404" pitchFamily="49" charset="0"/>
              </a:rPr>
              <a:t> a </a:t>
            </a:r>
            <a:r>
              <a:rPr lang="de-DE" dirty="0" err="1">
                <a:latin typeface="Courier New" panose="02070309020205020404" pitchFamily="49" charset="0"/>
                <a:cs typeface="Courier New" panose="02070309020205020404" pitchFamily="49" charset="0"/>
              </a:rPr>
              <a:t>new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at </a:t>
            </a:r>
            <a:r>
              <a:rPr lang="de-DE" dirty="0" err="1">
                <a:latin typeface="Courier New" panose="02070309020205020404" pitchFamily="49" charset="0"/>
                <a:cs typeface="Courier New" panose="02070309020205020404" pitchFamily="49" charset="0"/>
              </a:rPr>
              <a:t>position</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"""XYZ</a:t>
            </a:r>
          </a:p>
          <a:p>
            <a:pPr marL="0" indent="0">
              <a:buNone/>
            </a:pPr>
            <a:r>
              <a:rPr lang="de-DE" dirty="0">
                <a:latin typeface="Courier New" panose="02070309020205020404" pitchFamily="49" charset="0"/>
                <a:cs typeface="Courier New" panose="02070309020205020404" pitchFamily="49" charset="0"/>
              </a:rPr>
              <a:t>	ABC</a:t>
            </a:r>
          </a:p>
          <a:p>
            <a:pPr marL="0" indent="0">
              <a:buNone/>
            </a:pPr>
            <a:r>
              <a:rPr lang="de-DE" dirty="0">
                <a:latin typeface="Courier New" panose="02070309020205020404" pitchFamily="49" charset="0"/>
                <a:cs typeface="Courier New" panose="02070309020205020404" pitchFamily="49" charset="0"/>
              </a:rPr>
              <a:t>	Zeile3"""</a:t>
            </a:r>
          </a:p>
        </p:txBody>
      </p:sp>
      <p:sp>
        <p:nvSpPr>
          <p:cNvPr id="4" name="Datumsplatzhalter 3"/>
          <p:cNvSpPr>
            <a:spLocks noGrp="1"/>
          </p:cNvSpPr>
          <p:nvPr>
            <p:ph type="dt" sz="half" idx="10"/>
          </p:nvPr>
        </p:nvSpPr>
        <p:spPr/>
        <p:txBody>
          <a:bodyPr/>
          <a:lstStyle/>
          <a:p>
            <a:fld id="{1F14AFB6-135E-4AB2-9236-E0E0D6F42ADC}"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25</a:t>
            </a:fld>
            <a:endParaRPr lang="de-DE"/>
          </a:p>
        </p:txBody>
      </p:sp>
    </p:spTree>
    <p:extLst>
      <p:ext uri="{BB962C8B-B14F-4D97-AF65-F5344CB8AC3E}">
        <p14:creationId xmlns:p14="http://schemas.microsoft.com/office/powerpoint/2010/main" val="264087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Hinweis zum Prüfen auf Fehler</a:t>
            </a:r>
          </a:p>
        </p:txBody>
      </p:sp>
      <p:sp>
        <p:nvSpPr>
          <p:cNvPr id="3" name="Inhaltsplatzhalter 2"/>
          <p:cNvSpPr>
            <a:spLocks noGrp="1"/>
          </p:cNvSpPr>
          <p:nvPr>
            <p:ph idx="1"/>
          </p:nvPr>
        </p:nvSpPr>
        <p:spPr/>
        <p:txBody>
          <a:bodyPr>
            <a:normAutofit fontScale="85000" lnSpcReduction="10000"/>
          </a:bodyPr>
          <a:lstStyle/>
          <a:p>
            <a:r>
              <a:rPr lang="de-DE" dirty="0"/>
              <a:t>Es gibt beim Prüfen auf Fehler zwei Möglichkeiten, den Fehler im </a:t>
            </a:r>
            <a:r>
              <a:rPr lang="de-DE" dirty="0" err="1"/>
              <a:t>Step</a:t>
            </a:r>
            <a:r>
              <a:rPr lang="de-DE" dirty="0"/>
              <a:t> darzustellen:</a:t>
            </a:r>
          </a:p>
          <a:p>
            <a:pPr marL="342900" indent="-342900">
              <a:buFont typeface="+mj-lt"/>
              <a:buAutoNum type="arabicPeriod"/>
            </a:pPr>
            <a:r>
              <a:rPr lang="de-DE" dirty="0"/>
              <a:t>Auf den Fehlertext prüfen: in die Klammer wird der exakte Text der Fehlermeldung geschrieben. Es wird dann auf diesen Text geprüft.</a:t>
            </a:r>
          </a:p>
          <a:p>
            <a:pPr marL="342900" indent="-342900">
              <a:buFont typeface="+mj-lt"/>
              <a:buAutoNum type="arabicPeriod"/>
            </a:pPr>
            <a:r>
              <a:rPr lang="de-DE" dirty="0"/>
              <a:t>Auf die Fehlernummer prüfen: in die Klammer wird die ID des Fehlers geschrieben. Es wird dann auf diese ID geprüft.</a:t>
            </a:r>
          </a:p>
          <a:p>
            <a:pPr marL="342900" indent="-342900">
              <a:buFont typeface="+mj-lt"/>
              <a:buAutoNum type="arabicPeriod"/>
            </a:pPr>
            <a:endParaRPr lang="de-DE" dirty="0"/>
          </a:p>
          <a:p>
            <a:r>
              <a:rPr lang="de-DE" dirty="0"/>
              <a:t>Es kann vorkommen, dass noch weitere Fehler „im Hintergrund“ des ERP ausgegeben werden, die am Frontend nicht sichtbar sind. Es kann auch auf diesen Fehler mittels Text oder ID geprüft werden. </a:t>
            </a:r>
            <a:r>
              <a:rPr lang="de-DE" dirty="0" err="1"/>
              <a:t>Cucumber</a:t>
            </a:r>
            <a:r>
              <a:rPr lang="de-DE" dirty="0"/>
              <a:t> prüft, ob eine der beiden Texte oder IDs hochkommt.</a:t>
            </a:r>
          </a:p>
          <a:p>
            <a:r>
              <a:rPr lang="de-DE" dirty="0"/>
              <a:t>Die ID des Fehlers kann folgendermaßen ermittelt werden:</a:t>
            </a:r>
          </a:p>
          <a:p>
            <a:pPr lvl="1"/>
            <a:r>
              <a:rPr lang="de-DE" dirty="0"/>
              <a:t>Über den Expertenmodus: </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grep</a:t>
            </a:r>
            <a:r>
              <a:rPr lang="de-DE" dirty="0">
                <a:latin typeface="Courier New" panose="02070309020205020404" pitchFamily="49" charset="0"/>
                <a:cs typeface="Courier New" panose="02070309020205020404" pitchFamily="49" charset="0"/>
              </a:rPr>
              <a:t> „</a:t>
            </a:r>
            <a:r>
              <a:rPr lang="de-DE" i="1" dirty="0">
                <a:latin typeface="Courier New" panose="02070309020205020404" pitchFamily="49" charset="0"/>
                <a:cs typeface="Courier New" panose="02070309020205020404" pitchFamily="49" charset="0"/>
              </a:rPr>
              <a:t>Fehlertext</a:t>
            </a:r>
            <a:r>
              <a:rPr lang="de-DE" dirty="0">
                <a:latin typeface="Courier New" panose="02070309020205020404" pitchFamily="49" charset="0"/>
                <a:cs typeface="Courier New" panose="02070309020205020404" pitchFamily="49" charset="0"/>
              </a:rPr>
              <a:t>“ $HOMEDIR/</a:t>
            </a:r>
            <a:r>
              <a:rPr lang="de-DE" dirty="0" err="1">
                <a:latin typeface="Courier New" panose="02070309020205020404" pitchFamily="49" charset="0"/>
                <a:cs typeface="Courier New" panose="02070309020205020404" pitchFamily="49" charset="0"/>
              </a:rPr>
              <a:t>msg.cc.dic</a:t>
            </a:r>
            <a:r>
              <a:rPr lang="de-DE" dirty="0">
                <a:latin typeface="Courier New" panose="02070309020205020404" pitchFamily="49" charset="0"/>
                <a:cs typeface="Courier New" panose="02070309020205020404" pitchFamily="49" charset="0"/>
              </a:rPr>
              <a:t> </a:t>
            </a:r>
          </a:p>
          <a:p>
            <a:pPr lvl="1"/>
            <a:r>
              <a:rPr lang="de-DE" dirty="0">
                <a:cs typeface="Courier New" panose="02070309020205020404" pitchFamily="49" charset="0"/>
              </a:rPr>
              <a:t>Beim Testdurchlauf werden Text oder ID im </a:t>
            </a:r>
            <a:r>
              <a:rPr lang="de-DE" dirty="0" err="1">
                <a:cs typeface="Courier New" panose="02070309020205020404" pitchFamily="49" charset="0"/>
              </a:rPr>
              <a:t>Failure</a:t>
            </a:r>
            <a:r>
              <a:rPr lang="de-DE" dirty="0">
                <a:cs typeface="Courier New" panose="02070309020205020404" pitchFamily="49" charset="0"/>
              </a:rPr>
              <a:t> Trace angezeigt, hat man eine(n) falsche(n) Wert angegeben (bspw. wird ID 123 angegeben, um die richtige ID über den </a:t>
            </a:r>
            <a:r>
              <a:rPr lang="de-DE" dirty="0" err="1">
                <a:cs typeface="Courier New" panose="02070309020205020404" pitchFamily="49" charset="0"/>
              </a:rPr>
              <a:t>Failure</a:t>
            </a:r>
            <a:r>
              <a:rPr lang="de-DE" dirty="0">
                <a:cs typeface="Courier New" panose="02070309020205020404" pitchFamily="49" charset="0"/>
              </a:rPr>
              <a:t> Trace zu ermitteln).</a:t>
            </a:r>
          </a:p>
          <a:p>
            <a:pPr marL="324000" lvl="1" indent="0">
              <a:buNone/>
            </a:pPr>
            <a:endParaRPr lang="de-DE" dirty="0">
              <a:cs typeface="Courier New" panose="02070309020205020404" pitchFamily="49" charset="0"/>
            </a:endParaRPr>
          </a:p>
          <a:p>
            <a:r>
              <a:rPr lang="de-DE" dirty="0"/>
              <a:t>Dies gilt für alle (auch noch kommenden) Prüfungen auf Fehler.</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26</a:t>
            </a:fld>
            <a:endParaRPr lang="de-DE"/>
          </a:p>
        </p:txBody>
      </p:sp>
    </p:spTree>
    <p:extLst>
      <p:ext uri="{BB962C8B-B14F-4D97-AF65-F5344CB8AC3E}">
        <p14:creationId xmlns:p14="http://schemas.microsoft.com/office/powerpoint/2010/main" val="30535981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Aufgabe 4</a:t>
            </a:r>
          </a:p>
        </p:txBody>
      </p:sp>
      <p:sp>
        <p:nvSpPr>
          <p:cNvPr id="3" name="Inhaltsplatzhalter 2"/>
          <p:cNvSpPr>
            <a:spLocks noGrp="1"/>
          </p:cNvSpPr>
          <p:nvPr>
            <p:ph idx="1"/>
          </p:nvPr>
        </p:nvSpPr>
        <p:spPr/>
        <p:txBody>
          <a:bodyPr>
            <a:normAutofit/>
          </a:bodyPr>
          <a:lstStyle/>
          <a:p>
            <a:r>
              <a:rPr lang="de-DE" dirty="0"/>
              <a:t>Wechsle in den Auftrag im Bearbeiten-Modus und prüfe dort,</a:t>
            </a:r>
          </a:p>
          <a:p>
            <a:pPr lvl="1"/>
            <a:r>
              <a:rPr lang="de-DE" dirty="0"/>
              <a:t>ob das </a:t>
            </a:r>
            <a:r>
              <a:rPr lang="de-DE" dirty="0" err="1"/>
              <a:t>Identnummernfeld</a:t>
            </a:r>
            <a:r>
              <a:rPr lang="de-DE" dirty="0"/>
              <a:t> gefüllt und nicht schreibbar ist</a:t>
            </a:r>
          </a:p>
          <a:p>
            <a:pPr lvl="1"/>
            <a:r>
              <a:rPr lang="de-DE" dirty="0"/>
              <a:t>dass das Suchfeld den Wert BSCHULUNG hat und das Feld Artikel den Wert deiner Baugruppe</a:t>
            </a:r>
          </a:p>
          <a:p>
            <a:pPr lvl="1"/>
            <a:r>
              <a:rPr lang="de-DE" dirty="0"/>
              <a:t>dass die Zeile mit dem Artikel nicht gelöscht werden kann („darf nicht gelöscht werden“)</a:t>
            </a:r>
          </a:p>
          <a:p>
            <a:pPr lvl="1"/>
            <a:r>
              <a:rPr lang="de-DE" dirty="0"/>
              <a:t>in der AFL das Feld </a:t>
            </a:r>
            <a:r>
              <a:rPr lang="de-DE" dirty="0" err="1"/>
              <a:t>manbu</a:t>
            </a:r>
            <a:r>
              <a:rPr lang="de-DE" dirty="0"/>
              <a:t> für die Komponente gesetzt ist</a:t>
            </a:r>
          </a:p>
          <a:p>
            <a:pPr lvl="1"/>
            <a:endParaRPr lang="de-DE" dirty="0"/>
          </a:p>
          <a:p>
            <a:pPr lvl="1"/>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not </a:t>
            </a:r>
            <a:r>
              <a:rPr lang="de-DE" dirty="0" err="1">
                <a:latin typeface="Courier New" panose="02070309020205020404" pitchFamily="49" charset="0"/>
                <a:cs typeface="Courier New" panose="02070309020205020404" pitchFamily="49" charset="0"/>
              </a:rPr>
              <a:t>empty</a:t>
            </a:r>
            <a:endParaRPr lang="de-DE" dirty="0">
              <a:latin typeface="Courier New" panose="02070309020205020404" pitchFamily="49" charset="0"/>
              <a:cs typeface="Courier New" panose="02070309020205020404" pitchFamily="49" charset="0"/>
            </a:endParaRPr>
          </a:p>
          <a:p>
            <a:pPr lvl="1"/>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not </a:t>
            </a:r>
            <a:r>
              <a:rPr lang="de-DE" dirty="0" err="1">
                <a:latin typeface="Courier New" panose="02070309020205020404" pitchFamily="49" charset="0"/>
                <a:cs typeface="Courier New" panose="02070309020205020404" pitchFamily="49" charset="0"/>
              </a:rPr>
              <a:t>modifiable</a:t>
            </a:r>
            <a:endParaRPr lang="de-DE" dirty="0">
              <a:latin typeface="Courier New" panose="02070309020205020404" pitchFamily="49" charset="0"/>
              <a:cs typeface="Courier New" panose="02070309020205020404" pitchFamily="49" charset="0"/>
            </a:endParaRPr>
          </a:p>
          <a:p>
            <a:pPr lvl="1"/>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deleting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at </a:t>
            </a:r>
            <a:r>
              <a:rPr lang="de-DE" dirty="0" err="1">
                <a:latin typeface="Courier New" panose="02070309020205020404" pitchFamily="49" charset="0"/>
                <a:cs typeface="Courier New" panose="02070309020205020404" pitchFamily="49" charset="0"/>
              </a:rPr>
              <a:t>position</a:t>
            </a:r>
            <a:r>
              <a:rPr lang="de-DE" dirty="0">
                <a:latin typeface="Courier New" panose="02070309020205020404" pitchFamily="49" charset="0"/>
                <a:cs typeface="Courier New" panose="02070309020205020404" pitchFamily="49" charset="0"/>
              </a:rPr>
              <a:t> (\d+)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endParaRPr lang="de-DE" dirty="0"/>
          </a:p>
        </p:txBody>
      </p:sp>
      <p:sp>
        <p:nvSpPr>
          <p:cNvPr id="4" name="Datumsplatzhalter 3"/>
          <p:cNvSpPr>
            <a:spLocks noGrp="1"/>
          </p:cNvSpPr>
          <p:nvPr>
            <p:ph type="dt" sz="half" idx="10"/>
          </p:nvPr>
        </p:nvSpPr>
        <p:spPr/>
        <p:txBody>
          <a:bodyPr/>
          <a:lstStyle/>
          <a:p>
            <a:fld id="{0E85EC94-9B43-482B-A0AF-0279838FDD8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27</a:t>
            </a:fld>
            <a:endParaRPr lang="de-DE"/>
          </a:p>
        </p:txBody>
      </p:sp>
    </p:spTree>
    <p:extLst>
      <p:ext uri="{BB962C8B-B14F-4D97-AF65-F5344CB8AC3E}">
        <p14:creationId xmlns:p14="http://schemas.microsoft.com/office/powerpoint/2010/main" val="246509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Werte aus anderen Feldern übernehmen</a:t>
            </a:r>
          </a:p>
        </p:txBody>
      </p:sp>
      <p:sp>
        <p:nvSpPr>
          <p:cNvPr id="3" name="Inhaltsplatzhalter 2"/>
          <p:cNvSpPr>
            <a:spLocks noGrp="1"/>
          </p:cNvSpPr>
          <p:nvPr>
            <p:ph idx="1"/>
          </p:nvPr>
        </p:nvSpPr>
        <p:spPr/>
        <p:txBody>
          <a:bodyPr>
            <a:normAutofit fontScale="92500" lnSpcReduction="20000"/>
          </a:bodyPr>
          <a:lstStyle/>
          <a:p>
            <a:r>
              <a:rPr lang="de-DE" dirty="0"/>
              <a:t>Es ist möglich, ein Feld im geöffneten Editor mit einem Wert eines anderen Feldes aus demselben oder einem anderen Editors zu füllen.</a:t>
            </a:r>
          </a:p>
          <a:p>
            <a:r>
              <a:rPr lang="de-DE" dirty="0"/>
              <a:t>Der Zusatz in </a:t>
            </a:r>
            <a:r>
              <a:rPr lang="de-DE" dirty="0" err="1"/>
              <a:t>row</a:t>
            </a:r>
            <a:r>
              <a:rPr lang="de-DE" dirty="0"/>
              <a:t> bezieht sich jeweils auf den gerade geöffneten Editor, in dem das Feld gefüllt werden soll.</a:t>
            </a:r>
          </a:p>
          <a:p>
            <a:pPr marL="342900" indent="-342900">
              <a:buFont typeface="+mj-lt"/>
              <a:buAutoNum type="arabicPeriod"/>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p>
          <a:p>
            <a:pPr marL="342900" indent="-342900">
              <a:buFont typeface="+mj-lt"/>
              <a:buAutoNum type="arabicPeriod"/>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a:p>
            <a:pPr marL="0" indent="0">
              <a:buNone/>
            </a:pPr>
            <a:endParaRPr lang="de-DE" dirty="0"/>
          </a:p>
          <a:p>
            <a:r>
              <a:rPr lang="de-DE" dirty="0"/>
              <a:t>Ein Feld in einer Zeile oder ein Feld im Maskenkopf eines Editors mit einem Feldwert aus einer Zeile oder dem Maskenkopf eines anderen Editors füllen.  Auch innerhalb eines Editors ist das möglich. </a:t>
            </a:r>
          </a:p>
          <a:p>
            <a:r>
              <a:rPr lang="de-DE" dirty="0"/>
              <a:t>Um auf ein </a:t>
            </a:r>
            <a:r>
              <a:rPr lang="de-DE" dirty="0" err="1"/>
              <a:t>Kopffeld</a:t>
            </a:r>
            <a:r>
              <a:rPr lang="de-DE" dirty="0"/>
              <a:t> zu referenzieren, setze </a:t>
            </a:r>
            <a:r>
              <a:rPr lang="de-DE" dirty="0" err="1"/>
              <a:t>row</a:t>
            </a:r>
            <a:r>
              <a:rPr lang="de-DE" dirty="0"/>
              <a:t> 0.</a:t>
            </a:r>
          </a:p>
          <a:p>
            <a:pPr marL="342900" indent="-342900">
              <a:buFont typeface="+mj-lt"/>
              <a:buAutoNum type="arabicPeriod" startAt="3"/>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p:txBody>
      </p:sp>
      <p:sp>
        <p:nvSpPr>
          <p:cNvPr id="4" name="Datumsplatzhalter 3"/>
          <p:cNvSpPr>
            <a:spLocks noGrp="1"/>
          </p:cNvSpPr>
          <p:nvPr>
            <p:ph type="dt" sz="half" idx="10"/>
          </p:nvPr>
        </p:nvSpPr>
        <p:spPr/>
        <p:txBody>
          <a:bodyPr/>
          <a:lstStyle/>
          <a:p>
            <a:fld id="{244D36E5-7E5D-43A7-982B-37D27EE4B813}"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28</a:t>
            </a:fld>
            <a:endParaRPr lang="de-DE"/>
          </a:p>
        </p:txBody>
      </p:sp>
    </p:spTree>
    <p:extLst>
      <p:ext uri="{BB962C8B-B14F-4D97-AF65-F5344CB8AC3E}">
        <p14:creationId xmlns:p14="http://schemas.microsoft.com/office/powerpoint/2010/main" val="184701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Aufgabe 5</a:t>
            </a:r>
          </a:p>
        </p:txBody>
      </p:sp>
      <p:sp>
        <p:nvSpPr>
          <p:cNvPr id="3" name="Inhaltsplatzhalter 2"/>
          <p:cNvSpPr>
            <a:spLocks noGrp="1"/>
          </p:cNvSpPr>
          <p:nvPr>
            <p:ph idx="1"/>
          </p:nvPr>
        </p:nvSpPr>
        <p:spPr/>
        <p:txBody>
          <a:bodyPr/>
          <a:lstStyle/>
          <a:p>
            <a:r>
              <a:rPr lang="de-DE" dirty="0"/>
              <a:t>Lege einen Fertigungsvorschlag an, der das Suchwort TEST_ hat. Setze in das Feld Verwendung den Wert aus dem angelegten Auftrag. Öffne die Fertigungsliste und setze die manuelle Entnahme für die Komponente. Gebe den Betriebsauftrag frei. </a:t>
            </a:r>
          </a:p>
          <a:p>
            <a:r>
              <a:rPr lang="de-DE" dirty="0"/>
              <a:t>Hinweis 2: Das Suchwort muss nach dem Öffnen der Fertigungsliste gesetzt werden, da es sich um ein Skip-Feld handelt.</a:t>
            </a:r>
          </a:p>
          <a:p>
            <a:r>
              <a:rPr lang="de-DE" dirty="0"/>
              <a:t>Hinweis 2: Beim Freigeben des FV öffnet sich ein Subeditor, der aber direkt wieder geschlossen werden kann.</a:t>
            </a:r>
          </a:p>
          <a:p>
            <a:endParaRPr lang="de-DE" dirty="0"/>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29</a:t>
            </a:fld>
            <a:endParaRPr lang="de-DE"/>
          </a:p>
        </p:txBody>
      </p:sp>
    </p:spTree>
    <p:extLst>
      <p:ext uri="{BB962C8B-B14F-4D97-AF65-F5344CB8AC3E}">
        <p14:creationId xmlns:p14="http://schemas.microsoft.com/office/powerpoint/2010/main" val="2551540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Editor über Selektionsstring öffnen</a:t>
            </a:r>
          </a:p>
        </p:txBody>
      </p:sp>
      <p:sp>
        <p:nvSpPr>
          <p:cNvPr id="3" name="Inhaltsplatzhalter 2"/>
          <p:cNvSpPr>
            <a:spLocks noGrp="1"/>
          </p:cNvSpPr>
          <p:nvPr>
            <p:ph idx="1"/>
          </p:nvPr>
        </p:nvSpPr>
        <p:spPr/>
        <p:txBody>
          <a:bodyPr/>
          <a:lstStyle/>
          <a:p>
            <a:r>
              <a:rPr lang="de-DE" dirty="0"/>
              <a:t>Kann ein Objekt nicht über das Suchwort oder über </a:t>
            </a:r>
            <a:r>
              <a:rPr lang="de-DE" dirty="0" err="1"/>
              <a:t>switch</a:t>
            </a:r>
            <a:r>
              <a:rPr lang="de-DE" dirty="0"/>
              <a:t>-Editor geöffnet werden, dann kann ein Objekt auch über einen Suchstring geöffnet werden. Dies ist vor allem bei Objekten relevant, die abgelegt sind.</a:t>
            </a:r>
          </a:p>
          <a:p>
            <a:r>
              <a:rPr lang="de-DE" dirty="0"/>
              <a:t>In die </a:t>
            </a:r>
            <a:r>
              <a:rPr lang="de-DE" dirty="0" err="1"/>
              <a:t>search</a:t>
            </a:r>
            <a:r>
              <a:rPr lang="de-DE" dirty="0"/>
              <a:t> </a:t>
            </a:r>
            <a:r>
              <a:rPr lang="de-DE" dirty="0" err="1"/>
              <a:t>criteria</a:t>
            </a:r>
            <a:r>
              <a:rPr lang="de-DE" dirty="0"/>
              <a:t> wird der Suchstring angegeben:</a:t>
            </a:r>
          </a:p>
          <a:p>
            <a:pPr marL="324000" lvl="1" indent="0">
              <a:buNone/>
            </a:pP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search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critera</a:t>
            </a:r>
            <a:r>
              <a:rPr lang="de-DE" dirty="0">
                <a:latin typeface="Courier New" panose="02070309020205020404" pitchFamily="49" charset="0"/>
                <a:cs typeface="Courier New" panose="02070309020205020404" pitchFamily="49" charset="0"/>
              </a:rPr>
              <a:t> "([^"]*)"</a:t>
            </a:r>
          </a:p>
          <a:p>
            <a:pPr marL="0" indent="0">
              <a:buNone/>
            </a:pPr>
            <a:endParaRPr lang="de-DE" dirty="0"/>
          </a:p>
          <a:p>
            <a:r>
              <a:rPr lang="de-DE" dirty="0"/>
              <a:t>Achtung: Der Selektionsausdruck muss immer genau einen einzigen Treffer zurückliefen, ansonsten kommt die Fehlermeldung "Suchbegriff nicht eindeutig“.</a:t>
            </a:r>
          </a:p>
          <a:p>
            <a:r>
              <a:rPr lang="de-DE" dirty="0"/>
              <a:t>Um dies zu umgehen folgenden Ausdruck in den Suchstring mit aufnehmen:</a:t>
            </a:r>
          </a:p>
          <a:p>
            <a:pPr marL="0" indent="0">
              <a:buNone/>
            </a:pPr>
            <a:r>
              <a:rPr lang="de-DE" dirty="0"/>
              <a:t>	</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maxordtreffer</a:t>
            </a:r>
            <a:r>
              <a:rPr lang="de-DE" dirty="0">
                <a:latin typeface="Courier New" panose="02070309020205020404" pitchFamily="49" charset="0"/>
                <a:cs typeface="Courier New" panose="02070309020205020404" pitchFamily="49" charset="0"/>
              </a:rPr>
              <a:t>=1</a:t>
            </a:r>
            <a:endParaRPr lang="de-DE" dirty="0"/>
          </a:p>
        </p:txBody>
      </p:sp>
      <p:sp>
        <p:nvSpPr>
          <p:cNvPr id="4" name="Datumsplatzhalter 3"/>
          <p:cNvSpPr>
            <a:spLocks noGrp="1"/>
          </p:cNvSpPr>
          <p:nvPr>
            <p:ph type="dt" sz="half" idx="10"/>
          </p:nvPr>
        </p:nvSpPr>
        <p:spPr/>
        <p:txBody>
          <a:bodyPr/>
          <a:lstStyle/>
          <a:p>
            <a:fld id="{F83BF3B5-DF40-4FB3-8143-0B38D05A0130}"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30</a:t>
            </a:fld>
            <a:endParaRPr lang="de-DE"/>
          </a:p>
        </p:txBody>
      </p:sp>
    </p:spTree>
    <p:extLst>
      <p:ext uri="{BB962C8B-B14F-4D97-AF65-F5344CB8AC3E}">
        <p14:creationId xmlns:p14="http://schemas.microsoft.com/office/powerpoint/2010/main" val="96009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Tippkommandos ausführen</a:t>
            </a:r>
          </a:p>
        </p:txBody>
      </p:sp>
      <p:sp>
        <p:nvSpPr>
          <p:cNvPr id="3" name="Inhaltsplatzhalter 2"/>
          <p:cNvSpPr>
            <a:spLocks noGrp="1"/>
          </p:cNvSpPr>
          <p:nvPr>
            <p:ph idx="1"/>
          </p:nvPr>
        </p:nvSpPr>
        <p:spPr/>
        <p:txBody>
          <a:bodyPr/>
          <a:lstStyle/>
          <a:p>
            <a:r>
              <a:rPr lang="de-DE" dirty="0"/>
              <a:t>Tippkommandos werden mit folgendem </a:t>
            </a:r>
            <a:r>
              <a:rPr lang="de-DE" dirty="0" err="1"/>
              <a:t>Step</a:t>
            </a:r>
            <a:r>
              <a:rPr lang="de-DE" dirty="0"/>
              <a:t> geöffnet. Dabei wird der Name des Tippkommandos eingesetzt: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tip</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arguments</a:t>
            </a:r>
            <a:r>
              <a:rPr lang="de-DE" dirty="0">
                <a:latin typeface="Courier New" panose="02070309020205020404" pitchFamily="49" charset="0"/>
                <a:cs typeface="Courier New" panose="02070309020205020404" pitchFamily="49" charset="0"/>
              </a:rPr>
              <a:t> 	"([^"]*)"</a:t>
            </a:r>
          </a:p>
          <a:p>
            <a:endParaRPr lang="de-DE" dirty="0"/>
          </a:p>
          <a:p>
            <a:r>
              <a:rPr lang="de-DE" dirty="0"/>
              <a:t>Alle Kommandos werden mit dem FOP (s3sys/) KOMLIST aufgelistet.</a:t>
            </a:r>
          </a:p>
          <a:p>
            <a:endParaRPr lang="de-DE" dirty="0"/>
          </a:p>
        </p:txBody>
      </p:sp>
      <p:sp>
        <p:nvSpPr>
          <p:cNvPr id="4" name="Datumsplatzhalter 3"/>
          <p:cNvSpPr>
            <a:spLocks noGrp="1"/>
          </p:cNvSpPr>
          <p:nvPr>
            <p:ph type="dt" sz="half" idx="10"/>
          </p:nvPr>
        </p:nvSpPr>
        <p:spPr/>
        <p:txBody>
          <a:bodyPr/>
          <a:lstStyle/>
          <a:p>
            <a:fld id="{FB51D091-A599-4FE9-A069-EFEB1232563B}"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31</a:t>
            </a:fld>
            <a:endParaRPr lang="de-DE"/>
          </a:p>
        </p:txBody>
      </p:sp>
    </p:spTree>
    <p:extLst>
      <p:ext uri="{BB962C8B-B14F-4D97-AF65-F5344CB8AC3E}">
        <p14:creationId xmlns:p14="http://schemas.microsoft.com/office/powerpoint/2010/main" val="365583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Referenzieren über Editor-ID</a:t>
            </a:r>
          </a:p>
        </p:txBody>
      </p:sp>
      <p:sp>
        <p:nvSpPr>
          <p:cNvPr id="3" name="Inhaltsplatzhalter 2"/>
          <p:cNvSpPr>
            <a:spLocks noGrp="1"/>
          </p:cNvSpPr>
          <p:nvPr>
            <p:ph idx="1"/>
          </p:nvPr>
        </p:nvSpPr>
        <p:spPr/>
        <p:txBody>
          <a:bodyPr/>
          <a:lstStyle/>
          <a:p>
            <a:r>
              <a:rPr lang="en-US" dirty="0" err="1"/>
              <a:t>Für</a:t>
            </a:r>
            <a:r>
              <a:rPr lang="en-US" dirty="0"/>
              <a:t> das </a:t>
            </a:r>
            <a:r>
              <a:rPr lang="en-US" dirty="0" err="1"/>
              <a:t>Setzen</a:t>
            </a:r>
            <a:r>
              <a:rPr lang="en-US" dirty="0"/>
              <a:t> der ID </a:t>
            </a:r>
            <a:r>
              <a:rPr lang="en-US" dirty="0" err="1"/>
              <a:t>eines</a:t>
            </a:r>
            <a:r>
              <a:rPr lang="en-US" dirty="0"/>
              <a:t> </a:t>
            </a:r>
            <a:r>
              <a:rPr lang="en-US" dirty="0" err="1"/>
              <a:t>Objektes</a:t>
            </a:r>
            <a:r>
              <a:rPr lang="en-US" dirty="0"/>
              <a:t> </a:t>
            </a:r>
            <a:r>
              <a:rPr lang="en-US" dirty="0" err="1"/>
              <a:t>aus</a:t>
            </a:r>
            <a:r>
              <a:rPr lang="en-US" dirty="0"/>
              <a:t> </a:t>
            </a:r>
            <a:r>
              <a:rPr lang="en-US" dirty="0" err="1"/>
              <a:t>dem</a:t>
            </a:r>
            <a:r>
              <a:rPr lang="en-US" dirty="0"/>
              <a:t> </a:t>
            </a:r>
            <a:r>
              <a:rPr lang="en-US" dirty="0" err="1"/>
              <a:t>selben</a:t>
            </a:r>
            <a:r>
              <a:rPr lang="en-US" dirty="0"/>
              <a:t> </a:t>
            </a:r>
            <a:r>
              <a:rPr lang="en-US" dirty="0" err="1"/>
              <a:t>oder</a:t>
            </a:r>
            <a:r>
              <a:rPr lang="en-US" dirty="0"/>
              <a:t> </a:t>
            </a:r>
            <a:r>
              <a:rPr lang="en-US" dirty="0" err="1"/>
              <a:t>einem</a:t>
            </a:r>
            <a:r>
              <a:rPr lang="en-US" dirty="0"/>
              <a:t> </a:t>
            </a:r>
            <a:r>
              <a:rPr lang="en-US" dirty="0" err="1"/>
              <a:t>anderen</a:t>
            </a:r>
            <a:r>
              <a:rPr lang="en-US" dirty="0"/>
              <a:t> Editor </a:t>
            </a:r>
            <a:r>
              <a:rPr lang="en-US" dirty="0" err="1"/>
              <a:t>stehen</a:t>
            </a:r>
            <a:r>
              <a:rPr lang="en-US" dirty="0"/>
              <a:t> </a:t>
            </a:r>
            <a:r>
              <a:rPr lang="en-US" dirty="0" err="1"/>
              <a:t>eigene</a:t>
            </a:r>
            <a:r>
              <a:rPr lang="en-US" dirty="0"/>
              <a:t> Steps </a:t>
            </a:r>
            <a:r>
              <a:rPr lang="en-US" dirty="0" err="1"/>
              <a:t>zur</a:t>
            </a:r>
            <a:r>
              <a:rPr lang="en-US" dirty="0"/>
              <a:t> </a:t>
            </a:r>
            <a:r>
              <a:rPr lang="en-US" dirty="0" err="1"/>
              <a:t>Verfügung</a:t>
            </a:r>
            <a:r>
              <a:rPr lang="en-US" dirty="0"/>
              <a:t>:</a:t>
            </a:r>
          </a:p>
          <a:p>
            <a:pPr marL="342900" indent="-342900">
              <a:buFont typeface="+mj-lt"/>
              <a:buAutoNum type="arabicPeriod"/>
            </a:pPr>
            <a:r>
              <a:rPr lang="en-US" dirty="0">
                <a:latin typeface="Courier New" panose="02070309020205020404" pitchFamily="49" charset="0"/>
                <a:cs typeface="Courier New" panose="02070309020205020404" pitchFamily="49" charset="0"/>
              </a:rPr>
              <a:t>And I set field "([^"]*)" to id from editor "([^"]*)"</a:t>
            </a:r>
          </a:p>
          <a:p>
            <a:pPr marL="342900" indent="-342900">
              <a:buFont typeface="+mj-lt"/>
              <a:buAutoNum type="arabicPeriod"/>
            </a:pPr>
            <a:r>
              <a:rPr lang="en-US" dirty="0">
                <a:latin typeface="Courier New" panose="02070309020205020404" pitchFamily="49" charset="0"/>
                <a:cs typeface="Courier New" panose="02070309020205020404" pitchFamily="49" charset="0"/>
              </a:rPr>
              <a:t>And I set field "([^"]*)" to id from editor "([^"]*)" in row (\d+|!</a:t>
            </a:r>
            <a:r>
              <a:rPr lang="en-US" dirty="0" err="1">
                <a:latin typeface="Courier New" panose="02070309020205020404" pitchFamily="49" charset="0"/>
                <a:cs typeface="Courier New" panose="02070309020205020404" pitchFamily="49" charset="0"/>
              </a:rPr>
              <a:t>lastRow</a:t>
            </a:r>
            <a:r>
              <a:rPr lang="en-US" dirty="0">
                <a:latin typeface="Courier New" panose="02070309020205020404" pitchFamily="49" charset="0"/>
                <a:cs typeface="Courier New" panose="02070309020205020404" pitchFamily="49" charset="0"/>
              </a:rPr>
              <a:t>)</a:t>
            </a:r>
          </a:p>
          <a:p>
            <a:endParaRPr lang="de-DE" dirty="0"/>
          </a:p>
          <a:p>
            <a:endParaRPr lang="de-DE" dirty="0"/>
          </a:p>
        </p:txBody>
      </p:sp>
      <p:sp>
        <p:nvSpPr>
          <p:cNvPr id="4" name="Datumsplatzhalter 3"/>
          <p:cNvSpPr>
            <a:spLocks noGrp="1"/>
          </p:cNvSpPr>
          <p:nvPr>
            <p:ph type="dt" sz="half" idx="10"/>
          </p:nvPr>
        </p:nvSpPr>
        <p:spPr/>
        <p:txBody>
          <a:bodyPr/>
          <a:lstStyle/>
          <a:p>
            <a:fld id="{A287A623-0707-43D4-AF06-B4601B98B3A9}"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32</a:t>
            </a:fld>
            <a:endParaRPr lang="de-DE"/>
          </a:p>
        </p:txBody>
      </p:sp>
    </p:spTree>
    <p:extLst>
      <p:ext uri="{BB962C8B-B14F-4D97-AF65-F5344CB8AC3E}">
        <p14:creationId xmlns:p14="http://schemas.microsoft.com/office/powerpoint/2010/main" val="889252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t>
            </a:r>
            <a:r>
              <a:rPr lang="de-DE" dirty="0" err="1"/>
              <a:t>Editor^Feldname</a:t>
            </a:r>
            <a:endParaRPr lang="de-DE" dirty="0"/>
          </a:p>
        </p:txBody>
      </p:sp>
      <p:sp>
        <p:nvSpPr>
          <p:cNvPr id="3" name="Inhaltsplatzhalter 2"/>
          <p:cNvSpPr>
            <a:spLocks noGrp="1"/>
          </p:cNvSpPr>
          <p:nvPr>
            <p:ph idx="1"/>
          </p:nvPr>
        </p:nvSpPr>
        <p:spPr/>
        <p:txBody>
          <a:bodyPr/>
          <a:lstStyle/>
          <a:p>
            <a:r>
              <a:rPr lang="de-DE" dirty="0"/>
              <a:t>Um Feldwerte aus anderen Editoren zu setzen und zu vergleichen gibt es auch eine Kurzschreibform:</a:t>
            </a:r>
          </a:p>
          <a:p>
            <a:pPr marL="0" indent="0">
              <a:buNone/>
            </a:pPr>
            <a:r>
              <a:rPr lang="de-DE" dirty="0"/>
              <a:t>	</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Editor^Feldname</a:t>
            </a:r>
            <a:endParaRPr lang="de-DE" dirty="0">
              <a:latin typeface="Courier New" panose="02070309020205020404" pitchFamily="49" charset="0"/>
              <a:cs typeface="Courier New" panose="02070309020205020404" pitchFamily="49" charset="0"/>
            </a:endParaRPr>
          </a:p>
          <a:p>
            <a:pPr marL="0" indent="0">
              <a:buNone/>
            </a:pPr>
            <a:endParaRPr lang="de-DE" dirty="0">
              <a:latin typeface="Courier New" panose="02070309020205020404" pitchFamily="49" charset="0"/>
              <a:cs typeface="Courier New" panose="02070309020205020404" pitchFamily="49" charset="0"/>
            </a:endParaRPr>
          </a:p>
          <a:p>
            <a:r>
              <a:rPr lang="de-DE" dirty="0"/>
              <a:t>Über das ! wird der Editor angesprochen, daran können alle weiteren Felder in der Datenbank angeknüpft werden.</a:t>
            </a:r>
          </a:p>
          <a:p>
            <a:r>
              <a:rPr lang="de-DE" dirty="0"/>
              <a:t>Dies ist auch in der Tabellenschreibweise nutzbar.</a:t>
            </a:r>
          </a:p>
        </p:txBody>
      </p:sp>
      <p:sp>
        <p:nvSpPr>
          <p:cNvPr id="4" name="Datumsplatzhalter 3"/>
          <p:cNvSpPr>
            <a:spLocks noGrp="1"/>
          </p:cNvSpPr>
          <p:nvPr>
            <p:ph type="dt" sz="half" idx="10"/>
          </p:nvPr>
        </p:nvSpPr>
        <p:spPr/>
        <p:txBody>
          <a:bodyPr/>
          <a:lstStyle/>
          <a:p>
            <a:fld id="{82BF6393-7B10-4BC2-A7ED-3A0A3214EFDD}"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33</a:t>
            </a:fld>
            <a:endParaRPr lang="de-DE"/>
          </a:p>
        </p:txBody>
      </p:sp>
    </p:spTree>
    <p:extLst>
      <p:ext uri="{BB962C8B-B14F-4D97-AF65-F5344CB8AC3E}">
        <p14:creationId xmlns:p14="http://schemas.microsoft.com/office/powerpoint/2010/main" val="150677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Aufgabe 6</a:t>
            </a:r>
          </a:p>
        </p:txBody>
      </p:sp>
      <p:sp>
        <p:nvSpPr>
          <p:cNvPr id="3" name="Inhaltsplatzhalter 2"/>
          <p:cNvSpPr>
            <a:spLocks noGrp="1"/>
          </p:cNvSpPr>
          <p:nvPr>
            <p:ph idx="1"/>
          </p:nvPr>
        </p:nvSpPr>
        <p:spPr/>
        <p:txBody>
          <a:bodyPr/>
          <a:lstStyle/>
          <a:p>
            <a:r>
              <a:rPr lang="de-DE" dirty="0"/>
              <a:t>Erstelle eine Materialentnahme für das gesamte Material und eine Rückmeldung über die gesamte Menge des Arbeitsschein 1 für deinen Betriebsauftrag. </a:t>
            </a:r>
          </a:p>
          <a:p>
            <a:endParaRPr lang="de-DE" dirty="0"/>
          </a:p>
          <a:p>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tip</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arguments</a:t>
            </a:r>
            <a:r>
              <a:rPr lang="de-DE" dirty="0">
                <a:latin typeface="Courier New" panose="02070309020205020404" pitchFamily="49" charset="0"/>
                <a:cs typeface="Courier New" panose="02070309020205020404" pitchFamily="49" charset="0"/>
              </a:rPr>
              <a:t> 	"([^"]*)"</a:t>
            </a:r>
            <a:endParaRPr lang="de-DE" dirty="0"/>
          </a:p>
          <a:p>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open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search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critera</a:t>
            </a:r>
            <a:r>
              <a:rPr lang="de-DE" dirty="0">
                <a:latin typeface="Courier New" panose="02070309020205020404" pitchFamily="49" charset="0"/>
                <a:cs typeface="Courier New" panose="02070309020205020404" pitchFamily="49" charset="0"/>
              </a:rPr>
              <a:t> "([^"]*)"</a:t>
            </a:r>
            <a:endParaRPr lang="de-DE" dirty="0"/>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34</a:t>
            </a:fld>
            <a:endParaRPr lang="de-DE"/>
          </a:p>
        </p:txBody>
      </p:sp>
    </p:spTree>
    <p:extLst>
      <p:ext uri="{BB962C8B-B14F-4D97-AF65-F5344CB8AC3E}">
        <p14:creationId xmlns:p14="http://schemas.microsoft.com/office/powerpoint/2010/main" val="1426867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Infosysteme Nutzen</a:t>
            </a:r>
          </a:p>
        </p:txBody>
      </p:sp>
      <p:sp>
        <p:nvSpPr>
          <p:cNvPr id="3" name="Inhaltsplatzhalter 2"/>
          <p:cNvSpPr>
            <a:spLocks noGrp="1"/>
          </p:cNvSpPr>
          <p:nvPr>
            <p:ph idx="1"/>
          </p:nvPr>
        </p:nvSpPr>
        <p:spPr/>
        <p:txBody>
          <a:bodyPr/>
          <a:lstStyle/>
          <a:p>
            <a:r>
              <a:rPr lang="de-DE" dirty="0"/>
              <a:t>Infosysteme werden mit folgendem </a:t>
            </a:r>
            <a:r>
              <a:rPr lang="de-DE" dirty="0" err="1"/>
              <a:t>Step</a:t>
            </a:r>
            <a:r>
              <a:rPr lang="de-DE" dirty="0"/>
              <a:t> geöffnet, dabei wird der Name des Infosystems eingesetzt:</a:t>
            </a:r>
          </a:p>
          <a:p>
            <a:pPr marL="0" indent="0">
              <a:buNone/>
            </a:pPr>
            <a:r>
              <a:rPr lang="de-DE" dirty="0">
                <a:latin typeface="Courier New" panose="02070309020205020404" pitchFamily="49" charset="0"/>
                <a:cs typeface="Courier New" panose="02070309020205020404" pitchFamily="49" charset="0"/>
              </a:rPr>
              <a:t>	I open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infosystem</a:t>
            </a:r>
            <a:r>
              <a:rPr lang="de-DE" dirty="0">
                <a:latin typeface="Courier New" panose="02070309020205020404" pitchFamily="49" charset="0"/>
                <a:cs typeface="Courier New" panose="02070309020205020404" pitchFamily="49" charset="0"/>
              </a:rPr>
              <a:t> "([^"]*)"</a:t>
            </a:r>
          </a:p>
          <a:p>
            <a:pPr marL="0" indent="0">
              <a:buNone/>
            </a:pPr>
            <a:endParaRPr lang="de-DE" dirty="0"/>
          </a:p>
        </p:txBody>
      </p:sp>
      <p:sp>
        <p:nvSpPr>
          <p:cNvPr id="4" name="Datumsplatzhalter 3"/>
          <p:cNvSpPr>
            <a:spLocks noGrp="1"/>
          </p:cNvSpPr>
          <p:nvPr>
            <p:ph type="dt" sz="half" idx="10"/>
          </p:nvPr>
        </p:nvSpPr>
        <p:spPr/>
        <p:txBody>
          <a:bodyPr/>
          <a:lstStyle/>
          <a:p>
            <a:fld id="{47F06B62-26ED-41DF-AE64-67F6DD24234D}"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35</a:t>
            </a:fld>
            <a:endParaRPr lang="de-DE"/>
          </a:p>
        </p:txBody>
      </p:sp>
    </p:spTree>
    <p:extLst>
      <p:ext uri="{BB962C8B-B14F-4D97-AF65-F5344CB8AC3E}">
        <p14:creationId xmlns:p14="http://schemas.microsoft.com/office/powerpoint/2010/main" val="2472392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Werte über Editoren hinweg  vergleichen I</a:t>
            </a:r>
          </a:p>
        </p:txBody>
      </p:sp>
      <p:sp>
        <p:nvSpPr>
          <p:cNvPr id="3" name="Inhaltsplatzhalter 2"/>
          <p:cNvSpPr>
            <a:spLocks noGrp="1"/>
          </p:cNvSpPr>
          <p:nvPr>
            <p:ph idx="1"/>
          </p:nvPr>
        </p:nvSpPr>
        <p:spPr/>
        <p:txBody>
          <a:bodyPr>
            <a:normAutofit fontScale="92500" lnSpcReduction="20000"/>
          </a:bodyPr>
          <a:lstStyle/>
          <a:p>
            <a:r>
              <a:rPr lang="de-DE" dirty="0"/>
              <a:t>Werte vergleichen; der Zusatz </a:t>
            </a:r>
            <a:r>
              <a:rPr lang="de-DE" i="1" dirty="0"/>
              <a:t>in </a:t>
            </a:r>
            <a:r>
              <a:rPr lang="de-DE" i="1" dirty="0" err="1"/>
              <a:t>row</a:t>
            </a:r>
            <a:r>
              <a:rPr lang="de-DE" i="1" dirty="0"/>
              <a:t> </a:t>
            </a:r>
            <a:r>
              <a:rPr lang="de-DE" dirty="0"/>
              <a:t>bezieht sich bei den ersten beiden </a:t>
            </a:r>
            <a:r>
              <a:rPr lang="de-DE" dirty="0" err="1"/>
              <a:t>Steps</a:t>
            </a:r>
            <a:r>
              <a:rPr lang="de-DE" dirty="0"/>
              <a:t> auf den gerade geöffneten Editor, in dem der Feldwert verglichen wird. Im letzten </a:t>
            </a:r>
            <a:r>
              <a:rPr lang="de-DE" dirty="0" err="1"/>
              <a:t>Step</a:t>
            </a:r>
            <a:r>
              <a:rPr lang="de-DE" dirty="0"/>
              <a:t> bezieht es sich zuerst auf den gerade geöffneten und zuletzt auf den Editor, in dem das Vergleichsfeld ist.</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has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value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equal</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has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value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equal</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has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value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equal</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p>
          <a:p>
            <a:pPr marL="342900" indent="-342900">
              <a:buFont typeface="+mj-lt"/>
              <a:buAutoNum type="arabicPeriod"/>
            </a:pPr>
            <a:endParaRPr lang="de-DE" dirty="0">
              <a:latin typeface="Courier New" panose="02070309020205020404" pitchFamily="49" charset="0"/>
              <a:cs typeface="Courier New" panose="02070309020205020404" pitchFamily="49" charset="0"/>
            </a:endParaRPr>
          </a:p>
          <a:p>
            <a:r>
              <a:rPr lang="de-DE" dirty="0"/>
              <a:t>Vom aktuellen Editor einen Feldwert in einem anderen Editor prüfen, ohne den aktuellen Editor zu verlassen und den anderen zu öffnen:</a:t>
            </a:r>
          </a:p>
          <a:p>
            <a:pPr marL="342900" indent="-342900">
              <a:buFont typeface="+mj-lt"/>
              <a:buAutoNum type="arabicPeriod" startAt="4"/>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has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value</a:t>
            </a:r>
            <a:r>
              <a:rPr lang="de-DE" dirty="0">
                <a:latin typeface="Courier New" panose="02070309020205020404" pitchFamily="49" charset="0"/>
                <a:cs typeface="Courier New" panose="02070309020205020404" pitchFamily="49" charset="0"/>
              </a:rPr>
              <a:t> "([^"]*)" </a:t>
            </a:r>
          </a:p>
        </p:txBody>
      </p:sp>
      <p:sp>
        <p:nvSpPr>
          <p:cNvPr id="4" name="Datumsplatzhalter 3"/>
          <p:cNvSpPr>
            <a:spLocks noGrp="1"/>
          </p:cNvSpPr>
          <p:nvPr>
            <p:ph type="dt" sz="half" idx="10"/>
          </p:nvPr>
        </p:nvSpPr>
        <p:spPr/>
        <p:txBody>
          <a:bodyPr/>
          <a:lstStyle/>
          <a:p>
            <a:fld id="{0F02B32C-551B-42A4-822F-2174B424AEEF}"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36</a:t>
            </a:fld>
            <a:endParaRPr lang="de-DE"/>
          </a:p>
        </p:txBody>
      </p:sp>
    </p:spTree>
    <p:extLst>
      <p:ext uri="{BB962C8B-B14F-4D97-AF65-F5344CB8AC3E}">
        <p14:creationId xmlns:p14="http://schemas.microsoft.com/office/powerpoint/2010/main" val="3258360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Werte über Editoren hinweg  vergleichen </a:t>
            </a:r>
            <a:r>
              <a:rPr lang="de-DE" dirty="0" err="1"/>
              <a:t>iI</a:t>
            </a:r>
            <a:endParaRPr lang="de-DE" dirty="0"/>
          </a:p>
        </p:txBody>
      </p:sp>
      <p:sp>
        <p:nvSpPr>
          <p:cNvPr id="3" name="Inhaltsplatzhalter 2"/>
          <p:cNvSpPr>
            <a:spLocks noGrp="1"/>
          </p:cNvSpPr>
          <p:nvPr>
            <p:ph idx="1"/>
          </p:nvPr>
        </p:nvSpPr>
        <p:spPr/>
        <p:txBody>
          <a:bodyPr>
            <a:normAutofit/>
          </a:bodyPr>
          <a:lstStyle/>
          <a:p>
            <a:r>
              <a:rPr lang="de-DE" dirty="0"/>
              <a:t>Gibt das Einfügen eines Wertes aus einem anderen Editor einen Fehler zurück, wird das mit folgendem </a:t>
            </a:r>
            <a:r>
              <a:rPr lang="de-DE" dirty="0" err="1"/>
              <a:t>Step</a:t>
            </a:r>
            <a:r>
              <a:rPr lang="de-DE" dirty="0"/>
              <a:t> </a:t>
            </a:r>
            <a:r>
              <a:rPr lang="de-DE" dirty="0" err="1"/>
              <a:t>gestestet</a:t>
            </a:r>
            <a:r>
              <a:rPr lang="de-DE" dirty="0"/>
              <a:t>:</a:t>
            </a:r>
          </a:p>
          <a:p>
            <a:pPr marL="342900" indent="-342900">
              <a:buFont typeface="+mj-lt"/>
              <a:buAutoNum type="arabicPeriod" startAt="5"/>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setting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p>
          <a:p>
            <a:pPr marL="342900" indent="-342900">
              <a:buFont typeface="+mj-lt"/>
              <a:buAutoNum type="arabicPeriod" startAt="4"/>
            </a:pPr>
            <a:endParaRPr lang="de-DE" dirty="0">
              <a:latin typeface="Courier New" panose="02070309020205020404" pitchFamily="49" charset="0"/>
              <a:cs typeface="Courier New" panose="02070309020205020404" pitchFamily="49" charset="0"/>
            </a:endParaRPr>
          </a:p>
          <a:p>
            <a:r>
              <a:rPr lang="de-DE" dirty="0"/>
              <a:t>Gibt das Einfügen eines Wertes aus einem anderen Editor einen Fehler zurück, wird das mit folgendem </a:t>
            </a:r>
            <a:r>
              <a:rPr lang="de-DE" dirty="0" err="1"/>
              <a:t>Step</a:t>
            </a:r>
            <a:r>
              <a:rPr lang="de-DE" dirty="0"/>
              <a:t> </a:t>
            </a:r>
            <a:r>
              <a:rPr lang="de-DE" dirty="0" err="1"/>
              <a:t>gestestet</a:t>
            </a:r>
            <a:r>
              <a:rPr lang="de-DE" dirty="0"/>
              <a:t>:</a:t>
            </a:r>
          </a:p>
          <a:p>
            <a:pPr marL="342900" indent="-342900">
              <a:buFont typeface="+mj-lt"/>
              <a:buAutoNum type="arabicPeriod" startAt="6"/>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setting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p>
        </p:txBody>
      </p:sp>
      <p:sp>
        <p:nvSpPr>
          <p:cNvPr id="4" name="Datumsplatzhalter 3"/>
          <p:cNvSpPr>
            <a:spLocks noGrp="1"/>
          </p:cNvSpPr>
          <p:nvPr>
            <p:ph type="dt" sz="half" idx="10"/>
          </p:nvPr>
        </p:nvSpPr>
        <p:spPr/>
        <p:txBody>
          <a:bodyPr/>
          <a:lstStyle/>
          <a:p>
            <a:fld id="{0F02B32C-551B-42A4-822F-2174B424AEEF}"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37</a:t>
            </a:fld>
            <a:endParaRPr lang="de-DE"/>
          </a:p>
        </p:txBody>
      </p:sp>
    </p:spTree>
    <p:extLst>
      <p:ext uri="{BB962C8B-B14F-4D97-AF65-F5344CB8AC3E}">
        <p14:creationId xmlns:p14="http://schemas.microsoft.com/office/powerpoint/2010/main" val="751767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Auf Dialoge antworten</a:t>
            </a:r>
          </a:p>
        </p:txBody>
      </p:sp>
      <p:sp>
        <p:nvSpPr>
          <p:cNvPr id="3" name="Inhaltsplatzhalter 2"/>
          <p:cNvSpPr>
            <a:spLocks noGrp="1"/>
          </p:cNvSpPr>
          <p:nvPr>
            <p:ph idx="1"/>
          </p:nvPr>
        </p:nvSpPr>
        <p:spPr/>
        <p:txBody>
          <a:bodyPr/>
          <a:lstStyle/>
          <a:p>
            <a:r>
              <a:rPr lang="de-DE" dirty="0"/>
              <a:t>Es kommt vor, dass auf Dialoge geantwortet werden muss. Z.B. wird beim Buchen einer Einkaufsrechnung gefragt, ob die Rechnungsabschlusspositionen ergänzt werden sollen.</a:t>
            </a:r>
          </a:p>
          <a:p>
            <a:pPr marL="0" indent="0">
              <a:buNone/>
            </a:pPr>
            <a:endParaRPr lang="de-DE" dirty="0"/>
          </a:p>
          <a:p>
            <a:pPr marL="0" indent="0">
              <a:buNone/>
            </a:pPr>
            <a:endParaRPr lang="de-DE" dirty="0"/>
          </a:p>
          <a:p>
            <a:pPr marL="0" indent="0">
              <a:buNone/>
            </a:pPr>
            <a:endParaRPr lang="de-DE" dirty="0"/>
          </a:p>
          <a:p>
            <a:pPr marL="0" indent="0">
              <a:buNone/>
            </a:pPr>
            <a:endParaRPr lang="de-DE" dirty="0"/>
          </a:p>
          <a:p>
            <a:r>
              <a:rPr lang="de-DE" dirty="0"/>
              <a:t>Die ID des Dialogs wird analog der ID-Suche für Fehlermeldungen durchgeführt Wird auf einen Dialog geantwortet, so muss dieser auch erscheinen. </a:t>
            </a:r>
          </a:p>
          <a:p>
            <a:r>
              <a:rPr lang="de-DE" dirty="0"/>
              <a:t>Kommt der erwartete Dialog nicht scheitert der Test mit "Dialog </a:t>
            </a:r>
            <a:r>
              <a:rPr lang="de-DE" dirty="0" err="1"/>
              <a:t>answer</a:t>
            </a:r>
            <a:r>
              <a:rPr lang="de-DE" dirty="0"/>
              <a:t> was </a:t>
            </a:r>
            <a:r>
              <a:rPr lang="de-DE" dirty="0" err="1"/>
              <a:t>given</a:t>
            </a:r>
            <a:r>
              <a:rPr lang="de-DE" dirty="0"/>
              <a:t> but not </a:t>
            </a:r>
            <a:r>
              <a:rPr lang="de-DE" dirty="0" err="1"/>
              <a:t>used</a:t>
            </a:r>
            <a:r>
              <a:rPr lang="de-DE" dirty="0"/>
              <a:t>!".</a:t>
            </a:r>
          </a:p>
          <a:p>
            <a:endParaRPr lang="de-DE" dirty="0"/>
          </a:p>
        </p:txBody>
      </p:sp>
      <p:sp>
        <p:nvSpPr>
          <p:cNvPr id="6" name="Textfeld 5"/>
          <p:cNvSpPr txBox="1"/>
          <p:nvPr/>
        </p:nvSpPr>
        <p:spPr>
          <a:xfrm>
            <a:off x="936305" y="3096317"/>
            <a:ext cx="10319387" cy="92333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de-DE" dirty="0"/>
              <a:t>Hier wird die Dialogantwort und die Dialog-ID </a:t>
            </a:r>
            <a:r>
              <a:rPr lang="de-DE" b="1" dirty="0"/>
              <a:t>vor die Aktion </a:t>
            </a:r>
            <a:r>
              <a:rPr lang="de-DE" dirty="0"/>
              <a:t>(</a:t>
            </a:r>
            <a:r>
              <a:rPr lang="de-DE" dirty="0" err="1"/>
              <a:t>Step</a:t>
            </a:r>
            <a:r>
              <a:rPr lang="de-DE" dirty="0"/>
              <a:t>) geschrieben, die den Dialog auslöst:</a:t>
            </a:r>
          </a:p>
          <a:p>
            <a:pPr marL="324000" lvl="1" indent="0">
              <a:buNone/>
            </a:pPr>
            <a:endParaRPr lang="de-DE" dirty="0">
              <a:latin typeface="Courier New" panose="02070309020205020404" pitchFamily="49" charset="0"/>
              <a:cs typeface="Courier New" panose="02070309020205020404" pitchFamily="49" charset="0"/>
            </a:endParaRPr>
          </a:p>
          <a:p>
            <a:pPr marL="324000" lvl="1" indent="0">
              <a:buNone/>
            </a:pP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respond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answer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dialog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id</a:t>
            </a:r>
            <a:r>
              <a:rPr lang="de-DE" dirty="0">
                <a:latin typeface="Courier New" panose="02070309020205020404" pitchFamily="49" charset="0"/>
                <a:cs typeface="Courier New" panose="02070309020205020404" pitchFamily="49" charset="0"/>
              </a:rPr>
              <a:t> "([^"]*)"</a:t>
            </a:r>
          </a:p>
        </p:txBody>
      </p:sp>
      <p:sp>
        <p:nvSpPr>
          <p:cNvPr id="4" name="Datumsplatzhalter 3"/>
          <p:cNvSpPr>
            <a:spLocks noGrp="1"/>
          </p:cNvSpPr>
          <p:nvPr>
            <p:ph type="dt" sz="half" idx="10"/>
          </p:nvPr>
        </p:nvSpPr>
        <p:spPr/>
        <p:txBody>
          <a:bodyPr/>
          <a:lstStyle/>
          <a:p>
            <a:fld id="{2C74359E-6DF0-4159-9ED0-E958B536346F}"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38</a:t>
            </a:fld>
            <a:endParaRPr lang="de-DE"/>
          </a:p>
        </p:txBody>
      </p:sp>
    </p:spTree>
    <p:extLst>
      <p:ext uri="{BB962C8B-B14F-4D97-AF65-F5344CB8AC3E}">
        <p14:creationId xmlns:p14="http://schemas.microsoft.com/office/powerpoint/2010/main" val="211050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Aufgabe 7</a:t>
            </a:r>
          </a:p>
        </p:txBody>
      </p:sp>
      <p:sp>
        <p:nvSpPr>
          <p:cNvPr id="3" name="Inhaltsplatzhalter 2"/>
          <p:cNvSpPr>
            <a:spLocks noGrp="1"/>
          </p:cNvSpPr>
          <p:nvPr>
            <p:ph idx="1"/>
          </p:nvPr>
        </p:nvSpPr>
        <p:spPr/>
        <p:txBody>
          <a:bodyPr>
            <a:normAutofit lnSpcReduction="10000"/>
          </a:bodyPr>
          <a:lstStyle/>
          <a:p>
            <a:r>
              <a:rPr lang="de-DE" dirty="0"/>
              <a:t>Buche den zweiten Arbeitsschein deines Betriebsauftrags, der damit dann abgeschlossen ist. Öffne das Lagerbewegungsjournal und prüfe die Buchungen zum Arbeitsschein 1 (Artikel, Mengen, Detaillierte Buchungsursachen).</a:t>
            </a:r>
          </a:p>
          <a:p>
            <a:r>
              <a:rPr lang="de-DE" dirty="0"/>
              <a:t>Prüfe, dass der Vorgang in der Zeile der </a:t>
            </a:r>
            <a:r>
              <a:rPr lang="de-DE" dirty="0" err="1"/>
              <a:t>Gutmenge</a:t>
            </a:r>
            <a:r>
              <a:rPr lang="de-DE" dirty="0"/>
              <a:t> tatsächlich auf die gebuchte Rückmeldung verweist.</a:t>
            </a:r>
          </a:p>
          <a:p>
            <a:r>
              <a:rPr lang="de-DE" dirty="0"/>
              <a:t>Erstelle eine Rechnung aus deinem Auftrag und buche sie.</a:t>
            </a:r>
          </a:p>
          <a:p>
            <a:endParaRPr lang="de-DE" dirty="0"/>
          </a:p>
          <a:p>
            <a:r>
              <a:rPr lang="de-DE" dirty="0">
                <a:latin typeface="Courier New" panose="02070309020205020404" pitchFamily="49" charset="0"/>
                <a:cs typeface="Courier New" panose="02070309020205020404" pitchFamily="49" charset="0"/>
              </a:rPr>
              <a:t>I open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infosystem</a:t>
            </a:r>
            <a:r>
              <a:rPr lang="de-DE" dirty="0">
                <a:latin typeface="Courier New" panose="02070309020205020404" pitchFamily="49" charset="0"/>
                <a:cs typeface="Courier New" panose="02070309020205020404" pitchFamily="49" charset="0"/>
              </a:rPr>
              <a:t> "([^"]*)"</a:t>
            </a:r>
          </a:p>
          <a:p>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has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value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equal</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field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a:t>
            </a:r>
            <a:endParaRPr lang="de-DE" dirty="0"/>
          </a:p>
          <a:p>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respond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answer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dialog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id</a:t>
            </a:r>
            <a:r>
              <a:rPr lang="de-DE" dirty="0">
                <a:latin typeface="Courier New" panose="02070309020205020404" pitchFamily="49" charset="0"/>
                <a:cs typeface="Courier New" panose="02070309020205020404" pitchFamily="49" charset="0"/>
              </a:rPr>
              <a:t> "([^"]*)"</a:t>
            </a:r>
          </a:p>
          <a:p>
            <a:pPr marL="0" indent="0">
              <a:buNone/>
            </a:pPr>
            <a:endParaRPr lang="de-DE" dirty="0"/>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39</a:t>
            </a:fld>
            <a:endParaRPr lang="de-DE"/>
          </a:p>
        </p:txBody>
      </p:sp>
    </p:spTree>
    <p:extLst>
      <p:ext uri="{BB962C8B-B14F-4D97-AF65-F5344CB8AC3E}">
        <p14:creationId xmlns:p14="http://schemas.microsoft.com/office/powerpoint/2010/main" val="3008042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Fehler beim Setzen eines Feldwerts</a:t>
            </a:r>
          </a:p>
        </p:txBody>
      </p:sp>
      <p:sp>
        <p:nvSpPr>
          <p:cNvPr id="3" name="Inhaltsplatzhalter 2"/>
          <p:cNvSpPr>
            <a:spLocks noGrp="1"/>
          </p:cNvSpPr>
          <p:nvPr>
            <p:ph idx="1"/>
          </p:nvPr>
        </p:nvSpPr>
        <p:spPr/>
        <p:txBody>
          <a:bodyPr>
            <a:normAutofit/>
          </a:bodyPr>
          <a:lstStyle/>
          <a:p>
            <a:r>
              <a:rPr lang="de-DE" sz="1600" dirty="0"/>
              <a:t>Ein Fehler tritt auf, wenn ein bestimmter Wert ins Feld eingegeben wird:</a:t>
            </a:r>
          </a:p>
          <a:p>
            <a:pPr marL="342900" indent="-342900">
              <a:buFont typeface="+mj-lt"/>
              <a:buAutoNum type="arabicPeriod"/>
            </a:pPr>
            <a:r>
              <a:rPr lang="de-DE" sz="1600" dirty="0">
                <a:latin typeface="Courier New" panose="02070309020205020404" pitchFamily="49" charset="0"/>
                <a:cs typeface="Courier New" panose="02070309020205020404" pitchFamily="49" charset="0"/>
              </a:rPr>
              <a:t>Then </a:t>
            </a:r>
            <a:r>
              <a:rPr lang="de-DE" sz="1600" dirty="0" err="1">
                <a:latin typeface="Courier New" panose="02070309020205020404" pitchFamily="49" charset="0"/>
                <a:cs typeface="Courier New" panose="02070309020205020404" pitchFamily="49" charset="0"/>
              </a:rPr>
              <a:t>setting</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field</a:t>
            </a:r>
            <a:r>
              <a:rPr lang="de-DE" sz="1600" dirty="0">
                <a:latin typeface="Courier New" panose="02070309020205020404" pitchFamily="49" charset="0"/>
                <a:cs typeface="Courier New" panose="02070309020205020404" pitchFamily="49" charset="0"/>
              </a:rPr>
              <a:t> "([^"]*)" </a:t>
            </a:r>
            <a:r>
              <a:rPr lang="de-DE" sz="1600" dirty="0" err="1">
                <a:latin typeface="Courier New" panose="02070309020205020404" pitchFamily="49" charset="0"/>
                <a:cs typeface="Courier New" panose="02070309020205020404" pitchFamily="49" charset="0"/>
              </a:rPr>
              <a:t>to</a:t>
            </a:r>
            <a:r>
              <a:rPr lang="de-DE" sz="1600" dirty="0">
                <a:latin typeface="Courier New" panose="02070309020205020404" pitchFamily="49" charset="0"/>
                <a:cs typeface="Courier New" panose="02070309020205020404" pitchFamily="49" charset="0"/>
              </a:rPr>
              <a:t> "([^"]*)" </a:t>
            </a:r>
            <a:r>
              <a:rPr lang="de-DE" sz="1600" dirty="0" err="1">
                <a:latin typeface="Courier New" panose="02070309020205020404" pitchFamily="49" charset="0"/>
                <a:cs typeface="Courier New" panose="02070309020205020404" pitchFamily="49" charset="0"/>
              </a:rPr>
              <a:t>throws</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the</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exception</a:t>
            </a:r>
            <a:r>
              <a:rPr lang="de-DE" sz="1600" dirty="0">
                <a:latin typeface="Courier New" panose="02070309020205020404" pitchFamily="49" charset="0"/>
                <a:cs typeface="Courier New" panose="02070309020205020404" pitchFamily="49" charset="0"/>
              </a:rPr>
              <a:t> "([^"]*)"</a:t>
            </a:r>
          </a:p>
          <a:p>
            <a:pPr marL="342900" indent="-342900">
              <a:buFont typeface="+mj-lt"/>
              <a:buAutoNum type="arabicPeriod"/>
            </a:pPr>
            <a:r>
              <a:rPr lang="de-DE" sz="1600" dirty="0">
                <a:latin typeface="Courier New" panose="02070309020205020404" pitchFamily="49" charset="0"/>
                <a:cs typeface="Courier New" panose="02070309020205020404" pitchFamily="49" charset="0"/>
              </a:rPr>
              <a:t>Then </a:t>
            </a:r>
            <a:r>
              <a:rPr lang="de-DE" sz="1600" dirty="0" err="1">
                <a:latin typeface="Courier New" panose="02070309020205020404" pitchFamily="49" charset="0"/>
                <a:cs typeface="Courier New" panose="02070309020205020404" pitchFamily="49" charset="0"/>
              </a:rPr>
              <a:t>setting</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field</a:t>
            </a:r>
            <a:r>
              <a:rPr lang="de-DE" sz="1600" dirty="0">
                <a:latin typeface="Courier New" panose="02070309020205020404" pitchFamily="49" charset="0"/>
                <a:cs typeface="Courier New" panose="02070309020205020404" pitchFamily="49" charset="0"/>
              </a:rPr>
              <a:t> "([^"]*)" </a:t>
            </a:r>
            <a:r>
              <a:rPr lang="de-DE" sz="1600" dirty="0" err="1">
                <a:latin typeface="Courier New" panose="02070309020205020404" pitchFamily="49" charset="0"/>
                <a:cs typeface="Courier New" panose="02070309020205020404" pitchFamily="49" charset="0"/>
              </a:rPr>
              <a:t>to</a:t>
            </a:r>
            <a:r>
              <a:rPr lang="de-DE" sz="1600" dirty="0">
                <a:latin typeface="Courier New" panose="02070309020205020404" pitchFamily="49" charset="0"/>
                <a:cs typeface="Courier New" panose="02070309020205020404" pitchFamily="49" charset="0"/>
              </a:rPr>
              <a:t> "([^"]*)" in </a:t>
            </a:r>
            <a:r>
              <a:rPr lang="de-DE" sz="1600" dirty="0" err="1">
                <a:latin typeface="Courier New" panose="02070309020205020404" pitchFamily="49" charset="0"/>
                <a:cs typeface="Courier New" panose="02070309020205020404" pitchFamily="49" charset="0"/>
              </a:rPr>
              <a:t>row</a:t>
            </a:r>
            <a:r>
              <a:rPr lang="de-DE" sz="1600" dirty="0">
                <a:latin typeface="Courier New" panose="02070309020205020404" pitchFamily="49" charset="0"/>
                <a:cs typeface="Courier New" panose="02070309020205020404" pitchFamily="49" charset="0"/>
              </a:rPr>
              <a:t> (\d+|!</a:t>
            </a:r>
            <a:r>
              <a:rPr lang="de-DE" sz="1600" dirty="0" err="1">
                <a:latin typeface="Courier New" panose="02070309020205020404" pitchFamily="49" charset="0"/>
                <a:cs typeface="Courier New" panose="02070309020205020404" pitchFamily="49" charset="0"/>
              </a:rPr>
              <a:t>lastRow</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throws</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the</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exception</a:t>
            </a:r>
            <a:r>
              <a:rPr lang="de-DE" sz="1600" dirty="0">
                <a:latin typeface="Courier New" panose="02070309020205020404" pitchFamily="49" charset="0"/>
                <a:cs typeface="Courier New" panose="02070309020205020404" pitchFamily="49" charset="0"/>
              </a:rPr>
              <a:t> "([^"]*) " </a:t>
            </a:r>
          </a:p>
          <a:p>
            <a:pPr marL="0" indent="0">
              <a:buNone/>
            </a:pPr>
            <a:endParaRPr lang="de-DE" sz="1600" dirty="0">
              <a:latin typeface="Courier New" panose="02070309020205020404" pitchFamily="49" charset="0"/>
              <a:cs typeface="Courier New" panose="02070309020205020404" pitchFamily="49" charset="0"/>
            </a:endParaRPr>
          </a:p>
          <a:p>
            <a:r>
              <a:rPr lang="de-DE" sz="1600" dirty="0"/>
              <a:t>Zudem kann das Setzen von Feldwerten aus anderen Editoren auf eine Fehlermeldung geprüft werden, wenn z.B. der Wert des Feldes nicht bekannt ist</a:t>
            </a:r>
          </a:p>
          <a:p>
            <a:pPr marL="342900" indent="-342900">
              <a:buFont typeface="+mj-lt"/>
              <a:buAutoNum type="arabicPeriod" startAt="3"/>
            </a:pPr>
            <a:r>
              <a:rPr lang="de-DE" sz="1600" dirty="0">
                <a:latin typeface="Courier New" panose="02070309020205020404" pitchFamily="49" charset="0"/>
                <a:cs typeface="Courier New" panose="02070309020205020404" pitchFamily="49" charset="0"/>
              </a:rPr>
              <a:t>Then </a:t>
            </a:r>
            <a:r>
              <a:rPr lang="de-DE" sz="1600" dirty="0" err="1">
                <a:latin typeface="Courier New" panose="02070309020205020404" pitchFamily="49" charset="0"/>
                <a:cs typeface="Courier New" panose="02070309020205020404" pitchFamily="49" charset="0"/>
              </a:rPr>
              <a:t>setting</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field</a:t>
            </a:r>
            <a:r>
              <a:rPr lang="de-DE" sz="1600" dirty="0">
                <a:latin typeface="Courier New" panose="02070309020205020404" pitchFamily="49" charset="0"/>
                <a:cs typeface="Courier New" panose="02070309020205020404" pitchFamily="49" charset="0"/>
              </a:rPr>
              <a:t> "([^"]*)" in </a:t>
            </a:r>
            <a:r>
              <a:rPr lang="de-DE" sz="1600" dirty="0" err="1">
                <a:latin typeface="Courier New" panose="02070309020205020404" pitchFamily="49" charset="0"/>
                <a:cs typeface="Courier New" panose="02070309020205020404" pitchFamily="49" charset="0"/>
              </a:rPr>
              <a:t>row</a:t>
            </a:r>
            <a:r>
              <a:rPr lang="de-DE" sz="1600" dirty="0">
                <a:latin typeface="Courier New" panose="02070309020205020404" pitchFamily="49" charset="0"/>
                <a:cs typeface="Courier New" panose="02070309020205020404" pitchFamily="49" charset="0"/>
              </a:rPr>
              <a:t> (\d+|!</a:t>
            </a:r>
            <a:r>
              <a:rPr lang="de-DE" sz="1600" dirty="0" err="1">
                <a:latin typeface="Courier New" panose="02070309020205020404" pitchFamily="49" charset="0"/>
                <a:cs typeface="Courier New" panose="02070309020205020404" pitchFamily="49" charset="0"/>
              </a:rPr>
              <a:t>lastRow</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to</a:t>
            </a:r>
            <a:r>
              <a:rPr lang="de-DE" sz="1600" dirty="0">
                <a:latin typeface="Courier New" panose="02070309020205020404" pitchFamily="49" charset="0"/>
                <a:cs typeface="Courier New" panose="02070309020205020404" pitchFamily="49" charset="0"/>
              </a:rPr>
              <a:t> "([^"]*)" </a:t>
            </a:r>
            <a:r>
              <a:rPr lang="de-DE" sz="1600" dirty="0" err="1">
                <a:latin typeface="Courier New" panose="02070309020205020404" pitchFamily="49" charset="0"/>
                <a:cs typeface="Courier New" panose="02070309020205020404" pitchFamily="49" charset="0"/>
              </a:rPr>
              <a:t>from</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editor</a:t>
            </a:r>
            <a:r>
              <a:rPr lang="de-DE" sz="1600" dirty="0">
                <a:latin typeface="Courier New" panose="02070309020205020404" pitchFamily="49" charset="0"/>
                <a:cs typeface="Courier New" panose="02070309020205020404" pitchFamily="49" charset="0"/>
              </a:rPr>
              <a:t> "([^"]*)" in </a:t>
            </a:r>
            <a:r>
              <a:rPr lang="de-DE" sz="1600" dirty="0" err="1">
                <a:latin typeface="Courier New" panose="02070309020205020404" pitchFamily="49" charset="0"/>
                <a:cs typeface="Courier New" panose="02070309020205020404" pitchFamily="49" charset="0"/>
              </a:rPr>
              <a:t>row</a:t>
            </a:r>
            <a:r>
              <a:rPr lang="de-DE" sz="1600" dirty="0">
                <a:latin typeface="Courier New" panose="02070309020205020404" pitchFamily="49" charset="0"/>
                <a:cs typeface="Courier New" panose="02070309020205020404" pitchFamily="49" charset="0"/>
              </a:rPr>
              <a:t> (\d+|!</a:t>
            </a:r>
            <a:r>
              <a:rPr lang="de-DE" sz="1600" dirty="0" err="1">
                <a:latin typeface="Courier New" panose="02070309020205020404" pitchFamily="49" charset="0"/>
                <a:cs typeface="Courier New" panose="02070309020205020404" pitchFamily="49" charset="0"/>
              </a:rPr>
              <a:t>lastRow</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throws</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the</a:t>
            </a:r>
            <a:r>
              <a:rPr lang="de-DE" sz="1600" dirty="0">
                <a:latin typeface="Courier New" panose="02070309020205020404" pitchFamily="49" charset="0"/>
                <a:cs typeface="Courier New" panose="02070309020205020404" pitchFamily="49" charset="0"/>
              </a:rPr>
              <a:t> </a:t>
            </a:r>
            <a:r>
              <a:rPr lang="de-DE" sz="1600" dirty="0" err="1">
                <a:latin typeface="Courier New" panose="02070309020205020404" pitchFamily="49" charset="0"/>
                <a:cs typeface="Courier New" panose="02070309020205020404" pitchFamily="49" charset="0"/>
              </a:rPr>
              <a:t>exception</a:t>
            </a:r>
            <a:r>
              <a:rPr lang="de-DE" sz="1600" dirty="0">
                <a:latin typeface="Courier New" panose="02070309020205020404" pitchFamily="49" charset="0"/>
                <a:cs typeface="Courier New" panose="02070309020205020404" pitchFamily="49" charset="0"/>
              </a:rPr>
              <a:t> "([^"]*)" </a:t>
            </a:r>
          </a:p>
          <a:p>
            <a:pPr marL="0" indent="0">
              <a:buNone/>
            </a:pPr>
            <a:endParaRPr lang="de-DE" sz="1600" dirty="0">
              <a:latin typeface="Courier New" panose="02070309020205020404" pitchFamily="49" charset="0"/>
              <a:cs typeface="Courier New" panose="02070309020205020404" pitchFamily="49" charset="0"/>
            </a:endParaRPr>
          </a:p>
          <a:p>
            <a:pPr marL="342900" indent="-342900">
              <a:buFont typeface="+mj-lt"/>
              <a:buAutoNum type="arabicPeriod" startAt="3"/>
            </a:pPr>
            <a:endParaRPr lang="de-DE" sz="1600" dirty="0">
              <a:latin typeface="Courier New" panose="02070309020205020404" pitchFamily="49" charset="0"/>
              <a:cs typeface="Courier New" panose="02070309020205020404" pitchFamily="49" charset="0"/>
            </a:endParaRPr>
          </a:p>
        </p:txBody>
      </p:sp>
      <p:sp>
        <p:nvSpPr>
          <p:cNvPr id="4" name="Datumsplatzhalter 3"/>
          <p:cNvSpPr>
            <a:spLocks noGrp="1"/>
          </p:cNvSpPr>
          <p:nvPr>
            <p:ph type="dt" sz="half" idx="10"/>
          </p:nvPr>
        </p:nvSpPr>
        <p:spPr/>
        <p:txBody>
          <a:bodyPr/>
          <a:lstStyle/>
          <a:p>
            <a:fld id="{13AC5F01-C10A-4F02-9E40-77B2A934B3E0}" type="datetime1">
              <a:rPr lang="de-DE" smtClean="0"/>
              <a:t>15.06.2020</a:t>
            </a:fld>
            <a:endParaRPr lang="de-DE" dirty="0"/>
          </a:p>
        </p:txBody>
      </p:sp>
      <p:sp>
        <p:nvSpPr>
          <p:cNvPr id="5" name="Foliennummernplatzhalter 4"/>
          <p:cNvSpPr>
            <a:spLocks noGrp="1"/>
          </p:cNvSpPr>
          <p:nvPr>
            <p:ph type="sldNum" sz="quarter" idx="12"/>
          </p:nvPr>
        </p:nvSpPr>
        <p:spPr/>
        <p:txBody>
          <a:bodyPr/>
          <a:lstStyle/>
          <a:p>
            <a:fld id="{2BD49046-6E03-44BD-86B4-CD06AAC78235}" type="slidenum">
              <a:rPr lang="de-DE" smtClean="0"/>
              <a:t>40</a:t>
            </a:fld>
            <a:endParaRPr lang="de-DE" dirty="0"/>
          </a:p>
        </p:txBody>
      </p:sp>
      <p:sp>
        <p:nvSpPr>
          <p:cNvPr id="7" name="Textfeld 6"/>
          <p:cNvSpPr txBox="1"/>
          <p:nvPr/>
        </p:nvSpPr>
        <p:spPr>
          <a:xfrm>
            <a:off x="581192" y="5365222"/>
            <a:ext cx="11029615" cy="58477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de-DE" sz="1600" dirty="0"/>
              <a:t>Welche Fehlermeldung auftritt, kann sowohl über die Eingabe der Fehler-ID sowie über den Text der Fehlermeldung abgefragt werden.</a:t>
            </a:r>
            <a:endParaRPr lang="de-DE"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5394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Fehler beim Klick auf Buttons</a:t>
            </a:r>
          </a:p>
        </p:txBody>
      </p:sp>
      <p:sp>
        <p:nvSpPr>
          <p:cNvPr id="3" name="Inhaltsplatzhalter 2"/>
          <p:cNvSpPr>
            <a:spLocks noGrp="1"/>
          </p:cNvSpPr>
          <p:nvPr>
            <p:ph idx="1"/>
          </p:nvPr>
        </p:nvSpPr>
        <p:spPr/>
        <p:txBody>
          <a:bodyPr/>
          <a:lstStyle/>
          <a:p>
            <a:r>
              <a:rPr lang="de-DE" dirty="0"/>
              <a:t>Ist der Klick auf einen Button in einer Situation nicht erlaubt, wird das durch folgenden </a:t>
            </a:r>
            <a:r>
              <a:rPr lang="de-DE" dirty="0" err="1"/>
              <a:t>Step</a:t>
            </a:r>
            <a:r>
              <a:rPr lang="de-DE" dirty="0"/>
              <a:t> getestet:</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pressing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button</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pressing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button</a:t>
            </a:r>
            <a:r>
              <a:rPr lang="de-DE" dirty="0">
                <a:latin typeface="Courier New" panose="02070309020205020404" pitchFamily="49" charset="0"/>
                <a:cs typeface="Courier New" panose="02070309020205020404" pitchFamily="49" charset="0"/>
              </a:rPr>
              <a:t> "([^"]*)" in </a:t>
            </a:r>
            <a:r>
              <a:rPr lang="de-DE" dirty="0" err="1">
                <a:latin typeface="Courier New" panose="02070309020205020404" pitchFamily="49" charset="0"/>
                <a:cs typeface="Courier New" panose="02070309020205020404" pitchFamily="49" charset="0"/>
              </a:rPr>
              <a:t>row</a:t>
            </a:r>
            <a:r>
              <a:rPr lang="de-DE" dirty="0">
                <a:latin typeface="Courier New" panose="02070309020205020404" pitchFamily="49" charset="0"/>
                <a:cs typeface="Courier New" panose="02070309020205020404" pitchFamily="49" charset="0"/>
              </a:rPr>
              <a:t> (\d+|!</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p>
        </p:txBody>
      </p:sp>
      <p:sp>
        <p:nvSpPr>
          <p:cNvPr id="4" name="Datumsplatzhalter 3"/>
          <p:cNvSpPr>
            <a:spLocks noGrp="1"/>
          </p:cNvSpPr>
          <p:nvPr>
            <p:ph type="dt" sz="half" idx="10"/>
          </p:nvPr>
        </p:nvSpPr>
        <p:spPr/>
        <p:txBody>
          <a:bodyPr/>
          <a:lstStyle/>
          <a:p>
            <a:fld id="{54F739E2-1AF7-43D2-A104-46CA1AC1BCE4}"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41</a:t>
            </a:fld>
            <a:endParaRPr lang="de-DE"/>
          </a:p>
        </p:txBody>
      </p:sp>
    </p:spTree>
    <p:extLst>
      <p:ext uri="{BB962C8B-B14F-4D97-AF65-F5344CB8AC3E}">
        <p14:creationId xmlns:p14="http://schemas.microsoft.com/office/powerpoint/2010/main" val="1200062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Fehler beim Öffnen des Editors mit einem bestimmten Kommando</a:t>
            </a:r>
          </a:p>
        </p:txBody>
      </p:sp>
      <p:sp>
        <p:nvSpPr>
          <p:cNvPr id="3" name="Inhaltsplatzhalter 2"/>
          <p:cNvSpPr>
            <a:spLocks noGrp="1"/>
          </p:cNvSpPr>
          <p:nvPr>
            <p:ph idx="1"/>
          </p:nvPr>
        </p:nvSpPr>
        <p:spPr/>
        <p:txBody>
          <a:bodyPr/>
          <a:lstStyle/>
          <a:p>
            <a:r>
              <a:rPr lang="de-DE" dirty="0"/>
              <a:t>Der Fehler kann bereits beim Öffnen des Editors kommen, z.B. wenn das Kommando (UPDATE, REVERSAL etc.) nicht möglich ist.</a:t>
            </a:r>
          </a:p>
          <a:p>
            <a:r>
              <a:rPr lang="de-DE" dirty="0"/>
              <a:t>Man kann so u.a. die "Kommandozulässigkeit" prüfen, d.h. testen, dass ein bestimmtes Kommando auf ein Objekt im vorliegenden Zustand nicht ausführbar ist.</a:t>
            </a:r>
          </a:p>
          <a:p>
            <a:pPr marL="0" indent="0">
              <a:buNone/>
            </a:pPr>
            <a:endParaRPr lang="de-DE" dirty="0"/>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opening</a:t>
            </a:r>
            <a:r>
              <a:rPr lang="de-DE" dirty="0">
                <a:latin typeface="Courier New" panose="02070309020205020404" pitchFamily="49" charset="0"/>
                <a:cs typeface="Courier New" panose="02070309020205020404" pitchFamily="49" charset="0"/>
              </a:rPr>
              <a:t>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opening</a:t>
            </a:r>
            <a:r>
              <a:rPr lang="de-DE" dirty="0">
                <a:latin typeface="Courier New" panose="02070309020205020404" pitchFamily="49" charset="0"/>
                <a:cs typeface="Courier New" panose="02070309020205020404" pitchFamily="49" charset="0"/>
              </a:rPr>
              <a:t> an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table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with</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command</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for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record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from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p>
          <a:p>
            <a:endParaRPr lang="de-DE" dirty="0"/>
          </a:p>
        </p:txBody>
      </p:sp>
      <p:sp>
        <p:nvSpPr>
          <p:cNvPr id="4" name="Datumsplatzhalter 3"/>
          <p:cNvSpPr>
            <a:spLocks noGrp="1"/>
          </p:cNvSpPr>
          <p:nvPr>
            <p:ph type="dt" sz="half" idx="10"/>
          </p:nvPr>
        </p:nvSpPr>
        <p:spPr/>
        <p:txBody>
          <a:bodyPr/>
          <a:lstStyle/>
          <a:p>
            <a:fld id="{57F575BE-3A0E-4A55-B2FF-C700CF655333}"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42</a:t>
            </a:fld>
            <a:endParaRPr lang="de-DE"/>
          </a:p>
        </p:txBody>
      </p:sp>
    </p:spTree>
    <p:extLst>
      <p:ext uri="{BB962C8B-B14F-4D97-AF65-F5344CB8AC3E}">
        <p14:creationId xmlns:p14="http://schemas.microsoft.com/office/powerpoint/2010/main" val="33220994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Fehler beim Speichern des Editors</a:t>
            </a:r>
          </a:p>
        </p:txBody>
      </p:sp>
      <p:sp>
        <p:nvSpPr>
          <p:cNvPr id="3" name="Inhaltsplatzhalter 2"/>
          <p:cNvSpPr>
            <a:spLocks noGrp="1"/>
          </p:cNvSpPr>
          <p:nvPr>
            <p:ph idx="1"/>
          </p:nvPr>
        </p:nvSpPr>
        <p:spPr/>
        <p:txBody>
          <a:bodyPr>
            <a:normAutofit/>
          </a:bodyPr>
          <a:lstStyle/>
          <a:p>
            <a:r>
              <a:rPr lang="de-DE" dirty="0"/>
              <a:t>Tritt der Fehler erst beim Speichern des Editors auf, gilt der folgende </a:t>
            </a:r>
            <a:r>
              <a:rPr lang="de-DE" dirty="0" err="1"/>
              <a:t>Step</a:t>
            </a:r>
            <a:r>
              <a:rPr lang="de-DE" dirty="0"/>
              <a:t>:</a:t>
            </a:r>
          </a:p>
          <a:p>
            <a:pPr marL="342900" indent="-342900">
              <a:buFont typeface="+mj-lt"/>
              <a:buAutoNum type="arabicPeriod"/>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saving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r>
              <a:rPr lang="de-DE" dirty="0">
                <a:latin typeface="Courier New" panose="02070309020205020404" pitchFamily="49" charset="0"/>
                <a:cs typeface="Courier New" panose="02070309020205020404" pitchFamily="49" charset="0"/>
              </a:rPr>
              <a:t> "([^"]*)"</a:t>
            </a:r>
          </a:p>
          <a:p>
            <a:pPr marL="0" indent="0">
              <a:buNone/>
            </a:pPr>
            <a:endParaRPr lang="de-DE" dirty="0">
              <a:latin typeface="Courier New" panose="02070309020205020404" pitchFamily="49" charset="0"/>
              <a:cs typeface="Courier New" panose="02070309020205020404" pitchFamily="49" charset="0"/>
            </a:endParaRPr>
          </a:p>
          <a:p>
            <a:r>
              <a:rPr lang="de-DE" dirty="0"/>
              <a:t>Beim Speichern können auch mehrzeilige Texte einer Fehlermeldung geprüft werden:</a:t>
            </a:r>
          </a:p>
          <a:p>
            <a:r>
              <a:rPr lang="de-DE" dirty="0"/>
              <a:t>Der Fehlertext wird in neuer Zeile angegeben:</a:t>
            </a:r>
          </a:p>
          <a:p>
            <a:pPr marL="342900" indent="-342900">
              <a:buFont typeface="+mj-lt"/>
              <a:buAutoNum type="arabicPeriod" startAt="2"/>
            </a:pPr>
            <a:r>
              <a:rPr lang="de-DE" dirty="0">
                <a:latin typeface="Courier New" panose="02070309020205020404" pitchFamily="49" charset="0"/>
                <a:cs typeface="Courier New" panose="02070309020205020404" pitchFamily="49" charset="0"/>
              </a:rPr>
              <a:t>Then </a:t>
            </a:r>
            <a:r>
              <a:rPr lang="de-DE" dirty="0" err="1">
                <a:latin typeface="Courier New" panose="02070309020205020404" pitchFamily="49" charset="0"/>
                <a:cs typeface="Courier New" panose="02070309020205020404" pitchFamily="49" charset="0"/>
              </a:rPr>
              <a:t>saving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editor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throws</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exception</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"""XYZ</a:t>
            </a:r>
          </a:p>
          <a:p>
            <a:pPr marL="0" indent="0">
              <a:buNone/>
            </a:pPr>
            <a:r>
              <a:rPr lang="de-DE" dirty="0">
                <a:latin typeface="Courier New" panose="02070309020205020404" pitchFamily="49" charset="0"/>
                <a:cs typeface="Courier New" panose="02070309020205020404" pitchFamily="49" charset="0"/>
              </a:rPr>
              <a:t>	ABC</a:t>
            </a:r>
          </a:p>
          <a:p>
            <a:pPr marL="0" indent="0">
              <a:buNone/>
            </a:pPr>
            <a:r>
              <a:rPr lang="de-DE" dirty="0">
                <a:latin typeface="Courier New" panose="02070309020205020404" pitchFamily="49" charset="0"/>
                <a:cs typeface="Courier New" panose="02070309020205020404" pitchFamily="49" charset="0"/>
              </a:rPr>
              <a:t>	Zeile3"""</a:t>
            </a:r>
          </a:p>
        </p:txBody>
      </p:sp>
      <p:sp>
        <p:nvSpPr>
          <p:cNvPr id="4" name="Datumsplatzhalter 3"/>
          <p:cNvSpPr>
            <a:spLocks noGrp="1"/>
          </p:cNvSpPr>
          <p:nvPr>
            <p:ph type="dt" sz="half" idx="10"/>
          </p:nvPr>
        </p:nvSpPr>
        <p:spPr/>
        <p:txBody>
          <a:bodyPr/>
          <a:lstStyle/>
          <a:p>
            <a:fld id="{A2CBC651-EE2E-4DBF-8267-AF968C18F40E}"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43</a:t>
            </a:fld>
            <a:endParaRPr lang="de-DE"/>
          </a:p>
        </p:txBody>
      </p:sp>
    </p:spTree>
    <p:extLst>
      <p:ext uri="{BB962C8B-B14F-4D97-AF65-F5344CB8AC3E}">
        <p14:creationId xmlns:p14="http://schemas.microsoft.com/office/powerpoint/2010/main" val="2402971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t>
            </a:r>
            <a:r>
              <a:rPr lang="de-DE" dirty="0" err="1"/>
              <a:t>dontchange</a:t>
            </a:r>
            <a:endParaRPr lang="de-DE" dirty="0"/>
          </a:p>
        </p:txBody>
      </p:sp>
      <p:sp>
        <p:nvSpPr>
          <p:cNvPr id="3" name="Inhaltsplatzhalter 2"/>
          <p:cNvSpPr>
            <a:spLocks noGrp="1"/>
          </p:cNvSpPr>
          <p:nvPr>
            <p:ph idx="1"/>
          </p:nvPr>
        </p:nvSpPr>
        <p:spPr/>
        <p:txBody>
          <a:bodyPr/>
          <a:lstStyle/>
          <a:p>
            <a:r>
              <a:rPr lang="de-DE" dirty="0"/>
              <a:t>Feldwerte, die bereits gesetzt sind und in einem Scenario </a:t>
            </a:r>
            <a:r>
              <a:rPr lang="de-DE" b="1" dirty="0"/>
              <a:t>nicht geändert </a:t>
            </a:r>
            <a:r>
              <a:rPr lang="de-DE" dirty="0"/>
              <a:t>werden sollen, werden mit </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dontChange</a:t>
            </a:r>
            <a:r>
              <a:rPr lang="de-DE" dirty="0">
                <a:latin typeface="Courier New" panose="02070309020205020404" pitchFamily="49" charset="0"/>
                <a:cs typeface="Courier New" panose="02070309020205020404" pitchFamily="49" charset="0"/>
              </a:rPr>
              <a:t> </a:t>
            </a:r>
            <a:r>
              <a:rPr lang="de-DE" dirty="0"/>
              <a:t>angegeben. Relevant ist dies vor allem bei Scenario </a:t>
            </a:r>
            <a:r>
              <a:rPr lang="de-DE" dirty="0" err="1"/>
              <a:t>Outlines</a:t>
            </a:r>
            <a:r>
              <a:rPr lang="de-DE" dirty="0"/>
              <a:t>. </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dontChange</a:t>
            </a:r>
            <a:r>
              <a:rPr lang="de-DE" dirty="0">
                <a:latin typeface="Courier New" panose="02070309020205020404" pitchFamily="49" charset="0"/>
                <a:cs typeface="Courier New" panose="02070309020205020404" pitchFamily="49" charset="0"/>
              </a:rPr>
              <a:t> </a:t>
            </a:r>
            <a:r>
              <a:rPr lang="de-DE" dirty="0"/>
              <a:t>kann auch beim Setzen </a:t>
            </a:r>
            <a:r>
              <a:rPr lang="de-DE" dirty="0" err="1"/>
              <a:t>editorenübergreifender</a:t>
            </a:r>
            <a:r>
              <a:rPr lang="de-DE" dirty="0"/>
              <a:t> Werte verwendet werden.</a:t>
            </a:r>
          </a:p>
          <a:p>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dontChange</a:t>
            </a:r>
            <a:r>
              <a:rPr lang="de-DE" dirty="0">
                <a:latin typeface="Courier New" panose="02070309020205020404" pitchFamily="49" charset="0"/>
                <a:cs typeface="Courier New" panose="02070309020205020404" pitchFamily="49" charset="0"/>
              </a:rPr>
              <a:t> </a:t>
            </a:r>
            <a:r>
              <a:rPr lang="de-DE" dirty="0"/>
              <a:t>wird auch verwendet, wenn </a:t>
            </a:r>
            <a:r>
              <a:rPr lang="de-DE" b="1" dirty="0"/>
              <a:t>Feldwerte nicht geprüft </a:t>
            </a:r>
            <a:r>
              <a:rPr lang="de-DE" dirty="0"/>
              <a:t>werden sollen. Das ist vor allem bei  Setzen von Feldwerten und Prüfungen in der Tabellenschreibweise relevant.</a:t>
            </a:r>
          </a:p>
          <a:p>
            <a:pPr marL="0" indent="0">
              <a:buNone/>
            </a:pPr>
            <a:endParaRPr lang="de-DE" dirty="0"/>
          </a:p>
          <a:p>
            <a:pPr marL="0" indent="0">
              <a:buNone/>
            </a:pPr>
            <a:r>
              <a:rPr lang="de-DE" dirty="0"/>
              <a:t>	</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dontChange</a:t>
            </a:r>
            <a:endParaRPr lang="de-DE" dirty="0"/>
          </a:p>
          <a:p>
            <a:endParaRPr lang="de-DE" dirty="0"/>
          </a:p>
        </p:txBody>
      </p:sp>
      <p:sp>
        <p:nvSpPr>
          <p:cNvPr id="4" name="Datumsplatzhalter 3"/>
          <p:cNvSpPr>
            <a:spLocks noGrp="1"/>
          </p:cNvSpPr>
          <p:nvPr>
            <p:ph type="dt" sz="half" idx="10"/>
          </p:nvPr>
        </p:nvSpPr>
        <p:spPr/>
        <p:txBody>
          <a:bodyPr/>
          <a:lstStyle/>
          <a:p>
            <a:fld id="{99E14C05-F732-4522-9C9E-6FEA0860239E}"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44</a:t>
            </a:fld>
            <a:endParaRPr lang="de-DE"/>
          </a:p>
        </p:txBody>
      </p:sp>
    </p:spTree>
    <p:extLst>
      <p:ext uri="{BB962C8B-B14F-4D97-AF65-F5344CB8AC3E}">
        <p14:creationId xmlns:p14="http://schemas.microsoft.com/office/powerpoint/2010/main" val="39115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t>
            </a:r>
            <a:r>
              <a:rPr lang="de-DE" dirty="0" err="1"/>
              <a:t>lastRow</a:t>
            </a:r>
            <a:endParaRPr lang="de-DE" dirty="0"/>
          </a:p>
        </p:txBody>
      </p:sp>
      <p:sp>
        <p:nvSpPr>
          <p:cNvPr id="3" name="Inhaltsplatzhalter 2"/>
          <p:cNvSpPr>
            <a:spLocks noGrp="1"/>
          </p:cNvSpPr>
          <p:nvPr>
            <p:ph idx="1"/>
          </p:nvPr>
        </p:nvSpPr>
        <p:spPr/>
        <p:txBody>
          <a:bodyPr/>
          <a:lstStyle/>
          <a:p>
            <a:r>
              <a:rPr lang="de-DE" dirty="0"/>
              <a:t>Spielt die Anzahl der Zeilen einer Tabelle keine Rolle für einen Test, aber Werte in der letzten Zeile sollen geändert bzw. geprüft werden, dann kann statt der Angabe der Zeilennummer der Zusatz </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lastRow</a:t>
            </a:r>
            <a:r>
              <a:rPr lang="de-DE" dirty="0">
                <a:latin typeface="Courier New" panose="02070309020205020404" pitchFamily="49" charset="0"/>
                <a:cs typeface="Courier New" panose="02070309020205020404" pitchFamily="49" charset="0"/>
              </a:rPr>
              <a:t> </a:t>
            </a:r>
            <a:r>
              <a:rPr lang="de-DE" dirty="0"/>
              <a:t>angegeben werden.</a:t>
            </a:r>
          </a:p>
          <a:p>
            <a:pPr marL="324000" lvl="1" indent="0">
              <a:buNone/>
            </a:pPr>
            <a:endParaRPr lang="de-DE" sz="1800" dirty="0">
              <a:latin typeface="Courier New" panose="02070309020205020404" pitchFamily="49" charset="0"/>
              <a:cs typeface="Courier New" panose="02070309020205020404" pitchFamily="49" charset="0"/>
            </a:endParaRPr>
          </a:p>
          <a:p>
            <a:pPr marL="324000" lvl="1" indent="0">
              <a:buNone/>
            </a:pPr>
            <a:r>
              <a:rPr lang="de-DE" sz="1800" dirty="0">
                <a:latin typeface="Courier New" panose="02070309020205020404" pitchFamily="49" charset="0"/>
                <a:cs typeface="Courier New" panose="02070309020205020404" pitchFamily="49" charset="0"/>
              </a:rPr>
              <a:t>!</a:t>
            </a:r>
            <a:r>
              <a:rPr lang="de-DE" sz="1800" dirty="0" err="1">
                <a:latin typeface="Courier New" panose="02070309020205020404" pitchFamily="49" charset="0"/>
                <a:cs typeface="Courier New" panose="02070309020205020404" pitchFamily="49" charset="0"/>
              </a:rPr>
              <a:t>lastRow</a:t>
            </a:r>
            <a:endParaRPr lang="de-DE" sz="1800" dirty="0">
              <a:latin typeface="Courier New" panose="02070309020205020404" pitchFamily="49" charset="0"/>
              <a:cs typeface="Courier New" panose="02070309020205020404" pitchFamily="49" charset="0"/>
            </a:endParaRPr>
          </a:p>
        </p:txBody>
      </p:sp>
      <p:sp>
        <p:nvSpPr>
          <p:cNvPr id="4" name="Datumsplatzhalter 3"/>
          <p:cNvSpPr>
            <a:spLocks noGrp="1"/>
          </p:cNvSpPr>
          <p:nvPr>
            <p:ph type="dt" sz="half" idx="10"/>
          </p:nvPr>
        </p:nvSpPr>
        <p:spPr/>
        <p:txBody>
          <a:bodyPr/>
          <a:lstStyle/>
          <a:p>
            <a:fld id="{D4CF9824-22C3-4CB2-982D-F0200C1326E7}"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45</a:t>
            </a:fld>
            <a:endParaRPr lang="de-DE"/>
          </a:p>
        </p:txBody>
      </p:sp>
    </p:spTree>
    <p:extLst>
      <p:ext uri="{BB962C8B-B14F-4D97-AF65-F5344CB8AC3E}">
        <p14:creationId xmlns:p14="http://schemas.microsoft.com/office/powerpoint/2010/main" val="13588535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Scenario Outline</a:t>
            </a:r>
          </a:p>
        </p:txBody>
      </p:sp>
      <p:sp>
        <p:nvSpPr>
          <p:cNvPr id="3" name="Inhaltsplatzhalter 2"/>
          <p:cNvSpPr>
            <a:spLocks noGrp="1"/>
          </p:cNvSpPr>
          <p:nvPr>
            <p:ph idx="1"/>
          </p:nvPr>
        </p:nvSpPr>
        <p:spPr/>
        <p:txBody>
          <a:bodyPr/>
          <a:lstStyle/>
          <a:p>
            <a:r>
              <a:rPr lang="de-DE" dirty="0"/>
              <a:t>Wenn ein Scenario mehrfach mit den gleichen </a:t>
            </a:r>
            <a:r>
              <a:rPr lang="de-DE" dirty="0" err="1"/>
              <a:t>Steps</a:t>
            </a:r>
            <a:r>
              <a:rPr lang="de-DE" dirty="0"/>
              <a:t> aber verschiedenen Parametern durchgeführt werden soll, kann diese Funktion den Code stark verkürzen. </a:t>
            </a:r>
          </a:p>
          <a:p>
            <a:r>
              <a:rPr lang="de-DE" dirty="0"/>
              <a:t>Der Test besteht dann aus dem Scenario Outline mit allen </a:t>
            </a:r>
            <a:r>
              <a:rPr lang="de-DE" dirty="0" err="1"/>
              <a:t>Steps</a:t>
            </a:r>
            <a:r>
              <a:rPr lang="de-DE" dirty="0"/>
              <a:t> sowie den </a:t>
            </a:r>
            <a:r>
              <a:rPr lang="de-DE" dirty="0" err="1"/>
              <a:t>Examples</a:t>
            </a:r>
            <a:r>
              <a:rPr lang="de-DE" dirty="0"/>
              <a:t>. In den </a:t>
            </a:r>
            <a:r>
              <a:rPr lang="de-DE" dirty="0" err="1"/>
              <a:t>Examples</a:t>
            </a:r>
            <a:r>
              <a:rPr lang="de-DE" dirty="0"/>
              <a:t> werden die Daten gesetzt. Im Test wird für jede Tabellenzeile der </a:t>
            </a:r>
            <a:r>
              <a:rPr lang="de-DE" dirty="0" err="1"/>
              <a:t>Examples</a:t>
            </a:r>
            <a:r>
              <a:rPr lang="de-DE" dirty="0"/>
              <a:t> das Scenario einmal durchlaufen. </a:t>
            </a:r>
          </a:p>
          <a:p>
            <a:r>
              <a:rPr lang="de-DE" dirty="0"/>
              <a:t>Für Felder, die in jedem Durchlauf auf unterschiedliche Feldwerte gesetzt werden sollen, wird ein Platzhalter (Variable) definiert. Dieser wird in spitze Klammern &lt; &gt; gesetzt. Die Benennung der Platzhalter kann frei gewählt werden.</a:t>
            </a:r>
          </a:p>
          <a:p>
            <a:r>
              <a:rPr lang="de-DE" dirty="0"/>
              <a:t>Im </a:t>
            </a:r>
            <a:r>
              <a:rPr lang="de-DE" dirty="0" err="1"/>
              <a:t>Step</a:t>
            </a:r>
            <a:r>
              <a:rPr lang="de-DE" dirty="0"/>
              <a:t> und in den </a:t>
            </a:r>
            <a:r>
              <a:rPr lang="de-DE" dirty="0" err="1"/>
              <a:t>Examples</a:t>
            </a:r>
            <a:r>
              <a:rPr lang="de-DE" dirty="0"/>
              <a:t> müssen die Namen übereinstimmen.</a:t>
            </a:r>
          </a:p>
          <a:p>
            <a:r>
              <a:rPr lang="de-DE" dirty="0"/>
              <a:t>Unterhalb der Platzhalter werden die Feldwerte, für jeden Durchlauf der </a:t>
            </a:r>
            <a:r>
              <a:rPr lang="de-DE" dirty="0" err="1"/>
              <a:t>Examples</a:t>
            </a:r>
            <a:r>
              <a:rPr lang="de-DE" dirty="0"/>
              <a:t>, gesetzt.</a:t>
            </a:r>
          </a:p>
          <a:p>
            <a:r>
              <a:rPr lang="de-DE" dirty="0"/>
              <a:t>Das Scenario Outline kann auch mit der Tabellenschreibweise kombiniert werden.</a:t>
            </a:r>
          </a:p>
        </p:txBody>
      </p:sp>
      <p:sp>
        <p:nvSpPr>
          <p:cNvPr id="4" name="Datumsplatzhalter 3"/>
          <p:cNvSpPr>
            <a:spLocks noGrp="1"/>
          </p:cNvSpPr>
          <p:nvPr>
            <p:ph type="dt" sz="half" idx="10"/>
          </p:nvPr>
        </p:nvSpPr>
        <p:spPr/>
        <p:txBody>
          <a:bodyPr/>
          <a:lstStyle/>
          <a:p>
            <a:fld id="{CA5A1588-D382-47AE-9436-05D1C781BFC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46</a:t>
            </a:fld>
            <a:endParaRPr lang="de-DE"/>
          </a:p>
        </p:txBody>
      </p:sp>
    </p:spTree>
    <p:extLst>
      <p:ext uri="{BB962C8B-B14F-4D97-AF65-F5344CB8AC3E}">
        <p14:creationId xmlns:p14="http://schemas.microsoft.com/office/powerpoint/2010/main" val="2299790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Scenario Outline - Beispiel</a:t>
            </a:r>
          </a:p>
        </p:txBody>
      </p:sp>
      <p:sp>
        <p:nvSpPr>
          <p:cNvPr id="3" name="Inhaltsplatzhalter 2"/>
          <p:cNvSpPr>
            <a:spLocks noGrp="1"/>
          </p:cNvSpPr>
          <p:nvPr>
            <p:ph idx="1"/>
          </p:nvPr>
        </p:nvSpPr>
        <p:spPr/>
        <p:txBody>
          <a:bodyPr>
            <a:normAutofit fontScale="85000" lnSpcReduction="20000"/>
          </a:bodyPr>
          <a:lstStyle/>
          <a:p>
            <a:pPr marL="0" indent="0">
              <a:buNone/>
            </a:pPr>
            <a:r>
              <a:rPr lang="de-DE" b="1" dirty="0">
                <a:latin typeface="Courier New" panose="02070309020205020404" pitchFamily="49" charset="0"/>
                <a:cs typeface="Courier New" panose="02070309020205020404" pitchFamily="49" charset="0"/>
              </a:rPr>
              <a:t>Scenario Outline: Rückmeldungen buchen</a:t>
            </a:r>
          </a:p>
          <a:p>
            <a:pPr marL="0" indent="0">
              <a:buNone/>
            </a:pPr>
            <a:r>
              <a:rPr lang="en-US" i="1" dirty="0">
                <a:latin typeface="Courier New" panose="02070309020205020404" pitchFamily="49" charset="0"/>
                <a:cs typeface="Courier New" panose="02070309020205020404" pitchFamily="49" charset="0"/>
              </a:rPr>
              <a:t>Given I open an editor "&lt;</a:t>
            </a:r>
            <a:r>
              <a:rPr lang="en-US" i="1" dirty="0" err="1">
                <a:latin typeface="Courier New" panose="02070309020205020404" pitchFamily="49" charset="0"/>
                <a:cs typeface="Courier New" panose="02070309020205020404" pitchFamily="49" charset="0"/>
              </a:rPr>
              <a:t>Rückmeldung</a:t>
            </a:r>
            <a:r>
              <a:rPr lang="en-US" i="1" dirty="0">
                <a:latin typeface="Courier New" panose="02070309020205020404" pitchFamily="49" charset="0"/>
                <a:cs typeface="Courier New" panose="02070309020205020404" pitchFamily="49" charset="0"/>
              </a:rPr>
              <a:t>&gt;" from table "(</a:t>
            </a:r>
            <a:r>
              <a:rPr lang="en-US" i="1" dirty="0" err="1">
                <a:latin typeface="Courier New" panose="02070309020205020404" pitchFamily="49" charset="0"/>
                <a:cs typeface="Courier New" panose="02070309020205020404" pitchFamily="49" charset="0"/>
              </a:rPr>
              <a:t>Workorder</a:t>
            </a:r>
            <a:r>
              <a:rPr lang="en-US" i="1" dirty="0">
                <a:latin typeface="Courier New" panose="02070309020205020404" pitchFamily="49" charset="0"/>
                <a:cs typeface="Courier New" panose="02070309020205020404" pitchFamily="49" charset="0"/>
              </a:rPr>
              <a:t>):(</a:t>
            </a:r>
            <a:r>
              <a:rPr lang="en-US" i="1" dirty="0" err="1">
                <a:latin typeface="Courier New" panose="02070309020205020404" pitchFamily="49" charset="0"/>
                <a:cs typeface="Courier New" panose="02070309020205020404" pitchFamily="49" charset="0"/>
              </a:rPr>
              <a:t>WorkOrders</a:t>
            </a:r>
            <a:r>
              <a:rPr lang="en-US" i="1" dirty="0">
                <a:latin typeface="Courier New" panose="02070309020205020404" pitchFamily="49" charset="0"/>
                <a:cs typeface="Courier New" panose="02070309020205020404" pitchFamily="49" charset="0"/>
              </a:rPr>
              <a:t>)" with command "DONE" for record "TEST_001"</a:t>
            </a:r>
          </a:p>
          <a:p>
            <a:pPr marL="0" indent="0">
              <a:buNone/>
            </a:pPr>
            <a:r>
              <a:rPr lang="en-US" i="1" dirty="0">
                <a:latin typeface="Courier New" panose="02070309020205020404" pitchFamily="49" charset="0"/>
                <a:cs typeface="Courier New" panose="02070309020205020404" pitchFamily="49" charset="0"/>
              </a:rPr>
              <a:t>And I set field "</a:t>
            </a:r>
            <a:r>
              <a:rPr lang="en-US" i="1" dirty="0" err="1">
                <a:latin typeface="Courier New" panose="02070309020205020404" pitchFamily="49" charset="0"/>
                <a:cs typeface="Courier New" panose="02070309020205020404" pitchFamily="49" charset="0"/>
              </a:rPr>
              <a:t>sofort</a:t>
            </a:r>
            <a:r>
              <a:rPr lang="en-US" i="1" dirty="0">
                <a:latin typeface="Courier New" panose="02070309020205020404" pitchFamily="49" charset="0"/>
                <a:cs typeface="Courier New" panose="02070309020205020404" pitchFamily="49" charset="0"/>
              </a:rPr>
              <a:t>" to "ja"</a:t>
            </a:r>
          </a:p>
          <a:p>
            <a:pPr marL="0" indent="0">
              <a:buNone/>
            </a:pPr>
            <a:r>
              <a:rPr lang="en-US" i="1" dirty="0">
                <a:latin typeface="Courier New" panose="02070309020205020404" pitchFamily="49" charset="0"/>
                <a:cs typeface="Courier New" panose="02070309020205020404" pitchFamily="49" charset="0"/>
              </a:rPr>
              <a:t>And I set field "</a:t>
            </a:r>
            <a:r>
              <a:rPr lang="en-US" i="1" dirty="0" err="1">
                <a:latin typeface="Courier New" panose="02070309020205020404" pitchFamily="49" charset="0"/>
                <a:cs typeface="Courier New" panose="02070309020205020404" pitchFamily="49" charset="0"/>
              </a:rPr>
              <a:t>gutmge</a:t>
            </a:r>
            <a:r>
              <a:rPr lang="en-US" i="1" dirty="0">
                <a:latin typeface="Courier New" panose="02070309020205020404" pitchFamily="49" charset="0"/>
                <a:cs typeface="Courier New" panose="02070309020205020404" pitchFamily="49" charset="0"/>
              </a:rPr>
              <a:t>" to "&lt;</a:t>
            </a:r>
            <a:r>
              <a:rPr lang="en-US" i="1" dirty="0" err="1">
                <a:latin typeface="Courier New" panose="02070309020205020404" pitchFamily="49" charset="0"/>
                <a:cs typeface="Courier New" panose="02070309020205020404" pitchFamily="49" charset="0"/>
              </a:rPr>
              <a:t>gutmge</a:t>
            </a:r>
            <a:r>
              <a:rPr lang="en-US" i="1" dirty="0">
                <a:latin typeface="Courier New" panose="02070309020205020404" pitchFamily="49" charset="0"/>
                <a:cs typeface="Courier New" panose="02070309020205020404" pitchFamily="49" charset="0"/>
              </a:rPr>
              <a:t>&gt;" in row 1</a:t>
            </a:r>
          </a:p>
          <a:p>
            <a:pPr marL="0" indent="0">
              <a:buNone/>
            </a:pPr>
            <a:r>
              <a:rPr lang="en-US" i="1" dirty="0">
                <a:latin typeface="Courier New" panose="02070309020205020404" pitchFamily="49" charset="0"/>
                <a:cs typeface="Courier New" panose="02070309020205020404" pitchFamily="49" charset="0"/>
              </a:rPr>
              <a:t>And I save the current editor</a:t>
            </a:r>
          </a:p>
          <a:p>
            <a:pPr marL="0" indent="0">
              <a:buNone/>
            </a:pPr>
            <a:endParaRPr lang="de-DE" dirty="0">
              <a:latin typeface="Courier New" panose="02070309020205020404" pitchFamily="49" charset="0"/>
              <a:cs typeface="Courier New" panose="02070309020205020404" pitchFamily="49" charset="0"/>
            </a:endParaRPr>
          </a:p>
          <a:p>
            <a:pPr marL="0" indent="0">
              <a:buNone/>
            </a:pPr>
            <a:r>
              <a:rPr lang="de-DE" b="1" dirty="0" err="1">
                <a:latin typeface="Courier New" panose="02070309020205020404" pitchFamily="49" charset="0"/>
                <a:cs typeface="Courier New" panose="02070309020205020404" pitchFamily="49" charset="0"/>
              </a:rPr>
              <a:t>Examples</a:t>
            </a:r>
            <a:r>
              <a:rPr lang="de-DE" b="1"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Rückmeldung	| </a:t>
            </a:r>
            <a:r>
              <a:rPr lang="de-DE" dirty="0" err="1">
                <a:latin typeface="Courier New" panose="02070309020205020404" pitchFamily="49" charset="0"/>
                <a:cs typeface="Courier New" panose="02070309020205020404" pitchFamily="49" charset="0"/>
              </a:rPr>
              <a:t>gutmge</a:t>
            </a: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Rückmeldung1	| 50	|</a:t>
            </a:r>
          </a:p>
          <a:p>
            <a:pPr marL="0" indent="0">
              <a:buNone/>
            </a:pPr>
            <a:r>
              <a:rPr lang="de-DE" dirty="0">
                <a:latin typeface="Courier New" panose="02070309020205020404" pitchFamily="49" charset="0"/>
                <a:cs typeface="Courier New" panose="02070309020205020404" pitchFamily="49" charset="0"/>
              </a:rPr>
              <a:t>| Rückmeldung2	| 10	|</a:t>
            </a:r>
          </a:p>
          <a:p>
            <a:pPr marL="0" indent="0">
              <a:buNone/>
            </a:pPr>
            <a:r>
              <a:rPr lang="de-DE" dirty="0">
                <a:latin typeface="Courier New" panose="02070309020205020404" pitchFamily="49" charset="0"/>
                <a:cs typeface="Courier New" panose="02070309020205020404" pitchFamily="49" charset="0"/>
              </a:rPr>
              <a:t>| Rückmeldung3	| 30	|</a:t>
            </a:r>
          </a:p>
        </p:txBody>
      </p:sp>
      <p:sp>
        <p:nvSpPr>
          <p:cNvPr id="4" name="Datumsplatzhalter 3"/>
          <p:cNvSpPr>
            <a:spLocks noGrp="1"/>
          </p:cNvSpPr>
          <p:nvPr>
            <p:ph type="dt" sz="half" idx="10"/>
          </p:nvPr>
        </p:nvSpPr>
        <p:spPr/>
        <p:txBody>
          <a:bodyPr/>
          <a:lstStyle/>
          <a:p>
            <a:fld id="{8346EF72-C4ED-412B-8BA4-4373CBA42329}"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47</a:t>
            </a:fld>
            <a:endParaRPr lang="de-DE"/>
          </a:p>
        </p:txBody>
      </p:sp>
    </p:spTree>
    <p:extLst>
      <p:ext uri="{BB962C8B-B14F-4D97-AF65-F5344CB8AC3E}">
        <p14:creationId xmlns:p14="http://schemas.microsoft.com/office/powerpoint/2010/main" val="42555358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Tests mit </a:t>
            </a:r>
            <a:r>
              <a:rPr lang="de-DE" dirty="0" err="1"/>
              <a:t>ServerFlag</a:t>
            </a:r>
            <a:endParaRPr lang="de-DE" dirty="0"/>
          </a:p>
        </p:txBody>
      </p:sp>
      <p:sp>
        <p:nvSpPr>
          <p:cNvPr id="3" name="Inhaltsplatzhalter 2"/>
          <p:cNvSpPr>
            <a:spLocks noGrp="1"/>
          </p:cNvSpPr>
          <p:nvPr>
            <p:ph idx="1"/>
          </p:nvPr>
        </p:nvSpPr>
        <p:spPr/>
        <p:txBody>
          <a:bodyPr/>
          <a:lstStyle/>
          <a:p>
            <a:r>
              <a:rPr lang="de-DE" dirty="0"/>
              <a:t>Um auf einem Mandanten mit </a:t>
            </a:r>
            <a:r>
              <a:rPr lang="de-DE" dirty="0" err="1"/>
              <a:t>Serverflag</a:t>
            </a:r>
            <a:r>
              <a:rPr lang="de-DE" dirty="0"/>
              <a:t> zu testen, in den </a:t>
            </a:r>
            <a:r>
              <a:rPr lang="de-DE" b="1" dirty="0"/>
              <a:t>Background</a:t>
            </a:r>
            <a:r>
              <a:rPr lang="de-DE" dirty="0"/>
              <a:t> folgenden </a:t>
            </a:r>
            <a:r>
              <a:rPr lang="de-DE" dirty="0" err="1"/>
              <a:t>Step</a:t>
            </a:r>
            <a:r>
              <a:rPr lang="de-DE" dirty="0"/>
              <a:t> einfügen:</a:t>
            </a:r>
          </a:p>
          <a:p>
            <a:pPr marL="324000" lvl="1" indent="0">
              <a:buNone/>
            </a:pP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enable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flag</a:t>
            </a:r>
            <a:r>
              <a:rPr lang="de-DE" dirty="0">
                <a:latin typeface="Courier New" panose="02070309020205020404" pitchFamily="49" charset="0"/>
                <a:cs typeface="Courier New" panose="02070309020205020404" pitchFamily="49" charset="0"/>
              </a:rPr>
              <a:t> (\d+)</a:t>
            </a:r>
          </a:p>
          <a:p>
            <a:endParaRPr lang="de-DE" dirty="0"/>
          </a:p>
          <a:p>
            <a:r>
              <a:rPr lang="de-DE" dirty="0"/>
              <a:t>Dadurch werden alle folgenden Scenarios dieses Features mit dem angegeben </a:t>
            </a:r>
            <a:r>
              <a:rPr lang="de-DE" dirty="0" err="1"/>
              <a:t>Serverflag</a:t>
            </a:r>
            <a:r>
              <a:rPr lang="de-DE" dirty="0"/>
              <a:t> getestet.</a:t>
            </a:r>
          </a:p>
        </p:txBody>
      </p:sp>
      <p:sp>
        <p:nvSpPr>
          <p:cNvPr id="4" name="Datumsplatzhalter 3"/>
          <p:cNvSpPr>
            <a:spLocks noGrp="1"/>
          </p:cNvSpPr>
          <p:nvPr>
            <p:ph type="dt" sz="half" idx="10"/>
          </p:nvPr>
        </p:nvSpPr>
        <p:spPr/>
        <p:txBody>
          <a:bodyPr/>
          <a:lstStyle/>
          <a:p>
            <a:fld id="{A43E2866-5769-4200-BF25-2BAFEAAF23A6}"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48</a:t>
            </a:fld>
            <a:endParaRPr lang="de-DE"/>
          </a:p>
        </p:txBody>
      </p:sp>
    </p:spTree>
    <p:extLst>
      <p:ext uri="{BB962C8B-B14F-4D97-AF65-F5344CB8AC3E}">
        <p14:creationId xmlns:p14="http://schemas.microsoft.com/office/powerpoint/2010/main" val="1306280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Testen mit </a:t>
            </a:r>
            <a:r>
              <a:rPr lang="de-DE" dirty="0" err="1"/>
              <a:t>Fake</a:t>
            </a:r>
            <a:r>
              <a:rPr lang="de-DE" dirty="0"/>
              <a:t> Date</a:t>
            </a:r>
          </a:p>
        </p:txBody>
      </p:sp>
      <p:sp>
        <p:nvSpPr>
          <p:cNvPr id="3" name="Inhaltsplatzhalter 2"/>
          <p:cNvSpPr>
            <a:spLocks noGrp="1"/>
          </p:cNvSpPr>
          <p:nvPr>
            <p:ph idx="1"/>
          </p:nvPr>
        </p:nvSpPr>
        <p:spPr/>
        <p:txBody>
          <a:bodyPr/>
          <a:lstStyle/>
          <a:p>
            <a:r>
              <a:rPr lang="de-DE" dirty="0"/>
              <a:t>Ein </a:t>
            </a:r>
            <a:r>
              <a:rPr lang="de-DE" dirty="0" err="1"/>
              <a:t>Fake</a:t>
            </a:r>
            <a:r>
              <a:rPr lang="de-DE" dirty="0"/>
              <a:t> Date kann entweder im </a:t>
            </a:r>
            <a:r>
              <a:rPr lang="de-DE" b="1" dirty="0"/>
              <a:t>Background</a:t>
            </a:r>
            <a:r>
              <a:rPr lang="de-DE" dirty="0"/>
              <a:t> gesetzt werden und ist dann für den gesamten Test gültig .</a:t>
            </a:r>
          </a:p>
          <a:p>
            <a:r>
              <a:rPr lang="de-DE" dirty="0"/>
              <a:t>Oder </a:t>
            </a:r>
            <a:r>
              <a:rPr lang="de-DE" b="1" dirty="0"/>
              <a:t>in einem Scenario</a:t>
            </a:r>
            <a:r>
              <a:rPr lang="de-DE" dirty="0"/>
              <a:t>, dann ist das </a:t>
            </a:r>
            <a:r>
              <a:rPr lang="de-DE" dirty="0" err="1"/>
              <a:t>Fake</a:t>
            </a:r>
            <a:r>
              <a:rPr lang="de-DE" dirty="0"/>
              <a:t> Date nur für dieses Scenario gültig. Im nächsten Scenario gilt dann entweder das aktuelle Datum oder ein anderes gesetztes </a:t>
            </a:r>
            <a:r>
              <a:rPr lang="de-DE" dirty="0" err="1"/>
              <a:t>Fake</a:t>
            </a:r>
            <a:r>
              <a:rPr lang="de-DE" dirty="0"/>
              <a:t> Date. </a:t>
            </a:r>
          </a:p>
          <a:p>
            <a:r>
              <a:rPr lang="de-DE" dirty="0"/>
              <a:t>Ein . (Punkt) setzt das </a:t>
            </a:r>
            <a:r>
              <a:rPr lang="de-DE" dirty="0" err="1"/>
              <a:t>Fake</a:t>
            </a:r>
            <a:r>
              <a:rPr lang="de-DE" dirty="0"/>
              <a:t> Date auf das aktuelle Tagesdatum.</a:t>
            </a:r>
          </a:p>
          <a:p>
            <a:r>
              <a:rPr lang="de-DE" dirty="0"/>
              <a:t>Ist das </a:t>
            </a:r>
            <a:r>
              <a:rPr lang="de-DE" dirty="0" err="1"/>
              <a:t>Fake</a:t>
            </a:r>
            <a:r>
              <a:rPr lang="de-DE" dirty="0"/>
              <a:t> Date im Background und im Scenario aktiv und lässt im Scenario das </a:t>
            </a:r>
            <a:r>
              <a:rPr lang="de-DE" dirty="0" err="1"/>
              <a:t>Fake</a:t>
            </a:r>
            <a:r>
              <a:rPr lang="de-DE" dirty="0"/>
              <a:t> Date auf leer, wird der </a:t>
            </a:r>
            <a:r>
              <a:rPr lang="de-DE" dirty="0" err="1"/>
              <a:t>Fake</a:t>
            </a:r>
            <a:r>
              <a:rPr lang="de-DE" dirty="0"/>
              <a:t> Date Wert aus dem Background gesetzt. Setzt man im Scenario den . (Punkt), wird auch hier das das aktuelle Tagesdatum gesetzt.</a:t>
            </a:r>
          </a:p>
          <a:p>
            <a:pPr marL="0" indent="0">
              <a:buNone/>
            </a:pPr>
            <a:r>
              <a:rPr lang="de-DE" dirty="0"/>
              <a:t>	</a:t>
            </a:r>
            <a:r>
              <a:rPr lang="de-DE" dirty="0" err="1">
                <a:latin typeface="Courier New" panose="02070309020205020404" pitchFamily="49" charset="0"/>
                <a:cs typeface="Courier New" panose="02070309020205020404" pitchFamily="49" charset="0"/>
              </a:rPr>
              <a:t>Given</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set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a:t>
            </a:r>
            <a:r>
              <a:rPr lang="de-DE" dirty="0">
                <a:latin typeface="Courier New" panose="02070309020205020404" pitchFamily="49" charset="0"/>
                <a:cs typeface="Courier New" panose="02070309020205020404" pitchFamily="49" charset="0"/>
              </a:rPr>
              <a:t> fake </a:t>
            </a:r>
            <a:r>
              <a:rPr lang="de-DE" dirty="0" err="1">
                <a:latin typeface="Courier New" panose="02070309020205020404" pitchFamily="49" charset="0"/>
                <a:cs typeface="Courier New" panose="02070309020205020404" pitchFamily="49" charset="0"/>
              </a:rPr>
              <a:t>date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r>
              <a:rPr lang="de-DE" dirty="0">
                <a:latin typeface="Courier New" panose="02070309020205020404" pitchFamily="49" charset="0"/>
                <a:cs typeface="Courier New" panose="02070309020205020404" pitchFamily="49" charset="0"/>
              </a:rPr>
              <a:t> "([^"]*)" </a:t>
            </a:r>
          </a:p>
        </p:txBody>
      </p:sp>
      <p:sp>
        <p:nvSpPr>
          <p:cNvPr id="4" name="Datumsplatzhalter 3"/>
          <p:cNvSpPr>
            <a:spLocks noGrp="1"/>
          </p:cNvSpPr>
          <p:nvPr>
            <p:ph type="dt" sz="half" idx="10"/>
          </p:nvPr>
        </p:nvSpPr>
        <p:spPr/>
        <p:txBody>
          <a:bodyPr/>
          <a:lstStyle/>
          <a:p>
            <a:fld id="{119050A1-0F2D-4BB7-817B-D1C20BB2D11D}"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49</a:t>
            </a:fld>
            <a:endParaRPr lang="de-DE"/>
          </a:p>
        </p:txBody>
      </p:sp>
    </p:spTree>
    <p:extLst>
      <p:ext uri="{BB962C8B-B14F-4D97-AF65-F5344CB8AC3E}">
        <p14:creationId xmlns:p14="http://schemas.microsoft.com/office/powerpoint/2010/main" val="15007741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Individuelle </a:t>
            </a:r>
            <a:r>
              <a:rPr lang="de-DE" dirty="0" err="1"/>
              <a:t>Steps</a:t>
            </a:r>
            <a:endParaRPr lang="de-DE" dirty="0"/>
          </a:p>
        </p:txBody>
      </p:sp>
      <p:sp>
        <p:nvSpPr>
          <p:cNvPr id="3" name="Inhaltsplatzhalter 2"/>
          <p:cNvSpPr>
            <a:spLocks noGrp="1"/>
          </p:cNvSpPr>
          <p:nvPr>
            <p:ph idx="1"/>
          </p:nvPr>
        </p:nvSpPr>
        <p:spPr/>
        <p:txBody>
          <a:bodyPr>
            <a:normAutofit fontScale="92500" lnSpcReduction="10000"/>
          </a:bodyPr>
          <a:lstStyle/>
          <a:p>
            <a:r>
              <a:rPr lang="de-DE" dirty="0"/>
              <a:t>Individuelle </a:t>
            </a:r>
            <a:r>
              <a:rPr lang="de-DE" dirty="0" err="1"/>
              <a:t>Steps</a:t>
            </a:r>
            <a:r>
              <a:rPr lang="de-DE" dirty="0"/>
              <a:t> vereinfachen das Skript: was über mehrere Zeilen geschrieben werden muss, kann in nur einer Zeile zusammengefasst werden.</a:t>
            </a:r>
          </a:p>
          <a:p>
            <a:r>
              <a:rPr lang="de-DE" dirty="0"/>
              <a:t>Die Definition erfolgt in .</a:t>
            </a:r>
            <a:r>
              <a:rPr lang="de-DE" dirty="0" err="1"/>
              <a:t>java</a:t>
            </a:r>
            <a:r>
              <a:rPr lang="de-DE" dirty="0"/>
              <a:t> Dateien.</a:t>
            </a:r>
          </a:p>
          <a:p>
            <a:r>
              <a:rPr lang="de-DE" dirty="0"/>
              <a:t>Die </a:t>
            </a:r>
            <a:r>
              <a:rPr lang="de-DE" dirty="0" err="1"/>
              <a:t>Steps</a:t>
            </a:r>
            <a:r>
              <a:rPr lang="de-DE" dirty="0"/>
              <a:t> werden auch in der Auto-</a:t>
            </a:r>
            <a:r>
              <a:rPr lang="de-DE" dirty="0" err="1"/>
              <a:t>Completion</a:t>
            </a:r>
            <a:r>
              <a:rPr lang="de-DE" dirty="0"/>
              <a:t> angezeigt, sind aber weiter als individuell gekennzeichnet.</a:t>
            </a:r>
          </a:p>
          <a:p>
            <a:r>
              <a:rPr lang="de-DE" dirty="0"/>
              <a:t>Jeder kann individuelle </a:t>
            </a:r>
            <a:r>
              <a:rPr lang="de-DE" dirty="0" err="1"/>
              <a:t>Steps</a:t>
            </a:r>
            <a:r>
              <a:rPr lang="de-DE" dirty="0"/>
              <a:t> schreiben, diese sollten aber immer mit anderen angesprochen sein, da</a:t>
            </a:r>
          </a:p>
          <a:p>
            <a:pPr lvl="1"/>
            <a:r>
              <a:rPr lang="de-DE" dirty="0"/>
              <a:t>ein individueller </a:t>
            </a:r>
            <a:r>
              <a:rPr lang="de-DE" dirty="0" err="1"/>
              <a:t>Step</a:t>
            </a:r>
            <a:r>
              <a:rPr lang="de-DE" dirty="0"/>
              <a:t> für mehrere nützlich sein soll</a:t>
            </a:r>
          </a:p>
          <a:p>
            <a:pPr lvl="1"/>
            <a:r>
              <a:rPr lang="de-DE" dirty="0"/>
              <a:t>ein individueller </a:t>
            </a:r>
            <a:r>
              <a:rPr lang="de-DE" dirty="0" err="1"/>
              <a:t>Step</a:t>
            </a:r>
            <a:r>
              <a:rPr lang="de-DE" dirty="0"/>
              <a:t> keine Rechtschreib- oder Grammatikfehler beinhalten soll</a:t>
            </a:r>
          </a:p>
          <a:p>
            <a:pPr lvl="1"/>
            <a:r>
              <a:rPr lang="de-DE" dirty="0"/>
              <a:t>keine Dopplungen vorkommen sollen</a:t>
            </a:r>
          </a:p>
          <a:p>
            <a:pPr lvl="1"/>
            <a:r>
              <a:rPr lang="de-DE" dirty="0"/>
              <a:t>manches auch zu viel des Guten ist </a:t>
            </a:r>
            <a:r>
              <a:rPr lang="de-DE" dirty="0">
                <a:sym typeface="Wingdings" panose="05000000000000000000" pitchFamily="2" charset="2"/>
              </a:rPr>
              <a:t></a:t>
            </a:r>
          </a:p>
          <a:p>
            <a:r>
              <a:rPr lang="de-DE" dirty="0">
                <a:sym typeface="Wingdings" panose="05000000000000000000" pitchFamily="2" charset="2"/>
              </a:rPr>
              <a:t>Auf der Wiki-Seite von </a:t>
            </a:r>
            <a:r>
              <a:rPr lang="de-DE" dirty="0" err="1">
                <a:sym typeface="Wingdings" panose="05000000000000000000" pitchFamily="2" charset="2"/>
              </a:rPr>
              <a:t>Cucumber</a:t>
            </a:r>
            <a:r>
              <a:rPr lang="de-DE" dirty="0">
                <a:sym typeface="Wingdings" panose="05000000000000000000" pitchFamily="2" charset="2"/>
              </a:rPr>
              <a:t> ist der Prozess bzw. das Vorgehen beim Erstellen eines individuellen </a:t>
            </a:r>
            <a:r>
              <a:rPr lang="de-DE" dirty="0" err="1">
                <a:sym typeface="Wingdings" panose="05000000000000000000" pitchFamily="2" charset="2"/>
              </a:rPr>
              <a:t>Steps</a:t>
            </a:r>
            <a:r>
              <a:rPr lang="de-DE" dirty="0">
                <a:sym typeface="Wingdings" panose="05000000000000000000" pitchFamily="2" charset="2"/>
              </a:rPr>
              <a:t> beschrieben.</a:t>
            </a:r>
            <a:endParaRPr lang="de-DE" dirty="0"/>
          </a:p>
        </p:txBody>
      </p:sp>
      <p:sp>
        <p:nvSpPr>
          <p:cNvPr id="4" name="Datumsplatzhalter 3"/>
          <p:cNvSpPr>
            <a:spLocks noGrp="1"/>
          </p:cNvSpPr>
          <p:nvPr>
            <p:ph type="dt" sz="half" idx="10"/>
          </p:nvPr>
        </p:nvSpPr>
        <p:spPr/>
        <p:txBody>
          <a:bodyPr/>
          <a:lstStyle/>
          <a:p>
            <a:fld id="{5233E743-96EE-46B9-AFD1-A1B4D0C4D24C}"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50</a:t>
            </a:fld>
            <a:endParaRPr lang="de-DE"/>
          </a:p>
        </p:txBody>
      </p:sp>
    </p:spTree>
    <p:extLst>
      <p:ext uri="{BB962C8B-B14F-4D97-AF65-F5344CB8AC3E}">
        <p14:creationId xmlns:p14="http://schemas.microsoft.com/office/powerpoint/2010/main" val="38615461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Beispiele für individuelle </a:t>
            </a:r>
            <a:r>
              <a:rPr lang="de-DE" dirty="0" err="1"/>
              <a:t>Steps</a:t>
            </a:r>
            <a:r>
              <a:rPr lang="de-DE" dirty="0"/>
              <a:t> </a:t>
            </a:r>
          </a:p>
        </p:txBody>
      </p:sp>
      <p:sp>
        <p:nvSpPr>
          <p:cNvPr id="3" name="Inhaltsplatzhalter 2"/>
          <p:cNvSpPr>
            <a:spLocks noGrp="1"/>
          </p:cNvSpPr>
          <p:nvPr>
            <p:ph idx="1"/>
          </p:nvPr>
        </p:nvSpPr>
        <p:spPr/>
        <p:txBody>
          <a:bodyPr>
            <a:normAutofit fontScale="92500" lnSpcReduction="20000"/>
          </a:bodyPr>
          <a:lstStyle/>
          <a:p>
            <a:r>
              <a:rPr lang="de-DE" dirty="0"/>
              <a:t>Dispo starten</a:t>
            </a:r>
          </a:p>
          <a:p>
            <a:pPr marL="0" indent="0">
              <a:buNone/>
            </a:pPr>
            <a:r>
              <a:rPr lang="de-DE" dirty="0"/>
              <a:t>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I </a:t>
            </a:r>
            <a:r>
              <a:rPr lang="de-DE" dirty="0" err="1">
                <a:latin typeface="Courier New" panose="02070309020205020404" pitchFamily="49" charset="0"/>
                <a:cs typeface="Courier New" panose="02070309020205020404" pitchFamily="49" charset="0"/>
              </a:rPr>
              <a:t>run</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Scheduling</a:t>
            </a:r>
            <a:endParaRPr lang="de-DE" dirty="0">
              <a:latin typeface="Courier New" panose="02070309020205020404" pitchFamily="49" charset="0"/>
              <a:cs typeface="Courier New" panose="02070309020205020404" pitchFamily="49" charset="0"/>
            </a:endParaRPr>
          </a:p>
          <a:p>
            <a:r>
              <a:rPr lang="de-DE" dirty="0"/>
              <a:t>Bestand auf Null korrigieren</a:t>
            </a:r>
          </a:p>
          <a:p>
            <a:pPr marL="0" indent="0">
              <a:buNone/>
            </a:pPr>
            <a:r>
              <a:rPr lang="de-DE"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I set stock quantity to zero for product "([^"]*)" on storage location 	"([^"]*)" with document "([^"]*)"</a:t>
            </a:r>
            <a:endParaRPr lang="de-DE" dirty="0">
              <a:latin typeface="Courier New" panose="02070309020205020404" pitchFamily="49" charset="0"/>
              <a:cs typeface="Courier New" panose="02070309020205020404" pitchFamily="49" charset="0"/>
            </a:endParaRPr>
          </a:p>
          <a:p>
            <a:r>
              <a:rPr lang="de-DE" dirty="0">
                <a:latin typeface="+mj-lt"/>
                <a:cs typeface="Courier New" panose="02070309020205020404" pitchFamily="49" charset="0"/>
              </a:rPr>
              <a:t>Bestand </a:t>
            </a:r>
            <a:r>
              <a:rPr lang="de-DE" dirty="0" err="1">
                <a:latin typeface="+mj-lt"/>
                <a:cs typeface="Courier New" panose="02070309020205020404" pitchFamily="49" charset="0"/>
              </a:rPr>
              <a:t>zubuchen</a:t>
            </a:r>
            <a:r>
              <a:rPr lang="de-DE" dirty="0">
                <a:latin typeface="+mj-lt"/>
                <a:cs typeface="Courier New" panose="02070309020205020404" pitchFamily="49" charset="0"/>
              </a:rPr>
              <a:t> oder umbuchen</a:t>
            </a:r>
          </a:p>
          <a:p>
            <a:pPr marL="0" indent="0">
              <a:buNone/>
            </a:pPr>
            <a:r>
              <a:rPr lang="de-DE" dirty="0">
                <a:latin typeface="+mj-lt"/>
                <a:cs typeface="Courier New" panose="02070309020205020404" pitchFamily="49" charset="0"/>
              </a:rPr>
              <a:t>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I post a receipt via manual stock adjustment for product "([^"]*)" and 	quantity "([^"]*)" on storage location "([^"]*)" with document "([^"]*)"</a:t>
            </a:r>
            <a:endParaRPr lang="de-DE" dirty="0">
              <a:latin typeface="Courier New" panose="02070309020205020404" pitchFamily="49" charset="0"/>
              <a:cs typeface="Courier New" panose="02070309020205020404" pitchFamily="49" charset="0"/>
            </a:endParaRPr>
          </a:p>
          <a:p>
            <a:pPr marL="0" indent="0">
              <a:buNone/>
            </a:pPr>
            <a:r>
              <a:rPr lang="de-DE" dirty="0">
                <a:latin typeface="+mj-lt"/>
                <a:cs typeface="Courier New" panose="02070309020205020404" pitchFamily="49" charset="0"/>
              </a:rPr>
              <a:t>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I transfer stock quantity of "([^"]*)" for product "([^"]*)" from location 	"([^"]*)" to "([^"]*)" with document "([^"]*)"</a:t>
            </a:r>
            <a:endParaRPr lang="de-DE" dirty="0">
              <a:latin typeface="Courier New" panose="02070309020205020404" pitchFamily="49" charset="0"/>
              <a:cs typeface="Courier New" panose="02070309020205020404" pitchFamily="49" charset="0"/>
            </a:endParaRPr>
          </a:p>
          <a:p>
            <a:r>
              <a:rPr lang="de-DE" dirty="0">
                <a:latin typeface="+mj-lt"/>
                <a:cs typeface="Courier New" panose="02070309020205020404" pitchFamily="49" charset="0"/>
              </a:rPr>
              <a:t>Chargen anlegen</a:t>
            </a:r>
          </a:p>
          <a:p>
            <a:pPr marL="0" indent="0">
              <a:buNone/>
            </a:pPr>
            <a:r>
              <a:rPr lang="de-DE" dirty="0">
                <a:latin typeface="+mj-lt"/>
                <a:cs typeface="Courier New" panose="02070309020205020404" pitchFamily="49" charset="0"/>
              </a:rPr>
              <a:t>	</a:t>
            </a:r>
            <a:r>
              <a:rPr lang="de-DE" dirty="0" err="1">
                <a:latin typeface="Courier New" panose="02070309020205020404" pitchFamily="49" charset="0"/>
                <a:cs typeface="Courier New" panose="02070309020205020404" pitchFamily="49" charset="0"/>
              </a:rPr>
              <a:t>And</a:t>
            </a:r>
            <a:r>
              <a:rPr lang="de-DE"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I create a Lot "([^"]*)" for product "([^"]*)"</a:t>
            </a:r>
            <a:endParaRPr lang="de-DE" dirty="0">
              <a:latin typeface="Courier New" panose="02070309020205020404" pitchFamily="49" charset="0"/>
              <a:cs typeface="Courier New" panose="02070309020205020404" pitchFamily="49" charset="0"/>
            </a:endParaRPr>
          </a:p>
        </p:txBody>
      </p:sp>
      <p:sp>
        <p:nvSpPr>
          <p:cNvPr id="4" name="Datumsplatzhalter 3"/>
          <p:cNvSpPr>
            <a:spLocks noGrp="1"/>
          </p:cNvSpPr>
          <p:nvPr>
            <p:ph type="dt" sz="half" idx="10"/>
          </p:nvPr>
        </p:nvSpPr>
        <p:spPr/>
        <p:txBody>
          <a:bodyPr/>
          <a:lstStyle/>
          <a:p>
            <a:fld id="{CA755DC8-D055-4213-9AA6-BC5CE00E42B9}"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51</a:t>
            </a:fld>
            <a:endParaRPr lang="de-DE"/>
          </a:p>
        </p:txBody>
      </p:sp>
    </p:spTree>
    <p:extLst>
      <p:ext uri="{BB962C8B-B14F-4D97-AF65-F5344CB8AC3E}">
        <p14:creationId xmlns:p14="http://schemas.microsoft.com/office/powerpoint/2010/main" val="1816470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Tipps zur Skriptgestaltung</a:t>
            </a:r>
          </a:p>
        </p:txBody>
      </p:sp>
      <p:sp>
        <p:nvSpPr>
          <p:cNvPr id="3" name="Inhaltsplatzhalter 2"/>
          <p:cNvSpPr>
            <a:spLocks noGrp="1"/>
          </p:cNvSpPr>
          <p:nvPr>
            <p:ph idx="1"/>
          </p:nvPr>
        </p:nvSpPr>
        <p:spPr/>
        <p:txBody>
          <a:bodyPr>
            <a:normAutofit lnSpcReduction="10000"/>
          </a:bodyPr>
          <a:lstStyle/>
          <a:p>
            <a:pPr marL="342900" indent="-342900">
              <a:buFont typeface="+mj-lt"/>
              <a:buAutoNum type="arabicPeriod"/>
            </a:pPr>
            <a:r>
              <a:rPr lang="de-DE" dirty="0"/>
              <a:t>Kommentare und Beschreibungen</a:t>
            </a:r>
          </a:p>
          <a:p>
            <a:pPr lvl="1"/>
            <a:r>
              <a:rPr lang="de-DE" dirty="0"/>
              <a:t>Weitere oder ausführlichere Informationen zum Testfall sollten über Kommentare eingefügt werden. In den Testfällen auf dieser Seite wurden die einzelnen Aktionen innerhalb des Scanarios kommentiert, um sie nachvollziehbar zu gestalten. Dies erhöht die Lesbarkeit eines Testskripts und macht es verständlicher für Dritte.</a:t>
            </a:r>
          </a:p>
          <a:p>
            <a:pPr lvl="1"/>
            <a:r>
              <a:rPr lang="de-DE" dirty="0"/>
              <a:t>Kommentare werden mit # eingeleitet. Anschließend folgt der Kommentartext. </a:t>
            </a:r>
          </a:p>
          <a:p>
            <a:pPr lvl="1"/>
            <a:r>
              <a:rPr lang="de-DE" dirty="0"/>
              <a:t>Über Strg + 7 werden alle markierten Zeilen aus-/</a:t>
            </a:r>
            <a:r>
              <a:rPr lang="de-DE" dirty="0" err="1"/>
              <a:t>einkommentiert</a:t>
            </a:r>
            <a:r>
              <a:rPr lang="de-DE" dirty="0"/>
              <a:t>.</a:t>
            </a:r>
          </a:p>
          <a:p>
            <a:pPr marL="342900" indent="-342900">
              <a:buFont typeface="+mj-lt"/>
              <a:buAutoNum type="arabicPeriod"/>
            </a:pPr>
            <a:r>
              <a:rPr lang="de-DE" dirty="0"/>
              <a:t>Tags</a:t>
            </a:r>
          </a:p>
          <a:p>
            <a:pPr lvl="1"/>
            <a:r>
              <a:rPr lang="de-DE" dirty="0"/>
              <a:t>Tags eignen sich zum Abgrenzen der einzelnen Scenarios. </a:t>
            </a:r>
          </a:p>
          <a:p>
            <a:pPr lvl="1"/>
            <a:r>
              <a:rPr lang="de-DE" dirty="0"/>
              <a:t>Mit einem @ wird ein Tag initialisiert. Handelt es sich bei den nachfolgenden Scenarios z.B. um Stammdaten, die für den Testdurchlauf benötigt werden, sollten diese mit @Testvorbereitung gekennzeichnet werden. Die Scenarios sollten mit dem jeweiligen Modul, Projekt, etc. gekennzeichnet werden.</a:t>
            </a:r>
          </a:p>
          <a:p>
            <a:pPr lvl="1"/>
            <a:r>
              <a:rPr lang="de-DE" dirty="0"/>
              <a:t>Tags können in den </a:t>
            </a:r>
            <a:r>
              <a:rPr lang="de-DE" dirty="0" err="1"/>
              <a:t>RunCukes</a:t>
            </a:r>
            <a:r>
              <a:rPr lang="de-DE" dirty="0"/>
              <a:t> aktiviert werden, dadurch laufen nur die Tests, die dieses Tag/diese Tags haben.</a:t>
            </a:r>
          </a:p>
        </p:txBody>
      </p:sp>
      <p:sp>
        <p:nvSpPr>
          <p:cNvPr id="4" name="Datumsplatzhalter 3"/>
          <p:cNvSpPr>
            <a:spLocks noGrp="1"/>
          </p:cNvSpPr>
          <p:nvPr>
            <p:ph type="dt" sz="half" idx="10"/>
          </p:nvPr>
        </p:nvSpPr>
        <p:spPr/>
        <p:txBody>
          <a:bodyPr/>
          <a:lstStyle/>
          <a:p>
            <a:fld id="{88C87EFB-B400-46CE-B803-9F6318531A86}"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52</a:t>
            </a:fld>
            <a:endParaRPr lang="de-DE"/>
          </a:p>
        </p:txBody>
      </p:sp>
    </p:spTree>
    <p:extLst>
      <p:ext uri="{BB962C8B-B14F-4D97-AF65-F5344CB8AC3E}">
        <p14:creationId xmlns:p14="http://schemas.microsoft.com/office/powerpoint/2010/main" val="1140122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a:t>Tipps zur Skriptgestaltung</a:t>
            </a:r>
          </a:p>
        </p:txBody>
      </p:sp>
      <p:sp>
        <p:nvSpPr>
          <p:cNvPr id="5" name="Inhaltsplatzhalter 4"/>
          <p:cNvSpPr>
            <a:spLocks noGrp="1"/>
          </p:cNvSpPr>
          <p:nvPr>
            <p:ph idx="1"/>
          </p:nvPr>
        </p:nvSpPr>
        <p:spPr/>
        <p:txBody>
          <a:bodyPr>
            <a:normAutofit lnSpcReduction="10000"/>
          </a:bodyPr>
          <a:lstStyle/>
          <a:p>
            <a:pPr marL="342900" indent="-342900">
              <a:buFont typeface="+mj-lt"/>
              <a:buAutoNum type="arabicPeriod" startAt="3"/>
            </a:pPr>
            <a:r>
              <a:rPr lang="de-DE" dirty="0"/>
              <a:t>Editoren benennen</a:t>
            </a:r>
          </a:p>
          <a:p>
            <a:pPr lvl="1"/>
            <a:r>
              <a:rPr lang="de-DE" dirty="0"/>
              <a:t>Grundsätzlich sollte man beim Testschreiben darauf achten, dass auch Dritte den Testaufbau nachvollziehen können.</a:t>
            </a:r>
          </a:p>
          <a:p>
            <a:pPr lvl="1"/>
            <a:r>
              <a:rPr lang="de-DE" dirty="0"/>
              <a:t>Benennt man den Editor so, wie der Datensatz heißt oder präzisiert ihn durch eine Nummerierung, ist der Test auch für Dritte einfacher lesbar.</a:t>
            </a:r>
          </a:p>
          <a:p>
            <a:pPr lvl="2"/>
            <a:r>
              <a:rPr lang="de-DE" dirty="0"/>
              <a:t>Bsp. 1: Ein neuert Artikel wird angelegt. Hier empfiehlt es sich, den Editor nach dem Suchwort des Artikels zu benennen. Verweist man später auf den Editor oder wechselt mit dem entsprechenden </a:t>
            </a:r>
            <a:r>
              <a:rPr lang="de-DE" dirty="0" err="1"/>
              <a:t>Step</a:t>
            </a:r>
            <a:r>
              <a:rPr lang="de-DE" dirty="0"/>
              <a:t> wieder in diesen Editor, kann einfacher nachvollzogen werden, wo man sich im Test befindet.</a:t>
            </a:r>
          </a:p>
          <a:p>
            <a:pPr lvl="2"/>
            <a:r>
              <a:rPr lang="de-DE" dirty="0"/>
              <a:t>Bsp. 2: Werden mehrere Rückmeldungen gebucht, kann eine Nummerierung hilfreich sein: „Rückmeldung1“, „Rückmeldung2“, usw. </a:t>
            </a:r>
          </a:p>
          <a:p>
            <a:pPr lvl="2"/>
            <a:r>
              <a:rPr lang="de-DE" dirty="0"/>
              <a:t>Bsp. 3: In einem Scenario werden mehrere Aufträge an verschiedene Kunden angelegt. Hier können eine Kombination aus Nummerierung und Hinweis auf den Kunden das Nachvollziehen erleichtern: „auftrag1_MUELLER“, „auftrag2_MAIER“</a:t>
            </a:r>
          </a:p>
          <a:p>
            <a:pPr lvl="1"/>
            <a:r>
              <a:rPr lang="de-DE" dirty="0"/>
              <a:t>Die IDs der im Test geöffneten Editoren wird im </a:t>
            </a:r>
            <a:r>
              <a:rPr lang="de-DE" dirty="0" err="1"/>
              <a:t>idcache</a:t>
            </a:r>
            <a:r>
              <a:rPr lang="de-DE" dirty="0"/>
              <a:t> im Package Explorer gespeichert. Ein weiterer Vorteil der eindeutigen Benennung von Editoren ist, dass im </a:t>
            </a:r>
            <a:r>
              <a:rPr lang="de-DE" dirty="0" err="1"/>
              <a:t>idcache</a:t>
            </a:r>
            <a:r>
              <a:rPr lang="de-DE" dirty="0"/>
              <a:t> alle ID angesehen und der Datensatz darüber in einer GUI geöffnet werden kann. Sind Editoren gleich benannt, werden die IDs im </a:t>
            </a:r>
            <a:r>
              <a:rPr lang="de-DE" dirty="0" err="1"/>
              <a:t>idcache</a:t>
            </a:r>
            <a:r>
              <a:rPr lang="de-DE" dirty="0"/>
              <a:t> überschrieben.</a:t>
            </a:r>
          </a:p>
        </p:txBody>
      </p:sp>
      <p:sp>
        <p:nvSpPr>
          <p:cNvPr id="2" name="Datumsplatzhalter 1"/>
          <p:cNvSpPr>
            <a:spLocks noGrp="1"/>
          </p:cNvSpPr>
          <p:nvPr>
            <p:ph type="dt" sz="half" idx="10"/>
          </p:nvPr>
        </p:nvSpPr>
        <p:spPr/>
        <p:txBody>
          <a:bodyPr/>
          <a:lstStyle/>
          <a:p>
            <a:fld id="{1BBBFFD0-076B-403D-B16B-BE53F9857095}" type="datetime1">
              <a:rPr lang="de-DE" smtClean="0"/>
              <a:t>15.06.2020</a:t>
            </a:fld>
            <a:endParaRPr lang="de-DE"/>
          </a:p>
        </p:txBody>
      </p:sp>
      <p:sp>
        <p:nvSpPr>
          <p:cNvPr id="3" name="Foliennummernplatzhalter 2"/>
          <p:cNvSpPr>
            <a:spLocks noGrp="1"/>
          </p:cNvSpPr>
          <p:nvPr>
            <p:ph type="sldNum" sz="quarter" idx="12"/>
          </p:nvPr>
        </p:nvSpPr>
        <p:spPr/>
        <p:txBody>
          <a:bodyPr/>
          <a:lstStyle/>
          <a:p>
            <a:fld id="{2BD49046-6E03-44BD-86B4-CD06AAC78235}" type="slidenum">
              <a:rPr lang="de-DE" smtClean="0"/>
              <a:t>53</a:t>
            </a:fld>
            <a:endParaRPr lang="de-DE"/>
          </a:p>
        </p:txBody>
      </p:sp>
    </p:spTree>
    <p:extLst>
      <p:ext uri="{BB962C8B-B14F-4D97-AF65-F5344CB8AC3E}">
        <p14:creationId xmlns:p14="http://schemas.microsoft.com/office/powerpoint/2010/main" val="1437828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Lösungen – Aufgabe 1</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54</a:t>
            </a:fld>
            <a:endParaRPr lang="de-DE"/>
          </a:p>
        </p:txBody>
      </p:sp>
      <p:sp>
        <p:nvSpPr>
          <p:cNvPr id="6" name="Rectangle 1"/>
          <p:cNvSpPr>
            <a:spLocks noGrp="1" noChangeArrowheads="1"/>
          </p:cNvSpPr>
          <p:nvPr>
            <p:ph idx="1"/>
          </p:nvPr>
        </p:nvSpPr>
        <p:spPr bwMode="auto">
          <a:xfrm>
            <a:off x="581192" y="2280710"/>
            <a:ext cx="7661072" cy="3477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None/>
            </a:pPr>
            <a:r>
              <a:rPr kumimoji="0" lang="de-DE" altLang="de-DE" sz="1000" b="1" i="0" u="none" strike="noStrike" cap="none" normalizeH="0" baseline="0" dirty="0">
                <a:ln>
                  <a:noFill/>
                </a:ln>
                <a:solidFill>
                  <a:srgbClr val="000080"/>
                </a:solidFill>
                <a:effectLst/>
                <a:latin typeface="Consolas" panose="020B0609020204030204" pitchFamily="49" charset="0"/>
              </a:rPr>
              <a:t>Scenario</a:t>
            </a:r>
            <a:r>
              <a:rPr kumimoji="0" lang="de-DE" altLang="de-DE" sz="1000" b="0" i="0" u="none" strike="noStrike" cap="none" normalizeH="0" baseline="0" dirty="0">
                <a:ln>
                  <a:noFill/>
                </a:ln>
                <a:solidFill>
                  <a:srgbClr val="000000"/>
                </a:solidFill>
                <a:effectLst/>
                <a:latin typeface="Consolas" panose="020B0609020204030204" pitchFamily="49" charset="0"/>
              </a:rPr>
              <a:t>: Prozessdurchlauf Schulung</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1" u="none" strike="noStrike" cap="none" normalizeH="0" baseline="0" dirty="0">
                <a:ln>
                  <a:noFill/>
                </a:ln>
                <a:solidFill>
                  <a:srgbClr val="808080"/>
                </a:solidFill>
                <a:effectLst/>
                <a:latin typeface="Consolas" panose="020B0609020204030204" pitchFamily="49" charset="0"/>
              </a:rPr>
              <a:t># Aufgabe 1: Einkaufsartikel und </a:t>
            </a:r>
            <a:r>
              <a:rPr kumimoji="0" lang="de-DE" altLang="de-DE" sz="1000" b="0" i="1" u="none" strike="noStrike" cap="none" normalizeH="0" baseline="0" dirty="0" err="1">
                <a:ln>
                  <a:noFill/>
                </a:ln>
                <a:solidFill>
                  <a:srgbClr val="808080"/>
                </a:solidFill>
                <a:effectLst/>
                <a:latin typeface="Consolas" panose="020B0609020204030204" pitchFamily="49" charset="0"/>
              </a:rPr>
              <a:t>Baufruppe</a:t>
            </a:r>
            <a:r>
              <a:rPr kumimoji="0" lang="de-DE" altLang="de-DE" sz="1000" b="0" i="1" u="none" strike="noStrike" cap="none" normalizeH="0" baseline="0" dirty="0">
                <a:ln>
                  <a:noFill/>
                </a:ln>
                <a:solidFill>
                  <a:srgbClr val="808080"/>
                </a:solidFill>
                <a:effectLst/>
                <a:latin typeface="Consolas" panose="020B0609020204030204" pitchFamily="49" charset="0"/>
              </a:rPr>
              <a:t> anlegen</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ARTI1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(Part):(</a:t>
            </a:r>
            <a:r>
              <a:rPr kumimoji="0" lang="de-DE" altLang="de-DE" sz="1000" b="1" i="0" u="none" strike="noStrike" cap="none" normalizeH="0" baseline="0" dirty="0" err="1">
                <a:ln>
                  <a:noFill/>
                </a:ln>
                <a:solidFill>
                  <a:srgbClr val="297BDE"/>
                </a:solidFill>
                <a:effectLst/>
                <a:latin typeface="Consolas" panose="020B0609020204030204" pitchFamily="49" charset="0"/>
              </a:rPr>
              <a:t>Product</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STORE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record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ARTI1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such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ARTI1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namebspr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Einkaufsartikel 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bsart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Fremdbeschaffung</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dispoa</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bedarfsbezogen</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(Part):(</a:t>
            </a:r>
            <a:r>
              <a:rPr kumimoji="0" lang="de-DE" altLang="de-DE" sz="1000" b="1" i="0" u="none" strike="noStrike" cap="none" normalizeH="0" baseline="0" dirty="0" err="1">
                <a:ln>
                  <a:noFill/>
                </a:ln>
                <a:solidFill>
                  <a:srgbClr val="297BDE"/>
                </a:solidFill>
                <a:effectLst/>
                <a:latin typeface="Consolas" panose="020B0609020204030204" pitchFamily="49" charset="0"/>
              </a:rPr>
              <a:t>Product</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STORE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record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such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namebspr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Baugruppe Test 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bsart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Eigenfertigung</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dispoa</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bedarfsbezogen</a:t>
            </a:r>
            <a:r>
              <a:rPr lang="de-DE" altLang="de-DE" sz="1000" dirty="0">
                <a:solidFill>
                  <a:srgbClr val="000000"/>
                </a:solidFill>
                <a:latin typeface="Consolas" panose="020B0609020204030204" pitchFamily="49" charset="0"/>
              </a:rPr>
              <a:t>"</a:t>
            </a:r>
            <a:endParaRPr kumimoji="0" lang="de-DE" altLang="de-DE" sz="1000" b="0" i="0" u="none" strike="noStrike" cap="none" normalizeH="0" baseline="0" dirty="0">
              <a:ln>
                <a:noFill/>
              </a:ln>
              <a:solidFill>
                <a:srgbClr val="000000"/>
              </a:solidFill>
              <a:effectLst/>
              <a:latin typeface="Consolas" panose="020B0609020204030204" pitchFamily="49" charset="0"/>
            </a:endParaRPr>
          </a:p>
          <a:p>
            <a:pPr marL="0" lvl="0" indent="0" defTabSz="914400" eaLnBrk="0" fontAlgn="base" hangingPunct="0">
              <a:spcBef>
                <a:spcPct val="0"/>
              </a:spcBef>
              <a:spcAft>
                <a:spcPct val="0"/>
              </a:spcAft>
              <a:buClrTx/>
              <a:buSzTx/>
              <a:buNone/>
            </a:pPr>
            <a:r>
              <a:rPr lang="de-DE" altLang="de-DE" sz="1000" b="1" dirty="0" err="1">
                <a:solidFill>
                  <a:srgbClr val="000080"/>
                </a:solidFill>
                <a:latin typeface="Consolas" panose="020B0609020204030204" pitchFamily="49" charset="0"/>
              </a:rPr>
              <a:t>And</a:t>
            </a:r>
            <a:r>
              <a:rPr lang="de-DE" altLang="de-DE" sz="1000" b="1" dirty="0">
                <a:solidFill>
                  <a:srgbClr val="000080"/>
                </a:solidFill>
                <a:latin typeface="Consolas" panose="020B0609020204030204" pitchFamily="49" charset="0"/>
              </a:rPr>
              <a:t> </a:t>
            </a:r>
            <a:r>
              <a:rPr lang="de-DE" altLang="de-DE" sz="1000" dirty="0">
                <a:solidFill>
                  <a:srgbClr val="000000"/>
                </a:solidFill>
                <a:latin typeface="Consolas" panose="020B0609020204030204" pitchFamily="49" charset="0"/>
              </a:rPr>
              <a:t>I </a:t>
            </a:r>
            <a:r>
              <a:rPr lang="de-DE" altLang="de-DE" sz="1000" dirty="0" err="1">
                <a:solidFill>
                  <a:srgbClr val="000000"/>
                </a:solidFill>
                <a:latin typeface="Consolas" panose="020B0609020204030204" pitchFamily="49" charset="0"/>
              </a:rPr>
              <a:t>set</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field</a:t>
            </a:r>
            <a:r>
              <a:rPr lang="de-DE" altLang="de-DE" sz="1000" dirty="0">
                <a:solidFill>
                  <a:srgbClr val="000000"/>
                </a:solidFill>
                <a:latin typeface="Consolas" panose="020B0609020204030204" pitchFamily="49" charset="0"/>
              </a:rPr>
              <a:t> „</a:t>
            </a:r>
            <a:r>
              <a:rPr lang="de-DE" altLang="de-DE" sz="1000" b="1" dirty="0" err="1">
                <a:solidFill>
                  <a:srgbClr val="297BDE"/>
                </a:solidFill>
                <a:latin typeface="Consolas" panose="020B0609020204030204" pitchFamily="49" charset="0"/>
              </a:rPr>
              <a:t>vpr</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to</a:t>
            </a:r>
            <a:r>
              <a:rPr lang="de-DE" altLang="de-DE" sz="1000" dirty="0">
                <a:solidFill>
                  <a:srgbClr val="000000"/>
                </a:solidFill>
                <a:latin typeface="Consolas" panose="020B0609020204030204" pitchFamily="49" charset="0"/>
              </a:rPr>
              <a:t> "</a:t>
            </a:r>
            <a:r>
              <a:rPr lang="de-DE" altLang="de-DE" sz="1000" b="1" dirty="0">
                <a:solidFill>
                  <a:srgbClr val="297BDE"/>
                </a:solidFill>
                <a:latin typeface="Consolas" panose="020B0609020204030204" pitchFamily="49" charset="0"/>
              </a:rPr>
              <a:t>10</a:t>
            </a:r>
            <a:r>
              <a:rPr lang="de-DE" altLang="de-DE" sz="1000" dirty="0">
                <a:solidFill>
                  <a:srgbClr val="000000"/>
                </a:solidFill>
                <a:latin typeface="Consolas" panose="020B0609020204030204" pitchFamily="49" charset="0"/>
              </a:rPr>
              <a:t>„</a:t>
            </a:r>
          </a:p>
          <a:p>
            <a:pPr marL="0" lvl="0" indent="0" defTabSz="914400" eaLnBrk="0" fontAlgn="base" hangingPunct="0">
              <a:spcBef>
                <a:spcPct val="0"/>
              </a:spcBef>
              <a:spcAft>
                <a:spcPct val="0"/>
              </a:spcAft>
              <a:buClrTx/>
              <a:buSzTx/>
              <a:buNone/>
            </a:pPr>
            <a:r>
              <a:rPr lang="de-DE" altLang="de-DE" sz="1000" b="1" dirty="0" err="1">
                <a:solidFill>
                  <a:srgbClr val="000080"/>
                </a:solidFill>
                <a:latin typeface="Consolas" panose="020B0609020204030204" pitchFamily="49" charset="0"/>
              </a:rPr>
              <a:t>And</a:t>
            </a:r>
            <a:r>
              <a:rPr kumimoji="0" lang="de-DE" altLang="de-DE" sz="1000" b="0" i="0" u="none" strike="noStrike" cap="none" normalizeH="0" baseline="0" dirty="0">
                <a:ln>
                  <a:noFill/>
                </a:ln>
                <a:solidFill>
                  <a:srgbClr val="000000"/>
                </a:solidFill>
                <a:effectLst/>
                <a:latin typeface="Consolas" panose="020B0609020204030204" pitchFamily="49" charset="0"/>
              </a:rPr>
              <a:t> I </a:t>
            </a:r>
            <a:r>
              <a:rPr kumimoji="0" lang="de-DE" altLang="de-DE" sz="1000" b="0" i="0" u="none" strike="noStrike" cap="none" normalizeH="0" baseline="0" dirty="0" err="1">
                <a:ln>
                  <a:noFill/>
                </a:ln>
                <a:solidFill>
                  <a:srgbClr val="000000"/>
                </a:solidFill>
                <a:effectLst/>
                <a:latin typeface="Consolas" panose="020B0609020204030204" pitchFamily="49" charset="0"/>
              </a:rPr>
              <a:t>delete</a:t>
            </a:r>
            <a:r>
              <a:rPr kumimoji="0" lang="de-DE" altLang="de-DE" sz="1000" b="0" i="0" u="none" strike="noStrike" cap="none" normalizeH="0" baseline="0" dirty="0">
                <a:ln>
                  <a:noFill/>
                </a:ln>
                <a:solidFill>
                  <a:srgbClr val="000000"/>
                </a:solidFill>
                <a:effectLst/>
                <a:latin typeface="Consolas" panose="020B0609020204030204" pitchFamily="49" charset="0"/>
              </a:rPr>
              <a:t> all </a:t>
            </a:r>
            <a:r>
              <a:rPr kumimoji="0" lang="de-DE" altLang="de-DE" sz="1000" b="0" i="0" u="none" strike="noStrike" cap="none" normalizeH="0" baseline="0" dirty="0" err="1">
                <a:ln>
                  <a:noFill/>
                </a:ln>
                <a:solidFill>
                  <a:srgbClr val="000000"/>
                </a:solidFill>
                <a:effectLst/>
                <a:latin typeface="Consolas" panose="020B0609020204030204" pitchFamily="49" charset="0"/>
              </a:rPr>
              <a:t>rows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create</a:t>
            </a:r>
            <a:r>
              <a:rPr kumimoji="0" lang="de-DE" altLang="de-DE" sz="1000" b="0" i="0" u="none" strike="noStrike" cap="none" normalizeH="0" baseline="0" dirty="0">
                <a:ln>
                  <a:noFill/>
                </a:ln>
                <a:solidFill>
                  <a:srgbClr val="000000"/>
                </a:solidFill>
                <a:effectLst/>
                <a:latin typeface="Consolas" panose="020B0609020204030204" pitchFamily="49" charset="0"/>
              </a:rPr>
              <a:t> a </a:t>
            </a:r>
            <a:r>
              <a:rPr kumimoji="0" lang="de-DE" altLang="de-DE" sz="1000" b="0" i="0" u="none" strike="noStrike" cap="none" normalizeH="0" baseline="0" dirty="0" err="1">
                <a:ln>
                  <a:noFill/>
                </a:ln>
                <a:solidFill>
                  <a:srgbClr val="000000"/>
                </a:solidFill>
                <a:effectLst/>
                <a:latin typeface="Consolas" panose="020B0609020204030204" pitchFamily="49" charset="0"/>
              </a:rPr>
              <a:t>new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end </a:t>
            </a:r>
            <a:r>
              <a:rPr kumimoji="0" lang="de-DE" altLang="de-DE" sz="1000" b="0" i="0" u="none" strike="noStrike" cap="none" normalizeH="0" baseline="0" dirty="0" err="1">
                <a:ln>
                  <a:noFill/>
                </a:ln>
                <a:solidFill>
                  <a:srgbClr val="000000"/>
                </a:solidFill>
                <a:effectLst/>
                <a:latin typeface="Consolas" panose="020B0609020204030204" pitchFamily="49" charset="0"/>
              </a:rPr>
              <a:t>of</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elex</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ARTI1</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anzahl</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create</a:t>
            </a:r>
            <a:r>
              <a:rPr kumimoji="0" lang="de-DE" altLang="de-DE" sz="1000" b="0" i="0" u="none" strike="noStrike" cap="none" normalizeH="0" baseline="0" dirty="0">
                <a:ln>
                  <a:noFill/>
                </a:ln>
                <a:solidFill>
                  <a:srgbClr val="000000"/>
                </a:solidFill>
                <a:effectLst/>
                <a:latin typeface="Consolas" panose="020B0609020204030204" pitchFamily="49" charset="0"/>
              </a:rPr>
              <a:t> a </a:t>
            </a:r>
            <a:r>
              <a:rPr kumimoji="0" lang="de-DE" altLang="de-DE" sz="1000" b="0" i="0" u="none" strike="noStrike" cap="none" normalizeH="0" baseline="0" dirty="0" err="1">
                <a:ln>
                  <a:noFill/>
                </a:ln>
                <a:solidFill>
                  <a:srgbClr val="000000"/>
                </a:solidFill>
                <a:effectLst/>
                <a:latin typeface="Consolas" panose="020B0609020204030204" pitchFamily="49" charset="0"/>
              </a:rPr>
              <a:t>new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end </a:t>
            </a:r>
            <a:r>
              <a:rPr kumimoji="0" lang="de-DE" altLang="de-DE" sz="1000" b="0" i="0" u="none" strike="noStrike" cap="none" normalizeH="0" baseline="0" dirty="0" err="1">
                <a:ln>
                  <a:noFill/>
                </a:ln>
                <a:solidFill>
                  <a:srgbClr val="000000"/>
                </a:solidFill>
                <a:effectLst/>
                <a:latin typeface="Consolas" panose="020B0609020204030204" pitchFamily="49" charset="0"/>
              </a:rPr>
              <a:t>of</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elex</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 AG1</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2</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
        <p:nvSpPr>
          <p:cNvPr id="7" name="Rechteck 6"/>
          <p:cNvSpPr/>
          <p:nvPr/>
        </p:nvSpPr>
        <p:spPr>
          <a:xfrm>
            <a:off x="5375564" y="4405746"/>
            <a:ext cx="6235244" cy="895927"/>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de-DE" sz="1400" b="1" dirty="0"/>
              <a:t>Hinweis: </a:t>
            </a:r>
            <a:r>
              <a:rPr lang="de-DE" sz="1400" dirty="0"/>
              <a:t>der </a:t>
            </a:r>
            <a:r>
              <a:rPr lang="de-DE" sz="1400" dirty="0" err="1"/>
              <a:t>Step</a:t>
            </a:r>
            <a:r>
              <a:rPr lang="de-DE" sz="1400" dirty="0"/>
              <a:t> „</a:t>
            </a:r>
            <a:r>
              <a:rPr lang="de-DE" sz="1400" dirty="0" err="1"/>
              <a:t>And</a:t>
            </a:r>
            <a:r>
              <a:rPr lang="de-DE" sz="1400" dirty="0"/>
              <a:t> I </a:t>
            </a:r>
            <a:r>
              <a:rPr lang="de-DE" sz="1400" dirty="0" err="1"/>
              <a:t>delete</a:t>
            </a:r>
            <a:r>
              <a:rPr lang="de-DE" sz="1400" dirty="0"/>
              <a:t> all </a:t>
            </a:r>
            <a:r>
              <a:rPr lang="de-DE" sz="1400" dirty="0" err="1"/>
              <a:t>rows</a:t>
            </a:r>
            <a:r>
              <a:rPr lang="de-DE" sz="1400" dirty="0"/>
              <a:t>“ wird benötigt, wenn das Scenario mehrmals nacheinander durchlaufen wird.  Löscht man (trotz Store-Modus) die Zeilen nicht, werden sie immer wieder hinten angehängt. </a:t>
            </a:r>
          </a:p>
        </p:txBody>
      </p:sp>
    </p:spTree>
    <p:extLst>
      <p:ext uri="{BB962C8B-B14F-4D97-AF65-F5344CB8AC3E}">
        <p14:creationId xmlns:p14="http://schemas.microsoft.com/office/powerpoint/2010/main" val="22841253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Lösungen – Aufgabe 2, Teil 1</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55</a:t>
            </a:fld>
            <a:endParaRPr lang="de-DE"/>
          </a:p>
        </p:txBody>
      </p:sp>
      <p:sp>
        <p:nvSpPr>
          <p:cNvPr id="6" name="Rectangle 1"/>
          <p:cNvSpPr>
            <a:spLocks noGrp="1" noChangeArrowheads="1"/>
          </p:cNvSpPr>
          <p:nvPr>
            <p:ph idx="1"/>
          </p:nvPr>
        </p:nvSpPr>
        <p:spPr bwMode="auto">
          <a:xfrm>
            <a:off x="581192" y="1972933"/>
            <a:ext cx="10899608" cy="40934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1" u="none" strike="noStrike" cap="none" normalizeH="0" baseline="0" dirty="0">
                <a:ln>
                  <a:noFill/>
                </a:ln>
                <a:solidFill>
                  <a:srgbClr val="808080"/>
                </a:solidFill>
                <a:effectLst/>
                <a:latin typeface="Consolas" panose="020B0609020204030204" pitchFamily="49" charset="0"/>
              </a:rPr>
              <a:t># Aufgabe 2: Artikel aus </a:t>
            </a:r>
            <a:r>
              <a:rPr kumimoji="0" lang="de-DE" altLang="de-DE" sz="1000" b="0" i="1" u="none" strike="noStrike" cap="none" normalizeH="0" baseline="0" dirty="0" err="1">
                <a:ln>
                  <a:noFill/>
                </a:ln>
                <a:solidFill>
                  <a:srgbClr val="808080"/>
                </a:solidFill>
                <a:effectLst/>
                <a:latin typeface="Consolas" panose="020B0609020204030204" pitchFamily="49" charset="0"/>
              </a:rPr>
              <a:t>Aufagbe</a:t>
            </a:r>
            <a:r>
              <a:rPr kumimoji="0" lang="de-DE" altLang="de-DE" sz="1000" b="0" i="1" u="none" strike="noStrike" cap="none" normalizeH="0" baseline="0" dirty="0">
                <a:ln>
                  <a:noFill/>
                </a:ln>
                <a:solidFill>
                  <a:srgbClr val="808080"/>
                </a:solidFill>
                <a:effectLst/>
                <a:latin typeface="Consolas" panose="020B0609020204030204" pitchFamily="49" charset="0"/>
              </a:rPr>
              <a:t> 1 in Tabellenschreibweise umschreiben</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ARTI1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(Part):(</a:t>
            </a:r>
            <a:r>
              <a:rPr kumimoji="0" lang="de-DE" altLang="de-DE" sz="1000" b="1" i="0" u="none" strike="noStrike" cap="none" normalizeH="0" baseline="0" dirty="0" err="1">
                <a:ln>
                  <a:noFill/>
                </a:ln>
                <a:solidFill>
                  <a:srgbClr val="297BDE"/>
                </a:solidFill>
                <a:effectLst/>
                <a:latin typeface="Consolas" panose="020B0609020204030204" pitchFamily="49" charset="0"/>
              </a:rPr>
              <a:t>Product</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STORE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record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ARTI1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such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ARTI1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namebspr</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Einkaufsartikel 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bsart</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Fremdbeschaffung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dispoa</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bedarfsbezogen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br>
              <a:rPr kumimoji="0" lang="de-DE" altLang="de-DE" sz="1000" b="0" i="0" u="none" strike="noStrike" cap="none" normalizeH="0" baseline="0" dirty="0">
                <a:ln>
                  <a:noFill/>
                </a:ln>
                <a:solidFill>
                  <a:srgbClr val="000000"/>
                </a:solidFill>
                <a:effectLst/>
                <a:latin typeface="Consolas" panose="020B0609020204030204" pitchFamily="49" charset="0"/>
              </a:rPr>
            </a:b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1" u="none" strike="noStrike" cap="none" normalizeH="0" baseline="0" dirty="0">
                <a:ln>
                  <a:noFill/>
                </a:ln>
                <a:solidFill>
                  <a:srgbClr val="808080"/>
                </a:solidFill>
                <a:effectLst/>
                <a:latin typeface="Consolas" panose="020B0609020204030204" pitchFamily="49" charset="0"/>
              </a:rPr>
              <a:t># Der </a:t>
            </a:r>
            <a:r>
              <a:rPr kumimoji="0" lang="de-DE" altLang="de-DE" sz="1000" b="0" i="1" u="none" strike="noStrike" cap="none" normalizeH="0" baseline="0" dirty="0" err="1">
                <a:ln>
                  <a:noFill/>
                </a:ln>
                <a:solidFill>
                  <a:srgbClr val="808080"/>
                </a:solidFill>
                <a:effectLst/>
                <a:latin typeface="Consolas" panose="020B0609020204030204" pitchFamily="49" charset="0"/>
              </a:rPr>
              <a:t>modify-Step</a:t>
            </a:r>
            <a:r>
              <a:rPr kumimoji="0" lang="de-DE" altLang="de-DE" sz="1000" b="0" i="1" u="none" strike="noStrike" cap="none" normalizeH="0" baseline="0" dirty="0">
                <a:ln>
                  <a:noFill/>
                </a:ln>
                <a:solidFill>
                  <a:srgbClr val="808080"/>
                </a:solidFill>
                <a:effectLst/>
                <a:latin typeface="Consolas" panose="020B0609020204030204" pitchFamily="49" charset="0"/>
              </a:rPr>
              <a:t> kann hier nur angewendet werden, weil wir wissen, dass es bereits Tabellenzeile gibt. Gäbe es keine Tabellenzeilen oder sind wir uns nicht sicher, ob es den Artikel bereits gibt, wird besser einer der beiden folgenden Alternativen gewählt. Begründet liegt dies in der Spalte !</a:t>
            </a:r>
            <a:r>
              <a:rPr kumimoji="0" lang="de-DE" altLang="de-DE" sz="1000" b="0" i="1" u="none" strike="noStrike" cap="none" normalizeH="0" baseline="0" dirty="0" err="1">
                <a:ln>
                  <a:noFill/>
                </a:ln>
                <a:solidFill>
                  <a:srgbClr val="808080"/>
                </a:solidFill>
                <a:effectLst/>
                <a:latin typeface="Consolas" panose="020B0609020204030204" pitchFamily="49" charset="0"/>
              </a:rPr>
              <a:t>row</a:t>
            </a:r>
            <a:r>
              <a:rPr kumimoji="0" lang="de-DE" altLang="de-DE" sz="1000" b="0" i="1" u="none" strike="noStrike" cap="none" normalizeH="0" baseline="0" dirty="0">
                <a:ln>
                  <a:noFill/>
                </a:ln>
                <a:solidFill>
                  <a:srgbClr val="808080"/>
                </a:solidFill>
                <a:effectLst/>
                <a:latin typeface="Consolas" panose="020B0609020204030204" pitchFamily="49" charset="0"/>
              </a:rPr>
              <a:t>, da diese so, wie </a:t>
            </a:r>
            <a:r>
              <a:rPr kumimoji="0" lang="de-DE" altLang="de-DE" sz="1000" b="0" i="1" u="none" strike="noStrike" cap="none" normalizeH="0" baseline="0" dirty="0" err="1">
                <a:ln>
                  <a:noFill/>
                </a:ln>
                <a:solidFill>
                  <a:srgbClr val="808080"/>
                </a:solidFill>
                <a:effectLst/>
                <a:latin typeface="Consolas" panose="020B0609020204030204" pitchFamily="49" charset="0"/>
              </a:rPr>
              <a:t>siore</a:t>
            </a:r>
            <a:r>
              <a:rPr kumimoji="0" lang="de-DE" altLang="de-DE" sz="1000" b="0" i="1" u="none" strike="noStrike" cap="none" normalizeH="0" baseline="0" dirty="0">
                <a:ln>
                  <a:noFill/>
                </a:ln>
                <a:solidFill>
                  <a:srgbClr val="808080"/>
                </a:solidFill>
                <a:effectLst/>
                <a:latin typeface="Consolas" panose="020B0609020204030204" pitchFamily="49" charset="0"/>
              </a:rPr>
              <a:t> hier angewendet wird, nur für bestehende Zeilen verwendet werden kann.</a:t>
            </a:r>
            <a:br>
              <a:rPr kumimoji="0" lang="de-DE" altLang="de-DE" sz="1000" b="0" i="1" u="none" strike="noStrike" cap="none" normalizeH="0" baseline="0" dirty="0">
                <a:ln>
                  <a:noFill/>
                </a:ln>
                <a:solidFill>
                  <a:srgbClr val="808080"/>
                </a:solidFill>
                <a:effectLst/>
                <a:latin typeface="Consolas" panose="020B0609020204030204" pitchFamily="49" charset="0"/>
              </a:rPr>
            </a:b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(Part):(</a:t>
            </a:r>
            <a:r>
              <a:rPr kumimoji="0" lang="de-DE" altLang="de-DE" sz="1000" b="1" i="0" u="none" strike="noStrike" cap="none" normalizeH="0" baseline="0" dirty="0" err="1">
                <a:ln>
                  <a:noFill/>
                </a:ln>
                <a:solidFill>
                  <a:srgbClr val="297BDE"/>
                </a:solidFill>
                <a:effectLst/>
                <a:latin typeface="Consolas" panose="020B0609020204030204" pitchFamily="49" charset="0"/>
              </a:rPr>
              <a:t>Product</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STORE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record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such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err="1">
                <a:ln>
                  <a:noFill/>
                </a:ln>
                <a:solidFill>
                  <a:srgbClr val="297BDE"/>
                </a:solidFill>
                <a:effectLst/>
                <a:latin typeface="Consolas" panose="020B0609020204030204" pitchFamily="49" charset="0"/>
              </a:rPr>
              <a:t>namebspr</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Baugruppe TEST 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err="1">
                <a:ln>
                  <a:noFill/>
                </a:ln>
                <a:solidFill>
                  <a:srgbClr val="297BDE"/>
                </a:solidFill>
                <a:effectLst/>
                <a:latin typeface="Consolas" panose="020B0609020204030204" pitchFamily="49" charset="0"/>
              </a:rPr>
              <a:t>bsart</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Eigenfertigung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err="1">
                <a:ln>
                  <a:noFill/>
                </a:ln>
                <a:solidFill>
                  <a:srgbClr val="297BDE"/>
                </a:solidFill>
                <a:effectLst/>
                <a:latin typeface="Consolas" panose="020B0609020204030204" pitchFamily="49" charset="0"/>
              </a:rPr>
              <a:t>dispoa</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bedarfsbezogen    	</a:t>
            </a:r>
            <a:r>
              <a:rPr kumimoji="0" lang="de-DE" altLang="de-DE" sz="1000" b="1" i="0" u="none" strike="noStrike" cap="none" normalizeH="0" baseline="0" dirty="0">
                <a:ln>
                  <a:noFill/>
                </a:ln>
                <a:solidFill>
                  <a:srgbClr val="000080"/>
                </a:solidFill>
                <a:effectLst/>
                <a:latin typeface="Consolas" panose="020B0609020204030204" pitchFamily="49" charset="0"/>
              </a:rPr>
              <a:t>|</a:t>
            </a:r>
          </a:p>
          <a:p>
            <a:pPr marL="0" lvl="0" indent="0" defTabSz="914400" eaLnBrk="0" fontAlgn="base" hangingPunct="0">
              <a:spcBef>
                <a:spcPct val="0"/>
              </a:spcBef>
              <a:spcAft>
                <a:spcPct val="0"/>
              </a:spcAft>
              <a:buClrTx/>
              <a:buSzTx/>
              <a:buNone/>
            </a:pPr>
            <a:r>
              <a:rPr lang="de-DE" altLang="de-DE" sz="1000" b="1" dirty="0">
                <a:solidFill>
                  <a:srgbClr val="000080"/>
                </a:solidFill>
                <a:latin typeface="Consolas" panose="020B0609020204030204" pitchFamily="49" charset="0"/>
              </a:rPr>
              <a:t>   | </a:t>
            </a:r>
            <a:r>
              <a:rPr lang="de-DE" altLang="de-DE" sz="1000" b="1" dirty="0" err="1">
                <a:solidFill>
                  <a:srgbClr val="297BDE"/>
                </a:solidFill>
                <a:latin typeface="Consolas" panose="020B0609020204030204" pitchFamily="49" charset="0"/>
              </a:rPr>
              <a:t>vpr</a:t>
            </a:r>
            <a:r>
              <a:rPr lang="de-DE" altLang="de-DE" sz="1000" b="1" dirty="0">
                <a:solidFill>
                  <a:srgbClr val="297BDE"/>
                </a:solidFill>
                <a:latin typeface="Consolas" panose="020B0609020204030204" pitchFamily="49" charset="0"/>
              </a:rPr>
              <a:t>	   	</a:t>
            </a:r>
            <a:r>
              <a:rPr lang="de-DE" altLang="de-DE" sz="1000" b="1" dirty="0">
                <a:solidFill>
                  <a:srgbClr val="000080"/>
                </a:solidFill>
                <a:latin typeface="Consolas" panose="020B0609020204030204" pitchFamily="49" charset="0"/>
              </a:rPr>
              <a:t>| </a:t>
            </a:r>
            <a:r>
              <a:rPr lang="de-DE" altLang="de-DE" sz="1000" b="1" dirty="0">
                <a:solidFill>
                  <a:srgbClr val="297BDE"/>
                </a:solidFill>
                <a:latin typeface="Consolas" panose="020B0609020204030204" pitchFamily="49" charset="0"/>
              </a:rPr>
              <a:t>10		</a:t>
            </a:r>
            <a:r>
              <a:rPr lang="de-DE" altLang="de-DE" sz="1000" b="1" dirty="0">
                <a:solidFill>
                  <a:srgbClr val="000080"/>
                </a:solidFill>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modify</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row</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elex</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anzahl</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ARTI1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2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 AG1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169829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Lösungen – Aufgabe 2, Teil 2</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56</a:t>
            </a:fld>
            <a:endParaRPr lang="de-DE"/>
          </a:p>
        </p:txBody>
      </p:sp>
      <p:sp>
        <p:nvSpPr>
          <p:cNvPr id="6" name="Rectangle 1"/>
          <p:cNvSpPr>
            <a:spLocks noGrp="1" noChangeArrowheads="1"/>
          </p:cNvSpPr>
          <p:nvPr>
            <p:ph idx="1"/>
          </p:nvPr>
        </p:nvSpPr>
        <p:spPr bwMode="auto">
          <a:xfrm>
            <a:off x="581192" y="2317733"/>
            <a:ext cx="11029616" cy="39395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1" u="none" strike="noStrike" cap="none" normalizeH="0" baseline="0" dirty="0">
                <a:ln>
                  <a:noFill/>
                </a:ln>
                <a:solidFill>
                  <a:srgbClr val="808080"/>
                </a:solidFill>
                <a:effectLst/>
                <a:latin typeface="Consolas" panose="020B0609020204030204" pitchFamily="49" charset="0"/>
              </a:rPr>
              <a:t># oder: um hier sicher zu gehen, dass die Zeilen durch das Kommando STORE nicht doppelt angelegt werden, empfiehlt es sich, die Tabellenzeilen vorab zu löschen und dann neu anzulegen.</a:t>
            </a:r>
            <a:br>
              <a:rPr kumimoji="0" lang="de-DE" altLang="de-DE" sz="1000" b="0" i="1" u="none" strike="noStrike" cap="none" normalizeH="0" baseline="0" dirty="0">
                <a:ln>
                  <a:noFill/>
                </a:ln>
                <a:solidFill>
                  <a:srgbClr val="808080"/>
                </a:solidFill>
                <a:effectLst/>
                <a:latin typeface="Consolas" panose="020B0609020204030204" pitchFamily="49" charset="0"/>
              </a:rPr>
            </a:b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(Part):(</a:t>
            </a:r>
            <a:r>
              <a:rPr kumimoji="0" lang="de-DE" altLang="de-DE" sz="1000" b="1" i="0" u="none" strike="noStrike" cap="none" normalizeH="0" baseline="0" dirty="0" err="1">
                <a:ln>
                  <a:noFill/>
                </a:ln>
                <a:solidFill>
                  <a:srgbClr val="297BDE"/>
                </a:solidFill>
                <a:effectLst/>
                <a:latin typeface="Consolas" panose="020B0609020204030204" pitchFamily="49" charset="0"/>
              </a:rPr>
              <a:t>Product</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STORE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record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such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err="1">
                <a:ln>
                  <a:noFill/>
                </a:ln>
                <a:solidFill>
                  <a:srgbClr val="297BDE"/>
                </a:solidFill>
                <a:effectLst/>
                <a:latin typeface="Consolas" panose="020B0609020204030204" pitchFamily="49" charset="0"/>
              </a:rPr>
              <a:t>namebspr</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Baugruppe TEST 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err="1">
                <a:ln>
                  <a:noFill/>
                </a:ln>
                <a:solidFill>
                  <a:srgbClr val="297BDE"/>
                </a:solidFill>
                <a:effectLst/>
                <a:latin typeface="Consolas" panose="020B0609020204030204" pitchFamily="49" charset="0"/>
              </a:rPr>
              <a:t>bsart</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Eigenfertigung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err="1">
                <a:ln>
                  <a:noFill/>
                </a:ln>
                <a:solidFill>
                  <a:srgbClr val="297BDE"/>
                </a:solidFill>
                <a:effectLst/>
                <a:latin typeface="Consolas" panose="020B0609020204030204" pitchFamily="49" charset="0"/>
              </a:rPr>
              <a:t>dispoa</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auftragsbezogen   	</a:t>
            </a:r>
            <a:r>
              <a:rPr kumimoji="0" lang="de-DE" altLang="de-DE" sz="1000" b="1" i="0" u="none" strike="noStrike" cap="none" normalizeH="0" baseline="0" dirty="0">
                <a:ln>
                  <a:noFill/>
                </a:ln>
                <a:solidFill>
                  <a:srgbClr val="00008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de-DE" altLang="de-DE" sz="1000" b="1" dirty="0">
                <a:solidFill>
                  <a:srgbClr val="000080"/>
                </a:solidFill>
                <a:latin typeface="Consolas" panose="020B0609020204030204" pitchFamily="49" charset="0"/>
              </a:rPr>
              <a:t>   | </a:t>
            </a:r>
            <a:r>
              <a:rPr lang="de-DE" altLang="de-DE" sz="1000" b="1" dirty="0" err="1">
                <a:solidFill>
                  <a:srgbClr val="297BDE"/>
                </a:solidFill>
                <a:latin typeface="Consolas" panose="020B0609020204030204" pitchFamily="49" charset="0"/>
              </a:rPr>
              <a:t>vpr</a:t>
            </a:r>
            <a:r>
              <a:rPr lang="de-DE" altLang="de-DE" sz="1000" b="1" dirty="0">
                <a:solidFill>
                  <a:srgbClr val="297BDE"/>
                </a:solidFill>
                <a:latin typeface="Consolas" panose="020B0609020204030204" pitchFamily="49" charset="0"/>
              </a:rPr>
              <a:t>   	</a:t>
            </a:r>
            <a:r>
              <a:rPr lang="de-DE" altLang="de-DE" sz="1000" b="1" dirty="0">
                <a:solidFill>
                  <a:srgbClr val="000080"/>
                </a:solidFill>
                <a:latin typeface="Consolas" panose="020B0609020204030204" pitchFamily="49" charset="0"/>
              </a:rPr>
              <a:t>| </a:t>
            </a:r>
            <a:r>
              <a:rPr lang="de-DE" altLang="de-DE" sz="1000" b="1" dirty="0">
                <a:solidFill>
                  <a:srgbClr val="297BDE"/>
                </a:solidFill>
                <a:latin typeface="Consolas" panose="020B0609020204030204" pitchFamily="49" charset="0"/>
              </a:rPr>
              <a:t>10		</a:t>
            </a:r>
            <a:r>
              <a:rPr lang="de-DE" altLang="de-DE" sz="1000" b="1" dirty="0">
                <a:solidFill>
                  <a:srgbClr val="000080"/>
                </a:solidFill>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delete</a:t>
            </a:r>
            <a:r>
              <a:rPr kumimoji="0" lang="de-DE" altLang="de-DE" sz="1000" b="0" i="0" u="none" strike="noStrike" cap="none" normalizeH="0" baseline="0" dirty="0">
                <a:ln>
                  <a:noFill/>
                </a:ln>
                <a:solidFill>
                  <a:srgbClr val="000000"/>
                </a:solidFill>
                <a:effectLst/>
                <a:latin typeface="Consolas" panose="020B0609020204030204" pitchFamily="49" charset="0"/>
              </a:rPr>
              <a:t> all </a:t>
            </a:r>
            <a:r>
              <a:rPr kumimoji="0" lang="de-DE" altLang="de-DE" sz="1000" b="0" i="0" u="none" strike="noStrike" cap="none" normalizeH="0" baseline="0" dirty="0" err="1">
                <a:ln>
                  <a:noFill/>
                </a:ln>
                <a:solidFill>
                  <a:srgbClr val="000000"/>
                </a:solidFill>
                <a:effectLst/>
                <a:latin typeface="Consolas" panose="020B0609020204030204" pitchFamily="49" charset="0"/>
              </a:rPr>
              <a:t>rows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append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rows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elex</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anzahl</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ARTI1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A AG1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1" u="none" strike="noStrike" cap="none" normalizeH="0" baseline="0" dirty="0">
                <a:ln>
                  <a:noFill/>
                </a:ln>
                <a:solidFill>
                  <a:srgbClr val="808080"/>
                </a:solidFill>
                <a:effectLst/>
                <a:latin typeface="Consolas" panose="020B0609020204030204" pitchFamily="49" charset="0"/>
              </a:rPr>
              <a:t># oder: anstelle des </a:t>
            </a:r>
            <a:r>
              <a:rPr kumimoji="0" lang="de-DE" altLang="de-DE" sz="1000" b="0" i="1" u="none" strike="noStrike" cap="none" normalizeH="0" baseline="0" dirty="0" err="1">
                <a:ln>
                  <a:noFill/>
                </a:ln>
                <a:solidFill>
                  <a:srgbClr val="808080"/>
                </a:solidFill>
                <a:effectLst/>
                <a:latin typeface="Consolas" panose="020B0609020204030204" pitchFamily="49" charset="0"/>
              </a:rPr>
              <a:t>append</a:t>
            </a:r>
            <a:r>
              <a:rPr kumimoji="0" lang="de-DE" altLang="de-DE" sz="1000" b="0" i="1" u="none" strike="noStrike" cap="none" normalizeH="0" baseline="0" dirty="0">
                <a:ln>
                  <a:noFill/>
                </a:ln>
                <a:solidFill>
                  <a:srgbClr val="808080"/>
                </a:solidFill>
                <a:effectLst/>
                <a:latin typeface="Consolas" panose="020B0609020204030204" pitchFamily="49" charset="0"/>
              </a:rPr>
              <a:t> </a:t>
            </a:r>
            <a:r>
              <a:rPr kumimoji="0" lang="de-DE" altLang="de-DE" sz="1000" b="0" i="1" u="none" strike="noStrike" cap="none" normalizeH="0" baseline="0" dirty="0" err="1">
                <a:ln>
                  <a:noFill/>
                </a:ln>
                <a:solidFill>
                  <a:srgbClr val="808080"/>
                </a:solidFill>
                <a:effectLst/>
                <a:latin typeface="Consolas" panose="020B0609020204030204" pitchFamily="49" charset="0"/>
              </a:rPr>
              <a:t>rows</a:t>
            </a:r>
            <a:r>
              <a:rPr kumimoji="0" lang="de-DE" altLang="de-DE" sz="1000" b="0" i="1" u="none" strike="noStrike" cap="none" normalizeH="0" baseline="0" dirty="0">
                <a:ln>
                  <a:noFill/>
                </a:ln>
                <a:solidFill>
                  <a:srgbClr val="808080"/>
                </a:solidFill>
                <a:effectLst/>
                <a:latin typeface="Consolas" panose="020B0609020204030204" pitchFamily="49" charset="0"/>
              </a:rPr>
              <a:t> kann auch </a:t>
            </a:r>
            <a:r>
              <a:rPr kumimoji="0" lang="de-DE" altLang="de-DE" sz="1000" b="0" i="1" u="none" strike="noStrike" cap="none" normalizeH="0" baseline="0" dirty="0" err="1">
                <a:ln>
                  <a:noFill/>
                </a:ln>
                <a:solidFill>
                  <a:srgbClr val="808080"/>
                </a:solidFill>
                <a:effectLst/>
                <a:latin typeface="Consolas" panose="020B0609020204030204" pitchFamily="49" charset="0"/>
              </a:rPr>
              <a:t>modify</a:t>
            </a:r>
            <a:r>
              <a:rPr kumimoji="0" lang="de-DE" altLang="de-DE" sz="1000" b="0" i="1" u="none" strike="noStrike" cap="none" normalizeH="0" baseline="0" dirty="0">
                <a:ln>
                  <a:noFill/>
                </a:ln>
                <a:solidFill>
                  <a:srgbClr val="808080"/>
                </a:solidFill>
                <a:effectLst/>
                <a:latin typeface="Consolas" panose="020B0609020204030204" pitchFamily="49" charset="0"/>
              </a:rPr>
              <a:t> </a:t>
            </a:r>
            <a:r>
              <a:rPr kumimoji="0" lang="de-DE" altLang="de-DE" sz="1000" b="0" i="1" u="none" strike="noStrike" cap="none" normalizeH="0" baseline="0" dirty="0" err="1">
                <a:ln>
                  <a:noFill/>
                </a:ln>
                <a:solidFill>
                  <a:srgbClr val="808080"/>
                </a:solidFill>
                <a:effectLst/>
                <a:latin typeface="Consolas" panose="020B0609020204030204" pitchFamily="49" charset="0"/>
              </a:rPr>
              <a:t>table</a:t>
            </a:r>
            <a:r>
              <a:rPr kumimoji="0" lang="de-DE" altLang="de-DE" sz="1000" b="0" i="1" u="none" strike="noStrike" cap="none" normalizeH="0" baseline="0" dirty="0">
                <a:ln>
                  <a:noFill/>
                </a:ln>
                <a:solidFill>
                  <a:srgbClr val="808080"/>
                </a:solidFill>
                <a:effectLst/>
                <a:latin typeface="Consolas" panose="020B0609020204030204" pitchFamily="49" charset="0"/>
              </a:rPr>
              <a:t> im selben Sinne verwendet werden</a:t>
            </a:r>
            <a:br>
              <a:rPr kumimoji="0" lang="de-DE" altLang="de-DE" sz="1000" b="0" i="1" u="none" strike="noStrike" cap="none" normalizeH="0" baseline="0" dirty="0">
                <a:ln>
                  <a:noFill/>
                </a:ln>
                <a:solidFill>
                  <a:srgbClr val="808080"/>
                </a:solidFill>
                <a:effectLst/>
                <a:latin typeface="Consolas" panose="020B0609020204030204" pitchFamily="49" charset="0"/>
              </a:rPr>
            </a:b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modify</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row</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elex</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anzahl</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ARTI1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+2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 AG1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452272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Lösungen – Aufgabe 3</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57</a:t>
            </a:fld>
            <a:endParaRPr lang="de-DE"/>
          </a:p>
        </p:txBody>
      </p:sp>
      <p:sp>
        <p:nvSpPr>
          <p:cNvPr id="6" name="Rectangle 1"/>
          <p:cNvSpPr>
            <a:spLocks noGrp="1" noChangeArrowheads="1"/>
          </p:cNvSpPr>
          <p:nvPr>
            <p:ph idx="1"/>
          </p:nvPr>
        </p:nvSpPr>
        <p:spPr bwMode="auto">
          <a:xfrm>
            <a:off x="581192" y="2357654"/>
            <a:ext cx="9001182" cy="33239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1" u="none" strike="noStrike" cap="none" normalizeH="0" baseline="0" dirty="0">
                <a:ln>
                  <a:noFill/>
                </a:ln>
                <a:solidFill>
                  <a:srgbClr val="808080"/>
                </a:solidFill>
                <a:effectLst/>
                <a:latin typeface="Consolas" panose="020B0609020204030204" pitchFamily="49" charset="0"/>
              </a:rPr>
              <a:t># Aufgabe 3: In den Editor der Baugruppe wechseln und diese anpassen. Anschließend einen Auftrag für die Baugruppe erstellen.</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switch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UPDATE</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modify</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row</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elex</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anzahl</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+3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 AG2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br>
              <a:rPr kumimoji="0" lang="de-DE" altLang="de-DE" sz="1000" b="0" i="0" u="none" strike="noStrike" cap="none" normalizeH="0" baseline="0" dirty="0">
                <a:ln>
                  <a:noFill/>
                </a:ln>
                <a:solidFill>
                  <a:srgbClr val="000000"/>
                </a:solidFill>
                <a:effectLst/>
                <a:latin typeface="Consolas" panose="020B0609020204030204" pitchFamily="49" charset="0"/>
              </a:rPr>
            </a:b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Auftrag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Sales</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SalesOrder</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NEW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record</a:t>
            </a:r>
            <a:r>
              <a:rPr kumimoji="0" lang="de-DE" altLang="de-DE" sz="1000" b="0" i="0" u="none" strike="noStrike" cap="none" normalizeH="0" baseline="0" dirty="0">
                <a:ln>
                  <a:noFill/>
                </a:ln>
                <a:solidFill>
                  <a:srgbClr val="000000"/>
                </a:solidFill>
                <a:effectLst/>
                <a:latin typeface="Consolas" panose="020B0609020204030204" pitchFamily="49" charset="0"/>
              </a:rPr>
              <a:t> ""</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kunde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such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BSCHULUNG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append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rows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artikel</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mge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BG-TEST1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20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press </a:t>
            </a:r>
            <a:r>
              <a:rPr kumimoji="0" lang="de-DE" altLang="de-DE" sz="1000" b="0" i="0" u="none" strike="noStrike" cap="none" normalizeH="0" baseline="0" dirty="0" err="1">
                <a:ln>
                  <a:noFill/>
                </a:ln>
                <a:solidFill>
                  <a:srgbClr val="000000"/>
                </a:solidFill>
                <a:effectLst/>
                <a:latin typeface="Consolas" panose="020B0609020204030204" pitchFamily="49" charset="0"/>
              </a:rPr>
              <a:t>button</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mzsubm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open a </a:t>
            </a:r>
            <a:r>
              <a:rPr kumimoji="0" lang="de-DE" altLang="de-DE" sz="1000" b="0" i="0" u="none" strike="noStrike" cap="none" normalizeH="0" baseline="0" dirty="0" err="1">
                <a:ln>
                  <a:noFill/>
                </a:ln>
                <a:solidFill>
                  <a:srgbClr val="000000"/>
                </a:solidFill>
                <a:effectLst/>
                <a:latin typeface="Consolas" panose="020B0609020204030204" pitchFamily="49" charset="0"/>
              </a:rPr>
              <a:t>subeditor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Materialzuordnung</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modify</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row</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lpsuch</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F1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subeditor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switch</a:t>
            </a:r>
            <a:r>
              <a:rPr kumimoji="0" lang="de-DE" altLang="de-DE" sz="1000" b="0" i="0" u="none" strike="noStrike" cap="none" normalizeH="0" baseline="0" dirty="0">
                <a:ln>
                  <a:noFill/>
                </a:ln>
                <a:solidFill>
                  <a:srgbClr val="000000"/>
                </a:solidFill>
                <a:effectLst/>
                <a:latin typeface="Consolas" panose="020B0609020204030204" pitchFamily="49" charset="0"/>
              </a:rPr>
              <a:t> back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parent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4429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Lösungen – Aufgabe 4</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58</a:t>
            </a:fld>
            <a:endParaRPr lang="de-DE"/>
          </a:p>
        </p:txBody>
      </p:sp>
      <p:sp>
        <p:nvSpPr>
          <p:cNvPr id="6" name="Rectangle 1"/>
          <p:cNvSpPr>
            <a:spLocks noGrp="1" noChangeArrowheads="1"/>
          </p:cNvSpPr>
          <p:nvPr>
            <p:ph idx="1"/>
          </p:nvPr>
        </p:nvSpPr>
        <p:spPr bwMode="auto">
          <a:xfrm>
            <a:off x="581192" y="2973207"/>
            <a:ext cx="6179897" cy="20928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None/>
            </a:pPr>
            <a:r>
              <a:rPr kumimoji="0" lang="de-DE" altLang="de-DE" sz="1000" b="0" i="1" u="none" strike="noStrike" cap="none" normalizeH="0" baseline="0" dirty="0">
                <a:ln>
                  <a:noFill/>
                </a:ln>
                <a:solidFill>
                  <a:srgbClr val="808080"/>
                </a:solidFill>
                <a:effectLst/>
                <a:latin typeface="Consolas" panose="020B0609020204030204" pitchFamily="49" charset="0"/>
              </a:rPr>
              <a:t># Aufgabe 4: In den Auftrag wechseln und verschiedenes prüfen</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switch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Auftrag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UPDATE</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Then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such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has</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value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BSCHULUNG</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Then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nummer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is</a:t>
            </a:r>
            <a:r>
              <a:rPr kumimoji="0" lang="de-DE" altLang="de-DE" sz="1000" b="0" i="0" u="none" strike="noStrike" cap="none" normalizeH="0" baseline="0" dirty="0">
                <a:ln>
                  <a:noFill/>
                </a:ln>
                <a:solidFill>
                  <a:srgbClr val="000000"/>
                </a:solidFill>
                <a:effectLst/>
                <a:latin typeface="Consolas" panose="020B0609020204030204" pitchFamily="49" charset="0"/>
              </a:rPr>
              <a:t> not </a:t>
            </a:r>
            <a:r>
              <a:rPr kumimoji="0" lang="de-DE" altLang="de-DE" sz="1000" b="0" i="0" u="none" strike="noStrike" cap="none" normalizeH="0" baseline="0" dirty="0" err="1">
                <a:ln>
                  <a:noFill/>
                </a:ln>
                <a:solidFill>
                  <a:srgbClr val="000000"/>
                </a:solidFill>
                <a:effectLst/>
                <a:latin typeface="Consolas" panose="020B0609020204030204" pitchFamily="49" charset="0"/>
              </a:rPr>
              <a:t>empty</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Then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nummer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is</a:t>
            </a:r>
            <a:r>
              <a:rPr kumimoji="0" lang="de-DE" altLang="de-DE" sz="1000" b="0" i="0" u="none" strike="noStrike" cap="none" normalizeH="0" baseline="0" dirty="0">
                <a:ln>
                  <a:noFill/>
                </a:ln>
                <a:solidFill>
                  <a:srgbClr val="000000"/>
                </a:solidFill>
                <a:effectLst/>
                <a:latin typeface="Consolas" panose="020B0609020204030204" pitchFamily="49" charset="0"/>
              </a:rPr>
              <a:t> not </a:t>
            </a:r>
            <a:r>
              <a:rPr kumimoji="0" lang="de-DE" altLang="de-DE" sz="1000" b="0" i="0" u="none" strike="noStrike" cap="none" normalizeH="0" baseline="0" dirty="0" err="1">
                <a:ln>
                  <a:noFill/>
                </a:ln>
                <a:solidFill>
                  <a:srgbClr val="000000"/>
                </a:solidFill>
                <a:effectLst/>
                <a:latin typeface="Consolas" panose="020B0609020204030204" pitchFamily="49" charset="0"/>
              </a:rPr>
              <a:t>modifiable</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Then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artikel^such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has</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value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BG-TEST1</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Then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deleting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t>
            </a:r>
            <a:r>
              <a:rPr kumimoji="0" lang="de-DE" altLang="de-DE" sz="1000" b="0" i="0" u="none" strike="noStrike" cap="none" normalizeH="0" baseline="0" dirty="0" err="1">
                <a:ln>
                  <a:noFill/>
                </a:ln>
                <a:solidFill>
                  <a:srgbClr val="000000"/>
                </a:solidFill>
                <a:effectLst/>
                <a:latin typeface="Consolas" panose="020B0609020204030204" pitchFamily="49" charset="0"/>
              </a:rPr>
              <a:t>position</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throws</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exception</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darf nicht gelöscht werden</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1" u="none" strike="noStrike" cap="none" normalizeH="0" baseline="0" dirty="0">
                <a:ln>
                  <a:noFill/>
                </a:ln>
                <a:solidFill>
                  <a:srgbClr val="808080"/>
                </a:solidFill>
                <a:effectLst/>
                <a:latin typeface="Consolas" panose="020B0609020204030204" pitchFamily="49" charset="0"/>
              </a:rPr>
              <a:t># oder</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Then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deleting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t>
            </a:r>
            <a:r>
              <a:rPr kumimoji="0" lang="de-DE" altLang="de-DE" sz="1000" b="0" i="0" u="none" strike="noStrike" cap="none" normalizeH="0" baseline="0" dirty="0" err="1">
                <a:ln>
                  <a:noFill/>
                </a:ln>
                <a:solidFill>
                  <a:srgbClr val="000000"/>
                </a:solidFill>
                <a:effectLst/>
                <a:latin typeface="Consolas" panose="020B0609020204030204" pitchFamily="49" charset="0"/>
              </a:rPr>
              <a:t>position</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throws</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exception</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111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lang="de-DE" altLang="de-DE" sz="1000" b="1" dirty="0" err="1">
                <a:solidFill>
                  <a:srgbClr val="000080"/>
                </a:solidFill>
                <a:latin typeface="Consolas" panose="020B0609020204030204" pitchFamily="49" charset="0"/>
              </a:rPr>
              <a:t>And</a:t>
            </a:r>
            <a:r>
              <a:rPr lang="de-DE" altLang="de-DE" sz="1000" dirty="0">
                <a:solidFill>
                  <a:srgbClr val="000000"/>
                </a:solidFill>
                <a:latin typeface="Consolas" panose="020B0609020204030204" pitchFamily="49" charset="0"/>
              </a:rPr>
              <a:t> I press </a:t>
            </a:r>
            <a:r>
              <a:rPr lang="de-DE" altLang="de-DE" sz="1000" dirty="0" err="1">
                <a:solidFill>
                  <a:srgbClr val="000000"/>
                </a:solidFill>
                <a:latin typeface="Consolas" panose="020B0609020204030204" pitchFamily="49" charset="0"/>
              </a:rPr>
              <a:t>button</a:t>
            </a:r>
            <a:r>
              <a:rPr lang="de-DE" altLang="de-DE" sz="1000" dirty="0">
                <a:solidFill>
                  <a:srgbClr val="000000"/>
                </a:solidFill>
                <a:latin typeface="Consolas" panose="020B0609020204030204" pitchFamily="49" charset="0"/>
              </a:rPr>
              <a:t> </a:t>
            </a:r>
            <a:r>
              <a:rPr lang="de-DE" altLang="de-DE" sz="1000" b="1" dirty="0">
                <a:solidFill>
                  <a:srgbClr val="297BDE"/>
                </a:solidFill>
                <a:latin typeface="Consolas" panose="020B0609020204030204" pitchFamily="49" charset="0"/>
              </a:rPr>
              <a:t>„</a:t>
            </a:r>
            <a:r>
              <a:rPr lang="de-DE" altLang="de-DE" sz="1000" b="1" dirty="0" err="1">
                <a:solidFill>
                  <a:srgbClr val="297BDE"/>
                </a:solidFill>
                <a:latin typeface="Consolas" panose="020B0609020204030204" pitchFamily="49" charset="0"/>
              </a:rPr>
              <a:t>absteig</a:t>
            </a:r>
            <a:r>
              <a:rPr lang="de-DE" altLang="de-DE" sz="1000" b="1" dirty="0">
                <a:solidFill>
                  <a:srgbClr val="297BDE"/>
                </a:solidFill>
                <a:latin typeface="Consolas" panose="020B0609020204030204" pitchFamily="49" charset="0"/>
              </a:rPr>
              <a:t>“ </a:t>
            </a:r>
            <a:r>
              <a:rPr lang="de-DE" altLang="de-DE" sz="1000" dirty="0" err="1">
                <a:solidFill>
                  <a:srgbClr val="000000"/>
                </a:solidFill>
                <a:latin typeface="Consolas" panose="020B0609020204030204" pitchFamily="49" charset="0"/>
              </a:rPr>
              <a:t>to</a:t>
            </a:r>
            <a:r>
              <a:rPr lang="de-DE" altLang="de-DE" sz="1000" dirty="0">
                <a:solidFill>
                  <a:srgbClr val="000000"/>
                </a:solidFill>
                <a:latin typeface="Consolas" panose="020B0609020204030204" pitchFamily="49" charset="0"/>
              </a:rPr>
              <a:t> open a </a:t>
            </a:r>
            <a:r>
              <a:rPr lang="de-DE" altLang="de-DE" sz="1000" dirty="0" err="1">
                <a:solidFill>
                  <a:srgbClr val="000000"/>
                </a:solidFill>
                <a:latin typeface="Consolas" panose="020B0609020204030204" pitchFamily="49" charset="0"/>
              </a:rPr>
              <a:t>subeditor</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for</a:t>
            </a:r>
            <a:r>
              <a:rPr lang="de-DE" altLang="de-DE" sz="1000" dirty="0">
                <a:solidFill>
                  <a:srgbClr val="000000"/>
                </a:solidFill>
                <a:latin typeface="Consolas" panose="020B0609020204030204" pitchFamily="49" charset="0"/>
              </a:rPr>
              <a:t> </a:t>
            </a:r>
            <a:r>
              <a:rPr lang="de-DE" altLang="de-DE" sz="1000" b="1" dirty="0">
                <a:solidFill>
                  <a:srgbClr val="297BDE"/>
                </a:solidFill>
                <a:latin typeface="Consolas" panose="020B0609020204030204" pitchFamily="49" charset="0"/>
              </a:rPr>
              <a:t>„AFL“</a:t>
            </a:r>
          </a:p>
          <a:p>
            <a:pPr marL="0" lvl="0" indent="0" defTabSz="914400" eaLnBrk="0" fontAlgn="base" hangingPunct="0">
              <a:spcBef>
                <a:spcPct val="0"/>
              </a:spcBef>
              <a:spcAft>
                <a:spcPct val="0"/>
              </a:spcAft>
              <a:buClrTx/>
              <a:buSzTx/>
              <a:buNone/>
            </a:pPr>
            <a:r>
              <a:rPr lang="de-DE" altLang="de-DE" sz="1000" b="1" dirty="0" err="1">
                <a:solidFill>
                  <a:srgbClr val="000080"/>
                </a:solidFill>
                <a:latin typeface="Consolas" panose="020B0609020204030204" pitchFamily="49" charset="0"/>
              </a:rPr>
              <a:t>Then</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field</a:t>
            </a:r>
            <a:r>
              <a:rPr lang="de-DE" altLang="de-DE" sz="1000" dirty="0">
                <a:solidFill>
                  <a:srgbClr val="000000"/>
                </a:solidFill>
                <a:latin typeface="Consolas" panose="020B0609020204030204" pitchFamily="49" charset="0"/>
              </a:rPr>
              <a:t> </a:t>
            </a:r>
            <a:r>
              <a:rPr lang="de-DE" altLang="de-DE" sz="1000" b="1" dirty="0">
                <a:solidFill>
                  <a:srgbClr val="297BDE"/>
                </a:solidFill>
                <a:latin typeface="Consolas" panose="020B0609020204030204" pitchFamily="49" charset="0"/>
              </a:rPr>
              <a:t>„</a:t>
            </a:r>
            <a:r>
              <a:rPr lang="de-DE" altLang="de-DE" sz="1000" b="1" dirty="0" err="1">
                <a:solidFill>
                  <a:srgbClr val="297BDE"/>
                </a:solidFill>
                <a:latin typeface="Consolas" panose="020B0609020204030204" pitchFamily="49" charset="0"/>
              </a:rPr>
              <a:t>manbu</a:t>
            </a:r>
            <a:r>
              <a:rPr lang="de-DE" altLang="de-DE" sz="1000" b="1" dirty="0">
                <a:solidFill>
                  <a:srgbClr val="297BDE"/>
                </a:solidFill>
                <a:latin typeface="Consolas" panose="020B0609020204030204" pitchFamily="49" charset="0"/>
              </a:rPr>
              <a:t>“ </a:t>
            </a:r>
            <a:r>
              <a:rPr lang="de-DE" altLang="de-DE" sz="1000" dirty="0" err="1">
                <a:solidFill>
                  <a:srgbClr val="000000"/>
                </a:solidFill>
                <a:latin typeface="Consolas" panose="020B0609020204030204" pitchFamily="49" charset="0"/>
              </a:rPr>
              <a:t>has</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value</a:t>
            </a:r>
            <a:r>
              <a:rPr lang="de-DE" altLang="de-DE" sz="1000" dirty="0">
                <a:solidFill>
                  <a:srgbClr val="000000"/>
                </a:solidFill>
                <a:latin typeface="Consolas" panose="020B0609020204030204" pitchFamily="49" charset="0"/>
              </a:rPr>
              <a:t> </a:t>
            </a:r>
            <a:r>
              <a:rPr lang="de-DE" altLang="de-DE" sz="1000" b="1" dirty="0">
                <a:solidFill>
                  <a:srgbClr val="297BDE"/>
                </a:solidFill>
                <a:latin typeface="Consolas" panose="020B0609020204030204" pitchFamily="49" charset="0"/>
              </a:rPr>
              <a:t>„ja“</a:t>
            </a:r>
            <a:r>
              <a:rPr lang="de-DE" altLang="de-DE" sz="1000" dirty="0">
                <a:solidFill>
                  <a:srgbClr val="000000"/>
                </a:solidFill>
                <a:latin typeface="Consolas" panose="020B0609020204030204" pitchFamily="49" charset="0"/>
              </a:rPr>
              <a:t> in </a:t>
            </a:r>
            <a:r>
              <a:rPr lang="de-DE" altLang="de-DE" sz="1000" dirty="0" err="1">
                <a:solidFill>
                  <a:srgbClr val="000000"/>
                </a:solidFill>
                <a:latin typeface="Consolas" panose="020B0609020204030204" pitchFamily="49" charset="0"/>
              </a:rPr>
              <a:t>row</a:t>
            </a:r>
            <a:r>
              <a:rPr lang="de-DE" altLang="de-DE" sz="1000" dirty="0">
                <a:solidFill>
                  <a:srgbClr val="000000"/>
                </a:solidFill>
                <a:latin typeface="Consolas" panose="020B0609020204030204" pitchFamily="49" charset="0"/>
              </a:rPr>
              <a:t> 1</a:t>
            </a:r>
          </a:p>
          <a:p>
            <a:pPr marL="0" indent="0" defTabSz="914400" eaLnBrk="0" fontAlgn="base" hangingPunct="0">
              <a:spcBef>
                <a:spcPct val="0"/>
              </a:spcBef>
              <a:spcAft>
                <a:spcPct val="0"/>
              </a:spcAft>
              <a:buClrTx/>
              <a:buSzTx/>
              <a:buNone/>
            </a:pPr>
            <a:r>
              <a:rPr lang="de-DE" altLang="de-DE" sz="1000" b="1" dirty="0" err="1">
                <a:solidFill>
                  <a:srgbClr val="000080"/>
                </a:solidFill>
                <a:latin typeface="Consolas" panose="020B0609020204030204" pitchFamily="49" charset="0"/>
              </a:rPr>
              <a:t>And</a:t>
            </a:r>
            <a:r>
              <a:rPr lang="de-DE" altLang="de-DE" sz="1000" b="1" dirty="0">
                <a:solidFill>
                  <a:srgbClr val="000080"/>
                </a:solidFill>
                <a:latin typeface="Consolas" panose="020B0609020204030204" pitchFamily="49" charset="0"/>
              </a:rPr>
              <a:t> </a:t>
            </a:r>
            <a:r>
              <a:rPr lang="de-DE" altLang="de-DE" sz="1000" dirty="0">
                <a:solidFill>
                  <a:srgbClr val="000000"/>
                </a:solidFill>
                <a:latin typeface="Consolas" panose="020B0609020204030204" pitchFamily="49" charset="0"/>
              </a:rPr>
              <a:t>I </a:t>
            </a:r>
            <a:r>
              <a:rPr lang="de-DE" altLang="de-DE" sz="1000" dirty="0" err="1">
                <a:solidFill>
                  <a:srgbClr val="000000"/>
                </a:solidFill>
                <a:latin typeface="Consolas" panose="020B0609020204030204" pitchFamily="49" charset="0"/>
              </a:rPr>
              <a:t>close</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the</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current</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subeditor</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to</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switch</a:t>
            </a:r>
            <a:r>
              <a:rPr lang="de-DE" altLang="de-DE" sz="1000" dirty="0">
                <a:solidFill>
                  <a:srgbClr val="000000"/>
                </a:solidFill>
                <a:latin typeface="Consolas" panose="020B0609020204030204" pitchFamily="49" charset="0"/>
              </a:rPr>
              <a:t> back </a:t>
            </a:r>
            <a:r>
              <a:rPr lang="de-DE" altLang="de-DE" sz="1000" dirty="0" err="1">
                <a:solidFill>
                  <a:srgbClr val="000000"/>
                </a:solidFill>
                <a:latin typeface="Consolas" panose="020B0609020204030204" pitchFamily="49" charset="0"/>
              </a:rPr>
              <a:t>to</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the</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parent</a:t>
            </a:r>
            <a:r>
              <a:rPr lang="de-DE" altLang="de-DE" sz="1000" dirty="0">
                <a:solidFill>
                  <a:srgbClr val="000000"/>
                </a:solidFill>
                <a:latin typeface="Consolas" panose="020B0609020204030204" pitchFamily="49" charset="0"/>
              </a:rPr>
              <a:t> </a:t>
            </a:r>
            <a:r>
              <a:rPr lang="de-DE" altLang="de-DE" sz="1000" dirty="0" err="1">
                <a:solidFill>
                  <a:srgbClr val="000000"/>
                </a:solidFill>
                <a:latin typeface="Consolas" panose="020B0609020204030204" pitchFamily="49" charset="0"/>
              </a:rPr>
              <a:t>editor</a:t>
            </a:r>
            <a:endParaRPr lang="de-DE" altLang="de-DE" sz="10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close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63049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Lösungen – Aufgabe 5</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59</a:t>
            </a:fld>
            <a:endParaRPr lang="de-DE"/>
          </a:p>
        </p:txBody>
      </p:sp>
      <p:sp>
        <p:nvSpPr>
          <p:cNvPr id="6" name="Rectangle 1"/>
          <p:cNvSpPr>
            <a:spLocks noGrp="1" noChangeArrowheads="1"/>
          </p:cNvSpPr>
          <p:nvPr>
            <p:ph idx="1"/>
          </p:nvPr>
        </p:nvSpPr>
        <p:spPr bwMode="auto">
          <a:xfrm>
            <a:off x="581192" y="2973207"/>
            <a:ext cx="8013732" cy="20928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1" u="none" strike="noStrike" cap="none" normalizeH="0" baseline="0" dirty="0">
                <a:ln>
                  <a:noFill/>
                </a:ln>
                <a:solidFill>
                  <a:srgbClr val="808080"/>
                </a:solidFill>
                <a:effectLst/>
                <a:latin typeface="Consolas" panose="020B0609020204030204" pitchFamily="49" charset="0"/>
              </a:rPr>
              <a:t># Aufgabe 5: Betriebsauftrag anlegen und freigeben</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fvor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Purchasing</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WorkOrderSuggestions</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NEW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record</a:t>
            </a:r>
            <a:r>
              <a:rPr kumimoji="0" lang="de-DE" altLang="de-DE" sz="1000" b="0" i="0" u="none" strike="noStrike" cap="none" normalizeH="0" baseline="0" dirty="0">
                <a:ln>
                  <a:noFill/>
                </a:ln>
                <a:solidFill>
                  <a:srgbClr val="000000"/>
                </a:solidFill>
                <a:effectLst/>
                <a:latin typeface="Consolas" panose="020B0609020204030204" pitchFamily="49" charset="0"/>
              </a:rPr>
              <a:t> ""</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append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rows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artikel</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mge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mfreig</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BG-TEST1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20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ja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verw</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verw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Auftrag</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press </a:t>
            </a:r>
            <a:r>
              <a:rPr kumimoji="0" lang="de-DE" altLang="de-DE" sz="1000" b="0" i="0" u="none" strike="noStrike" cap="none" normalizeH="0" baseline="0" dirty="0" err="1">
                <a:ln>
                  <a:noFill/>
                </a:ln>
                <a:solidFill>
                  <a:srgbClr val="000000"/>
                </a:solidFill>
                <a:effectLst/>
                <a:latin typeface="Consolas" panose="020B0609020204030204" pitchFamily="49" charset="0"/>
              </a:rPr>
              <a:t>button</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absteig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open a </a:t>
            </a:r>
            <a:r>
              <a:rPr kumimoji="0" lang="de-DE" altLang="de-DE" sz="1000" b="0" i="0" u="none" strike="noStrike" cap="none" normalizeH="0" baseline="0" dirty="0" err="1">
                <a:ln>
                  <a:noFill/>
                </a:ln>
                <a:solidFill>
                  <a:srgbClr val="000000"/>
                </a:solidFill>
                <a:effectLst/>
                <a:latin typeface="Consolas" panose="020B0609020204030204" pitchFamily="49" charset="0"/>
              </a:rPr>
              <a:t>subeditor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AFL</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manbu</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ja</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subeditor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switch</a:t>
            </a:r>
            <a:r>
              <a:rPr kumimoji="0" lang="de-DE" altLang="de-DE" sz="1000" b="0" i="0" u="none" strike="noStrike" cap="none" normalizeH="0" baseline="0" dirty="0">
                <a:ln>
                  <a:noFill/>
                </a:ln>
                <a:solidFill>
                  <a:srgbClr val="000000"/>
                </a:solidFill>
                <a:effectLst/>
                <a:latin typeface="Consolas" panose="020B0609020204030204" pitchFamily="49" charset="0"/>
              </a:rPr>
              <a:t> back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parent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bisuch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TEST_</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press </a:t>
            </a:r>
            <a:r>
              <a:rPr kumimoji="0" lang="de-DE" altLang="de-DE" sz="1000" b="0" i="0" u="none" strike="noStrike" cap="none" normalizeH="0" baseline="0" dirty="0" err="1">
                <a:ln>
                  <a:noFill/>
                </a:ln>
                <a:solidFill>
                  <a:srgbClr val="000000"/>
                </a:solidFill>
                <a:effectLst/>
                <a:latin typeface="Consolas" panose="020B0609020204030204" pitchFamily="49" charset="0"/>
              </a:rPr>
              <a:t>button</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freig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open a </a:t>
            </a:r>
            <a:r>
              <a:rPr kumimoji="0" lang="de-DE" altLang="de-DE" sz="1000" b="0" i="0" u="none" strike="noStrike" cap="none" normalizeH="0" baseline="0" dirty="0" err="1">
                <a:ln>
                  <a:noFill/>
                </a:ln>
                <a:solidFill>
                  <a:srgbClr val="000000"/>
                </a:solidFill>
                <a:effectLst/>
                <a:latin typeface="Consolas" panose="020B0609020204030204" pitchFamily="49" charset="0"/>
              </a:rPr>
              <a:t>subeditor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FV_freigeben</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close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subeditor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switch</a:t>
            </a:r>
            <a:r>
              <a:rPr kumimoji="0" lang="de-DE" altLang="de-DE" sz="1000" b="0" i="0" u="none" strike="noStrike" cap="none" normalizeH="0" baseline="0" dirty="0">
                <a:ln>
                  <a:noFill/>
                </a:ln>
                <a:solidFill>
                  <a:srgbClr val="000000"/>
                </a:solidFill>
                <a:effectLst/>
                <a:latin typeface="Consolas" panose="020B0609020204030204" pitchFamily="49" charset="0"/>
              </a:rPr>
              <a:t> back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parent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close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37318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Lösungen – Aufgabe 6</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60</a:t>
            </a:fld>
            <a:endParaRPr lang="de-DE"/>
          </a:p>
        </p:txBody>
      </p:sp>
      <p:sp>
        <p:nvSpPr>
          <p:cNvPr id="6" name="Rectangle 1"/>
          <p:cNvSpPr>
            <a:spLocks noGrp="1" noChangeArrowheads="1"/>
          </p:cNvSpPr>
          <p:nvPr>
            <p:ph idx="1"/>
          </p:nvPr>
        </p:nvSpPr>
        <p:spPr bwMode="auto">
          <a:xfrm>
            <a:off x="581192" y="2896263"/>
            <a:ext cx="8436925"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1" u="none" strike="noStrike" cap="none" normalizeH="0" baseline="0" dirty="0">
                <a:ln>
                  <a:noFill/>
                </a:ln>
                <a:solidFill>
                  <a:srgbClr val="808080"/>
                </a:solidFill>
                <a:effectLst/>
                <a:latin typeface="Consolas" panose="020B0609020204030204" pitchFamily="49" charset="0"/>
              </a:rPr>
              <a:t># Aufgabe 6: Materialentnahme und Rückmeldung buchen</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Arbeitsschein1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Workorder</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WorkOrders</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VIEW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de-DE" altLang="de-DE" sz="1000" dirty="0">
                <a:solidFill>
                  <a:srgbClr val="000000"/>
                </a:solidFill>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search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criteria</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$,,such=TEST_001;@</a:t>
            </a:r>
            <a:r>
              <a:rPr kumimoji="0" lang="de-DE" altLang="de-DE" sz="1000" b="1" i="0" u="none" strike="noStrike" cap="none" normalizeH="0" baseline="0" dirty="0" err="1">
                <a:ln>
                  <a:noFill/>
                </a:ln>
                <a:solidFill>
                  <a:srgbClr val="297BDE"/>
                </a:solidFill>
                <a:effectLst/>
                <a:latin typeface="Consolas" panose="020B0609020204030204" pitchFamily="49" charset="0"/>
              </a:rPr>
              <a:t>richtung</a:t>
            </a:r>
            <a:r>
              <a:rPr kumimoji="0" lang="de-DE" altLang="de-DE" sz="1000" b="1" i="0" u="none" strike="noStrike" cap="none" normalizeH="0" baseline="0" dirty="0">
                <a:ln>
                  <a:noFill/>
                </a:ln>
                <a:solidFill>
                  <a:srgbClr val="297BDE"/>
                </a:solidFill>
                <a:effectLst/>
                <a:latin typeface="Consolas" panose="020B0609020204030204" pitchFamily="49" charset="0"/>
              </a:rPr>
              <a:t>=rückwärts;@</a:t>
            </a:r>
            <a:r>
              <a:rPr kumimoji="0" lang="de-DE" altLang="de-DE" sz="1000" b="1" i="0" u="none" strike="noStrike" cap="none" normalizeH="0" baseline="0" dirty="0" err="1">
                <a:ln>
                  <a:noFill/>
                </a:ln>
                <a:solidFill>
                  <a:srgbClr val="297BDE"/>
                </a:solidFill>
                <a:effectLst/>
                <a:latin typeface="Consolas" panose="020B0609020204030204" pitchFamily="49" charset="0"/>
              </a:rPr>
              <a:t>maxordtreffer</a:t>
            </a:r>
            <a:r>
              <a:rPr kumimoji="0" lang="de-DE" altLang="de-DE" sz="1000" b="1" i="0" u="none" strike="noStrike" cap="none" normalizeH="0" baseline="0" dirty="0">
                <a:ln>
                  <a:noFill/>
                </a:ln>
                <a:solidFill>
                  <a:srgbClr val="297BDE"/>
                </a:solidFill>
                <a:effectLst/>
                <a:latin typeface="Consolas" panose="020B0609020204030204" pitchFamily="49" charset="0"/>
              </a:rPr>
              <a:t>=1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close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Materialentnahme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tip</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Fbuchung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arguments</a:t>
            </a:r>
            <a:r>
              <a:rPr kumimoji="0" lang="de-DE" altLang="de-DE" sz="1000" b="0" i="0" u="none" strike="noStrike" cap="none" normalizeH="0" baseline="0" dirty="0">
                <a:ln>
                  <a:noFill/>
                </a:ln>
                <a:solidFill>
                  <a:srgbClr val="000000"/>
                </a:solidFill>
                <a:effectLst/>
                <a:latin typeface="Consolas" panose="020B0609020204030204" pitchFamily="49" charset="0"/>
              </a:rPr>
              <a:t> ""</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auftrag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!Arbeitsschein1^nummer</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press </a:t>
            </a:r>
            <a:r>
              <a:rPr kumimoji="0" lang="de-DE" altLang="de-DE" sz="1000" b="0" i="0" u="none" strike="noStrike" cap="none" normalizeH="0" baseline="0" dirty="0" err="1">
                <a:ln>
                  <a:noFill/>
                </a:ln>
                <a:solidFill>
                  <a:srgbClr val="000000"/>
                </a:solidFill>
                <a:effectLst/>
                <a:latin typeface="Consolas" panose="020B0609020204030204" pitchFamily="49" charset="0"/>
              </a:rPr>
              <a:t>button</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stlvblad</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Rückmeldung1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Workorder</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WorkOrders</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DONE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record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TEST_001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sofort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ja</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gutmge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20</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75602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Lösungen – Aufgabe 7,  Teil 1</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61</a:t>
            </a:fld>
            <a:endParaRPr lang="de-DE"/>
          </a:p>
        </p:txBody>
      </p:sp>
      <p:sp>
        <p:nvSpPr>
          <p:cNvPr id="6" name="Rectangle 1"/>
          <p:cNvSpPr>
            <a:spLocks noGrp="1" noChangeArrowheads="1"/>
          </p:cNvSpPr>
          <p:nvPr>
            <p:ph idx="1"/>
          </p:nvPr>
        </p:nvSpPr>
        <p:spPr bwMode="auto">
          <a:xfrm>
            <a:off x="581192" y="2049877"/>
            <a:ext cx="10908844" cy="39395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1" u="none" strike="noStrike" cap="none" normalizeH="0" baseline="0" dirty="0">
                <a:ln>
                  <a:noFill/>
                </a:ln>
                <a:solidFill>
                  <a:srgbClr val="808080"/>
                </a:solidFill>
                <a:effectLst/>
                <a:latin typeface="Consolas" panose="020B0609020204030204" pitchFamily="49" charset="0"/>
              </a:rPr>
              <a:t># Aufgabe 7: Betriebsauftrag abschließen, Lagerbewegungsjournal prüfen und Rechnung aus Auftrag erstellen</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an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Rückmeldung2</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Workorder</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WorkOrders</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DONE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record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TEST_002</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sofort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ja</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gutmge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20</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br>
              <a:rPr kumimoji="0" lang="de-DE" altLang="de-DE" sz="1000" b="0" i="0" u="none" strike="noStrike" cap="none" normalizeH="0" baseline="0" dirty="0">
                <a:ln>
                  <a:noFill/>
                </a:ln>
                <a:solidFill>
                  <a:srgbClr val="000000"/>
                </a:solidFill>
                <a:effectLst/>
                <a:latin typeface="Consolas" panose="020B0609020204030204" pitchFamily="49" charset="0"/>
              </a:rPr>
            </a:b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Given</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open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infosystem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LJ</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beleg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!Rückmeldung1^barmex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err="1">
                <a:ln>
                  <a:noFill/>
                </a:ln>
                <a:solidFill>
                  <a:srgbClr val="297BDE"/>
                </a:solidFill>
                <a:effectLst/>
                <a:latin typeface="Consolas" panose="020B0609020204030204" pitchFamily="49" charset="0"/>
              </a:rPr>
              <a:t>adatum</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err="1">
                <a:ln>
                  <a:noFill/>
                </a:ln>
                <a:solidFill>
                  <a:srgbClr val="297BDE"/>
                </a:solidFill>
                <a:effectLst/>
                <a:latin typeface="Consolas" panose="020B0609020204030204" pitchFamily="49" charset="0"/>
              </a:rPr>
              <a:t>edatum</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press </a:t>
            </a:r>
            <a:r>
              <a:rPr kumimoji="0" lang="de-DE" altLang="de-DE" sz="1000" b="0" i="0" u="none" strike="noStrike" cap="none" normalizeH="0" baseline="0" dirty="0" err="1">
                <a:ln>
                  <a:noFill/>
                </a:ln>
                <a:solidFill>
                  <a:srgbClr val="000000"/>
                </a:solidFill>
                <a:effectLst/>
                <a:latin typeface="Consolas" panose="020B0609020204030204" pitchFamily="49" charset="0"/>
              </a:rPr>
              <a:t>start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Then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has</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values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art</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amge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zmge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detursache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vorgang^id</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ARTI1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20      </a:t>
            </a: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Materialentnahme Fertigung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t>
            </a:r>
            <a:r>
              <a:rPr kumimoji="0" lang="de-DE" altLang="de-DE" sz="1000" b="1" i="0" u="none" strike="noStrike" cap="none" normalizeH="0" baseline="0" dirty="0" err="1">
                <a:ln>
                  <a:noFill/>
                </a:ln>
                <a:solidFill>
                  <a:srgbClr val="297BDE"/>
                </a:solidFill>
                <a:effectLst/>
                <a:latin typeface="Consolas" panose="020B0609020204030204" pitchFamily="49" charset="0"/>
              </a:rPr>
              <a:t>dontChange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beleg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!Rückmeldung2^barmex</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press </a:t>
            </a:r>
            <a:r>
              <a:rPr kumimoji="0" lang="de-DE" altLang="de-DE" sz="1000" b="0" i="0" u="none" strike="noStrike" cap="none" normalizeH="0" baseline="0" dirty="0" err="1">
                <a:ln>
                  <a:noFill/>
                </a:ln>
                <a:solidFill>
                  <a:srgbClr val="000000"/>
                </a:solidFill>
                <a:effectLst/>
                <a:latin typeface="Consolas" panose="020B0609020204030204" pitchFamily="49" charset="0"/>
              </a:rPr>
              <a:t>start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Then </a:t>
            </a:r>
            <a:r>
              <a:rPr kumimoji="0" lang="de-DE" altLang="de-DE" sz="1000" b="0" i="0" u="none" strike="noStrike" cap="none" normalizeH="0" baseline="0" dirty="0" err="1">
                <a:ln>
                  <a:noFill/>
                </a:ln>
                <a:solidFill>
                  <a:srgbClr val="000000"/>
                </a:solidFill>
                <a:effectLst/>
                <a:latin typeface="Consolas" panose="020B0609020204030204" pitchFamily="49" charset="0"/>
              </a:rPr>
              <a:t>table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has</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values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art</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amge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zmge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detursache</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vorgang^id</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BG-TEST1 </a:t>
            </a: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a:ln>
                  <a:noFill/>
                </a:ln>
                <a:solidFill>
                  <a:srgbClr val="297BDE"/>
                </a:solidFill>
                <a:effectLst/>
                <a:latin typeface="Consolas" panose="020B0609020204030204" pitchFamily="49" charset="0"/>
              </a:rPr>
              <a:t>20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Rückmeldung Fertigung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!Rückmeldung2^id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0" i="1" u="none" strike="noStrike" cap="none" normalizeH="0" baseline="0" dirty="0">
                <a:ln>
                  <a:noFill/>
                </a:ln>
                <a:solidFill>
                  <a:srgbClr val="808080"/>
                </a:solidFill>
                <a:effectLst/>
                <a:latin typeface="Consolas" panose="020B0609020204030204" pitchFamily="49" charset="0"/>
              </a:rPr>
              <a:t># oder:</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Then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vorgang^id</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has</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value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equal</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id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from</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Rückmeldung2</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0</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0" i="1" u="none" strike="noStrike" cap="none" normalizeH="0" baseline="0" dirty="0">
                <a:ln>
                  <a:noFill/>
                </a:ln>
                <a:solidFill>
                  <a:srgbClr val="808080"/>
                </a:solidFill>
                <a:effectLst/>
                <a:latin typeface="Consolas" panose="020B0609020204030204" pitchFamily="49" charset="0"/>
              </a:rPr>
              <a:t># oder_</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Then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vorgang^id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has</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value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!Rückmeldung2^id</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close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56777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Lösungen – Aufgabe 7,  Teil 2</a:t>
            </a:r>
          </a:p>
        </p:txBody>
      </p:sp>
      <p:sp>
        <p:nvSpPr>
          <p:cNvPr id="4" name="Datumsplatzhalter 3"/>
          <p:cNvSpPr>
            <a:spLocks noGrp="1"/>
          </p:cNvSpPr>
          <p:nvPr>
            <p:ph type="dt" sz="half" idx="10"/>
          </p:nvPr>
        </p:nvSpPr>
        <p:spPr/>
        <p:txBody>
          <a:bodyPr/>
          <a:lstStyle/>
          <a:p>
            <a:fld id="{2641C5EB-F3B3-410D-8975-281641EC08BA}" type="datetime1">
              <a:rPr lang="de-DE" smtClean="0"/>
              <a:t>15.06.2020</a:t>
            </a:fld>
            <a:endParaRPr lang="de-DE"/>
          </a:p>
        </p:txBody>
      </p:sp>
      <p:sp>
        <p:nvSpPr>
          <p:cNvPr id="5" name="Foliennummernplatzhalter 4"/>
          <p:cNvSpPr>
            <a:spLocks noGrp="1"/>
          </p:cNvSpPr>
          <p:nvPr>
            <p:ph type="sldNum" sz="quarter" idx="12"/>
          </p:nvPr>
        </p:nvSpPr>
        <p:spPr/>
        <p:txBody>
          <a:bodyPr/>
          <a:lstStyle/>
          <a:p>
            <a:fld id="{2BD49046-6E03-44BD-86B4-CD06AAC78235}" type="slidenum">
              <a:rPr lang="de-DE" smtClean="0"/>
              <a:t>62</a:t>
            </a:fld>
            <a:endParaRPr lang="de-DE"/>
          </a:p>
        </p:txBody>
      </p:sp>
      <p:sp>
        <p:nvSpPr>
          <p:cNvPr id="6" name="Rectangle 1"/>
          <p:cNvSpPr>
            <a:spLocks noGrp="1" noChangeArrowheads="1"/>
          </p:cNvSpPr>
          <p:nvPr>
            <p:ph idx="1"/>
          </p:nvPr>
        </p:nvSpPr>
        <p:spPr bwMode="auto">
          <a:xfrm>
            <a:off x="581192" y="3357927"/>
            <a:ext cx="10908844" cy="13234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1" u="none" strike="noStrike" cap="none" normalizeH="0" baseline="0" dirty="0">
                <a:ln>
                  <a:noFill/>
                </a:ln>
                <a:solidFill>
                  <a:srgbClr val="808080"/>
                </a:solidFill>
                <a:effectLst/>
                <a:latin typeface="Consolas" panose="020B0609020204030204" pitchFamily="49" charset="0"/>
              </a:rPr>
              <a:t># Aufgabe 7: Betriebsauftrag abschließen, Lagerbewegungsjournal prüfen und Rechnung aus Auftrag erstellen</a:t>
            </a:r>
            <a:br>
              <a:rPr kumimoji="0" lang="de-DE" altLang="de-DE" sz="1000" b="0" i="1" u="none" strike="noStrike" cap="none" normalizeH="0" baseline="0" dirty="0">
                <a:ln>
                  <a:noFill/>
                </a:ln>
                <a:solidFill>
                  <a:srgbClr val="808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switch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Auftrag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command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INVOICE</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fields</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ueb</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ja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a:ln>
                  <a:noFill/>
                </a:ln>
                <a:solidFill>
                  <a:srgbClr val="000080"/>
                </a:solidFill>
                <a:effectLst/>
                <a:latin typeface="Consolas" panose="020B0609020204030204" pitchFamily="49" charset="0"/>
              </a:rPr>
              <a:t>   | </a:t>
            </a:r>
            <a:r>
              <a:rPr kumimoji="0" lang="de-DE" altLang="de-DE" sz="1000" b="1" i="0" u="none" strike="noStrike" cap="none" normalizeH="0" baseline="0" dirty="0" err="1">
                <a:ln>
                  <a:noFill/>
                </a:ln>
                <a:solidFill>
                  <a:srgbClr val="297BDE"/>
                </a:solidFill>
                <a:effectLst/>
                <a:latin typeface="Consolas" panose="020B0609020204030204" pitchFamily="49" charset="0"/>
              </a:rPr>
              <a:t>tterm</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    </a:t>
            </a:r>
            <a:r>
              <a:rPr kumimoji="0" lang="de-DE" altLang="de-DE" sz="1000" b="1" i="0" u="none" strike="noStrike" cap="none" normalizeH="0" baseline="0" dirty="0">
                <a:ln>
                  <a:noFill/>
                </a:ln>
                <a:solidFill>
                  <a:srgbClr val="000080"/>
                </a:solidFill>
                <a:effectLst/>
                <a:latin typeface="Consolas" panose="020B0609020204030204" pitchFamily="49" charset="0"/>
              </a:rPr>
              <a:t>|</a:t>
            </a:r>
            <a:br>
              <a:rPr kumimoji="0" lang="de-DE" altLang="de-DE" sz="1000" b="1" i="0" u="none" strike="noStrike" cap="none" normalizeH="0" baseline="0" dirty="0">
                <a:ln>
                  <a:noFill/>
                </a:ln>
                <a:solidFill>
                  <a:srgbClr val="00008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set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field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err="1">
                <a:ln>
                  <a:noFill/>
                </a:ln>
                <a:solidFill>
                  <a:srgbClr val="297BDE"/>
                </a:solidFill>
                <a:effectLst/>
                <a:latin typeface="Consolas" panose="020B0609020204030204" pitchFamily="49" charset="0"/>
              </a:rPr>
              <a:t>mge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20</a:t>
            </a:r>
            <a:r>
              <a:rPr kumimoji="0" lang="de-DE" altLang="de-DE" sz="1000" b="0" i="0" u="none" strike="noStrike" cap="none" normalizeH="0" baseline="0" dirty="0">
                <a:ln>
                  <a:noFill/>
                </a:ln>
                <a:solidFill>
                  <a:srgbClr val="000000"/>
                </a:solidFill>
                <a:effectLst/>
                <a:latin typeface="Consolas" panose="020B0609020204030204" pitchFamily="49" charset="0"/>
              </a:rPr>
              <a:t>" in </a:t>
            </a:r>
            <a:r>
              <a:rPr kumimoji="0" lang="de-DE" altLang="de-DE" sz="1000" b="0" i="0" u="none" strike="noStrike" cap="none" normalizeH="0" baseline="0" dirty="0" err="1">
                <a:ln>
                  <a:noFill/>
                </a:ln>
                <a:solidFill>
                  <a:srgbClr val="000000"/>
                </a:solidFill>
                <a:effectLst/>
                <a:latin typeface="Consolas" panose="020B0609020204030204" pitchFamily="49" charset="0"/>
              </a:rPr>
              <a:t>row</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1</a:t>
            </a:r>
            <a:br>
              <a:rPr kumimoji="0" lang="de-DE" altLang="de-DE" sz="1000" b="1" i="0" u="none" strike="noStrike" cap="none" normalizeH="0" baseline="0" dirty="0">
                <a:ln>
                  <a:noFill/>
                </a:ln>
                <a:solidFill>
                  <a:srgbClr val="297BDE"/>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a:t>
            </a:r>
            <a:r>
              <a:rPr kumimoji="0" lang="de-DE" altLang="de-DE" sz="1000" b="0" i="0" u="none" strike="noStrike" cap="none" normalizeH="0" baseline="0" dirty="0" err="1">
                <a:ln>
                  <a:noFill/>
                </a:ln>
                <a:solidFill>
                  <a:srgbClr val="000000"/>
                </a:solidFill>
                <a:effectLst/>
                <a:latin typeface="Consolas" panose="020B0609020204030204" pitchFamily="49" charset="0"/>
              </a:rPr>
              <a:t>respond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answer</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ja</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to</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dialog</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with</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id</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1" i="0" u="none" strike="noStrike" cap="none" normalizeH="0" baseline="0" dirty="0">
                <a:ln>
                  <a:noFill/>
                </a:ln>
                <a:solidFill>
                  <a:srgbClr val="297BDE"/>
                </a:solidFill>
                <a:effectLst/>
                <a:latin typeface="Consolas" panose="020B0609020204030204" pitchFamily="49" charset="0"/>
              </a:rPr>
              <a:t>4841</a:t>
            </a:r>
            <a:r>
              <a:rPr kumimoji="0" lang="de-DE" altLang="de-DE" sz="1000" b="0" i="0" u="none" strike="noStrike" cap="none" normalizeH="0" baseline="0" dirty="0">
                <a:ln>
                  <a:noFill/>
                </a:ln>
                <a:solidFill>
                  <a:srgbClr val="000000"/>
                </a:solidFill>
                <a:effectLst/>
                <a:latin typeface="Consolas" panose="020B0609020204030204" pitchFamily="49" charset="0"/>
              </a:rPr>
              <a:t>"</a:t>
            </a:r>
            <a:br>
              <a:rPr kumimoji="0" lang="de-DE" altLang="de-DE" sz="1000" b="0" i="0" u="none" strike="noStrike" cap="none" normalizeH="0" baseline="0" dirty="0">
                <a:ln>
                  <a:noFill/>
                </a:ln>
                <a:solidFill>
                  <a:srgbClr val="000000"/>
                </a:solidFill>
                <a:effectLst/>
                <a:latin typeface="Consolas" panose="020B0609020204030204" pitchFamily="49" charset="0"/>
              </a:rPr>
            </a:br>
            <a:r>
              <a:rPr kumimoji="0" lang="de-DE" altLang="de-DE" sz="1000" b="1" i="0" u="none" strike="noStrike" cap="none" normalizeH="0" baseline="0" dirty="0" err="1">
                <a:ln>
                  <a:noFill/>
                </a:ln>
                <a:solidFill>
                  <a:srgbClr val="000080"/>
                </a:solidFill>
                <a:effectLst/>
                <a:latin typeface="Consolas" panose="020B0609020204030204" pitchFamily="49" charset="0"/>
              </a:rPr>
              <a:t>And</a:t>
            </a:r>
            <a:r>
              <a:rPr kumimoji="0" lang="de-DE" altLang="de-DE" sz="1000" b="1" i="0" u="none" strike="noStrike" cap="none" normalizeH="0" baseline="0" dirty="0">
                <a:ln>
                  <a:noFill/>
                </a:ln>
                <a:solidFill>
                  <a:srgbClr val="000080"/>
                </a:solidFill>
                <a:effectLst/>
                <a:latin typeface="Consolas" panose="020B0609020204030204" pitchFamily="49" charset="0"/>
              </a:rPr>
              <a:t> </a:t>
            </a:r>
            <a:r>
              <a:rPr kumimoji="0" lang="de-DE" altLang="de-DE" sz="1000" b="0" i="0" u="none" strike="noStrike" cap="none" normalizeH="0" baseline="0" dirty="0">
                <a:ln>
                  <a:noFill/>
                </a:ln>
                <a:solidFill>
                  <a:srgbClr val="000000"/>
                </a:solidFill>
                <a:effectLst/>
                <a:latin typeface="Consolas" panose="020B0609020204030204" pitchFamily="49" charset="0"/>
              </a:rPr>
              <a:t>I save </a:t>
            </a:r>
            <a:r>
              <a:rPr kumimoji="0" lang="de-DE" altLang="de-DE" sz="1000" b="0" i="0" u="none" strike="noStrike" cap="none" normalizeH="0" baseline="0" dirty="0" err="1">
                <a:ln>
                  <a:noFill/>
                </a:ln>
                <a:solidFill>
                  <a:srgbClr val="000000"/>
                </a:solidFill>
                <a:effectLst/>
                <a:latin typeface="Consolas" panose="020B0609020204030204" pitchFamily="49" charset="0"/>
              </a:rPr>
              <a:t>the</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current</a:t>
            </a:r>
            <a:r>
              <a:rPr kumimoji="0" lang="de-DE" altLang="de-DE" sz="1000" b="0" i="0" u="none" strike="noStrike" cap="none" normalizeH="0" baseline="0" dirty="0">
                <a:ln>
                  <a:noFill/>
                </a:ln>
                <a:solidFill>
                  <a:srgbClr val="000000"/>
                </a:solidFill>
                <a:effectLst/>
                <a:latin typeface="Consolas" panose="020B0609020204030204" pitchFamily="49" charset="0"/>
              </a:rPr>
              <a:t> </a:t>
            </a:r>
            <a:r>
              <a:rPr kumimoji="0" lang="de-DE" altLang="de-DE" sz="1000" b="0" i="0" u="none" strike="noStrike" cap="none" normalizeH="0" baseline="0" dirty="0" err="1">
                <a:ln>
                  <a:noFill/>
                </a:ln>
                <a:solidFill>
                  <a:srgbClr val="000000"/>
                </a:solidFill>
                <a:effectLst/>
                <a:latin typeface="Consolas" panose="020B0609020204030204" pitchFamily="49" charset="0"/>
              </a:rPr>
              <a:t>editor</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3341618"/>
      </p:ext>
    </p:extLst>
  </p:cSld>
  <p:clrMapOvr>
    <a:masterClrMapping/>
  </p:clrMapOvr>
</p:sld>
</file>

<file path=ppt/theme/theme1.xml><?xml version="1.0" encoding="utf-8"?>
<a:theme xmlns:a="http://schemas.openxmlformats.org/drawingml/2006/main" name="Dividende">
  <a:themeElements>
    <a:clrScheme name="Dividende">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e">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TM03457464[[fn=Dividende]]</Template>
  <TotalTime>0</TotalTime>
  <Words>4591</Words>
  <Application>Microsoft Office PowerPoint</Application>
  <PresentationFormat>Breitbild</PresentationFormat>
  <Paragraphs>570</Paragraphs>
  <Slides>62</Slides>
  <Notes>0</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62</vt:i4>
      </vt:variant>
    </vt:vector>
  </HeadingPairs>
  <TitlesOfParts>
    <vt:vector size="71" baseType="lpstr">
      <vt:lpstr>Arial</vt:lpstr>
      <vt:lpstr>Calibri</vt:lpstr>
      <vt:lpstr>Consolas</vt:lpstr>
      <vt:lpstr>Courier New</vt:lpstr>
      <vt:lpstr>Gill Sans MT</vt:lpstr>
      <vt:lpstr>Times New Roman</vt:lpstr>
      <vt:lpstr>Wingdings</vt:lpstr>
      <vt:lpstr>Wingdings 2</vt:lpstr>
      <vt:lpstr>Dividende</vt:lpstr>
      <vt:lpstr>Cucumber-Schulung</vt:lpstr>
      <vt:lpstr>Eine Feature-Datei anlegen</vt:lpstr>
      <vt:lpstr>Testaufbau und Durchführung Das Scenario</vt:lpstr>
      <vt:lpstr>Öffnen eines Editors</vt:lpstr>
      <vt:lpstr>Hinweis zum Öffnen eines Editor mit Kommando STORE</vt:lpstr>
      <vt:lpstr>Hinweis zum Öffnen eines Editor mit Menüauswahl</vt:lpstr>
      <vt:lpstr>PowerPoint-Präsentation</vt:lpstr>
      <vt:lpstr>Steps hinzufügen</vt:lpstr>
      <vt:lpstr>Editoren Schließen</vt:lpstr>
      <vt:lpstr>Hinweise zum Testaufbau</vt:lpstr>
      <vt:lpstr>Vorbereitungen zur Testdurchführung</vt:lpstr>
      <vt:lpstr>Erfolgreiche Testdurchführung</vt:lpstr>
      <vt:lpstr>Aufgabe 1</vt:lpstr>
      <vt:lpstr>Tabellenschreibweise Feldwerte setzen und prüfen</vt:lpstr>
      <vt:lpstr>Tabellenschreibweise Feldwerte in Zeilen setzen und prüfen</vt:lpstr>
      <vt:lpstr>Tabellenschreibweise Tabelle bearbeiten</vt:lpstr>
      <vt:lpstr>Aufgabe 2</vt:lpstr>
      <vt:lpstr>Zwischen Editoren wechseln</vt:lpstr>
      <vt:lpstr>Buttons Drücken und Buttons, die Subeditoren öffnen</vt:lpstr>
      <vt:lpstr>Einen Subeditor Schließen</vt:lpstr>
      <vt:lpstr>Aufgabe 3</vt:lpstr>
      <vt:lpstr>Schreibbare und schreibgeschützte Felder prüfen</vt:lpstr>
      <vt:lpstr>Leere und Gefüllte Felder Prüfen</vt:lpstr>
      <vt:lpstr>Auf erwartete Feldwerte testen  Feldwerte</vt:lpstr>
      <vt:lpstr>Fehler beim Einfügen oder Löschen von Tabellenzeilen</vt:lpstr>
      <vt:lpstr>Hinweis zum Prüfen auf Fehler</vt:lpstr>
      <vt:lpstr>Aufgabe 4</vt:lpstr>
      <vt:lpstr>Werte aus anderen Feldern übernehmen</vt:lpstr>
      <vt:lpstr>Aufgabe 5</vt:lpstr>
      <vt:lpstr>Editor über Selektionsstring öffnen</vt:lpstr>
      <vt:lpstr>Tippkommandos ausführen</vt:lpstr>
      <vt:lpstr>Referenzieren über Editor-ID</vt:lpstr>
      <vt:lpstr>!Editor^Feldname</vt:lpstr>
      <vt:lpstr>Aufgabe 6</vt:lpstr>
      <vt:lpstr>Infosysteme Nutzen</vt:lpstr>
      <vt:lpstr>Werte über Editoren hinweg  vergleichen I</vt:lpstr>
      <vt:lpstr>Werte über Editoren hinweg  vergleichen iI</vt:lpstr>
      <vt:lpstr>Auf Dialoge antworten</vt:lpstr>
      <vt:lpstr>Aufgabe 7</vt:lpstr>
      <vt:lpstr>Fehler beim Setzen eines Feldwerts</vt:lpstr>
      <vt:lpstr>Fehler beim Klick auf Buttons</vt:lpstr>
      <vt:lpstr>Fehler beim Öffnen des Editors mit einem bestimmten Kommando</vt:lpstr>
      <vt:lpstr>Fehler beim Speichern des Editors</vt:lpstr>
      <vt:lpstr>!dontchange</vt:lpstr>
      <vt:lpstr>!lastRow</vt:lpstr>
      <vt:lpstr>Scenario Outline</vt:lpstr>
      <vt:lpstr>Scenario Outline - Beispiel</vt:lpstr>
      <vt:lpstr>Tests mit ServerFlag</vt:lpstr>
      <vt:lpstr>Testen mit Fake Date</vt:lpstr>
      <vt:lpstr>Individuelle Steps</vt:lpstr>
      <vt:lpstr>Beispiele für individuelle Steps </vt:lpstr>
      <vt:lpstr>Tipps zur Skriptgestaltung</vt:lpstr>
      <vt:lpstr>Tipps zur Skriptgestaltung</vt:lpstr>
      <vt:lpstr>Lösungen – Aufgabe 1</vt:lpstr>
      <vt:lpstr>Lösungen – Aufgabe 2, Teil 1</vt:lpstr>
      <vt:lpstr>Lösungen – Aufgabe 2, Teil 2</vt:lpstr>
      <vt:lpstr>Lösungen – Aufgabe 3</vt:lpstr>
      <vt:lpstr>Lösungen – Aufgabe 4</vt:lpstr>
      <vt:lpstr>Lösungen – Aufgabe 5</vt:lpstr>
      <vt:lpstr>Lösungen – Aufgabe 6</vt:lpstr>
      <vt:lpstr>Lösungen – Aufgabe 7,  Teil 1</vt:lpstr>
      <vt:lpstr>Lösungen – Aufgabe 7,  Teil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Cucumber-Schulung</dc:title>
  <dc:creator>Lisa Schneider</dc:creator>
  <cp:lastModifiedBy>Lisa Schneider</cp:lastModifiedBy>
  <cp:revision>61</cp:revision>
  <cp:lastPrinted>2019-11-29T07:49:23Z</cp:lastPrinted>
  <dcterms:created xsi:type="dcterms:W3CDTF">2019-11-27T15:35:14Z</dcterms:created>
  <dcterms:modified xsi:type="dcterms:W3CDTF">2020-06-15T13:42:29Z</dcterms:modified>
</cp:coreProperties>
</file>